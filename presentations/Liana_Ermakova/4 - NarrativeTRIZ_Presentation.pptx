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70" r:id="rId4"/>
    <p:sldId id="257" r:id="rId5"/>
    <p:sldId id="258" r:id="rId6"/>
    <p:sldId id="259" r:id="rId7"/>
    <p:sldId id="261" r:id="rId8"/>
    <p:sldId id="260" r:id="rId9"/>
    <p:sldId id="268" r:id="rId10"/>
    <p:sldId id="262" r:id="rId11"/>
    <p:sldId id="263" r:id="rId12"/>
    <p:sldId id="264" r:id="rId13"/>
    <p:sldId id="271" r:id="rId14"/>
    <p:sldId id="272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41" autoAdjust="0"/>
    <p:restoredTop sz="94610"/>
  </p:normalViewPr>
  <p:slideViewPr>
    <p:cSldViewPr snapToGrid="0" snapToObjects="1">
      <p:cViewPr>
        <p:scale>
          <a:sx n="134" d="100"/>
          <a:sy n="134" d="100"/>
        </p:scale>
        <p:origin x="15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89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8CED8-3E06-AF06-61B3-971EBFBB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5F5AF-5C4C-4667-59AB-2EEE2F7A5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4630F-66D4-326D-0217-88E9BD740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CB28A-8D4F-20CD-9CC0-4F0039E43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27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2286000" cy="54864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Rethinking TRIZ for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Narrative Generation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090672"/>
            <a:ext cx="2743200" cy="3657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Cosimo Palma  ·  Bertrand Jager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Pisa, Italy  ·  ArchiveMyLegacy, Luxembourg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0" y="4556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Text2Story'26 — ECIR 2026, Delft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10" descr="A logo of a tree&#10;&#10;AI-generated content may be incorrect.">
            <a:extLst>
              <a:ext uri="{FF2B5EF4-FFF2-40B4-BE49-F238E27FC236}">
                <a16:creationId xmlns:a16="http://schemas.microsoft.com/office/drawing/2014/main" id="{30A704FE-3E1D-9738-C0FB-C71E0063E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657" y="3318334"/>
            <a:ext cx="739183" cy="854250"/>
          </a:xfrm>
          <a:prstGeom prst="rect">
            <a:avLst/>
          </a:prstGeom>
        </p:spPr>
      </p:pic>
      <p:pic>
        <p:nvPicPr>
          <p:cNvPr id="12" name="Picture 11" descr="A logo with a head and colorful dots&#10;&#10;AI-generated content may be incorrect.">
            <a:extLst>
              <a:ext uri="{FF2B5EF4-FFF2-40B4-BE49-F238E27FC236}">
                <a16:creationId xmlns:a16="http://schemas.microsoft.com/office/drawing/2014/main" id="{1D2A3B3A-4BB1-49FA-5587-9DABAD1C0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1" y="3240777"/>
            <a:ext cx="947175" cy="947175"/>
          </a:xfrm>
          <a:prstGeom prst="rect">
            <a:avLst/>
          </a:prstGeom>
        </p:spPr>
      </p:pic>
      <p:pic>
        <p:nvPicPr>
          <p:cNvPr id="13" name="Picture 12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A468D08C-44A2-F6CC-D4B0-1E7564463B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826" y="3307585"/>
            <a:ext cx="796841" cy="8135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3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2179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6217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430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069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TRIZ × Narratology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13258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ground: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engine of invention and story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664208"/>
            <a:ext cx="8046720" cy="658368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48640" y="1664208"/>
            <a:ext cx="54864" cy="6675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31520" y="17282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8013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1728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Contradiction Matrix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198424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parameters, 40 devices, and the 24×24 matrix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295144"/>
            <a:ext cx="8046720" cy="6675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548640" y="2286000"/>
            <a:ext cx="54864" cy="66751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731520" y="23865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45973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386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RDF-Star Ontological Representation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91640" y="264261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encoding enabling SPARQL-based narrative rule retrieval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2962656"/>
            <a:ext cx="8046720" cy="676656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548640" y="2953512"/>
            <a:ext cx="54864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731520" y="30449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11810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Workflow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691640" y="330098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TRIZ protocol for structured creative problem-solving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3639312"/>
            <a:ext cx="8046720" cy="649224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3"/>
          <p:cNvSpPr/>
          <p:nvPr/>
        </p:nvSpPr>
        <p:spPr>
          <a:xfrm>
            <a:off x="548640" y="3639312"/>
            <a:ext cx="54864" cy="6492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4"/>
          <p:cNvSpPr/>
          <p:nvPr/>
        </p:nvSpPr>
        <p:spPr>
          <a:xfrm>
            <a:off x="731520" y="3703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77647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Deployment: ArchiveMyLegacy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691640" y="39593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TRIZ agent monitoring narrative health in the AML pipeline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4279392"/>
            <a:ext cx="8046720" cy="612648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28"/>
          <p:cNvSpPr/>
          <p:nvPr/>
        </p:nvSpPr>
        <p:spPr>
          <a:xfrm>
            <a:off x="548640" y="4270248"/>
            <a:ext cx="54864" cy="62179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29"/>
          <p:cNvSpPr/>
          <p:nvPr/>
        </p:nvSpPr>
        <p:spPr>
          <a:xfrm>
            <a:off x="731520" y="43616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434840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91640" y="4361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Concluding Remarks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1691640" y="46177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experimental programme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TRIZ Framework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Inventive Problem Solving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1704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Genrich Altshuller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Developed from 1940s onward  ·  Systematic analysis of </a:t>
            </a: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400,000+ patents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diverse engineering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" cy="102412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855679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7"/>
          <p:cNvSpPr/>
          <p:nvPr/>
        </p:nvSpPr>
        <p:spPr>
          <a:xfrm>
            <a:off x="1170432" y="1883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22585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improving one parameter degrades another. 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single parameter must satisfy two incompatible requirements. Identifying the active contradiction is the first and most critical step.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852928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548640" y="2852928"/>
            <a:ext cx="54864" cy="10241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926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Inventive Principles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9808" y="33325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solution strategies (Segmentation, Inversion, Dynamics, Preliminary Action…) that recur across domains. They operate at a level of abstraction that enables cross-domain analogical transfer.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548640" y="3877056"/>
            <a:ext cx="54864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020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0432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× 39 Contradiction Matrix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9808" y="42611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parameter to improve, 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parameter that worsens. 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contains two principles most frequently effective for that trade-off in the patent corpus.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83480" y="1828800"/>
            <a:ext cx="361188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4983480" y="1828800"/>
            <a:ext cx="54864" cy="115214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190195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05272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ARIZ Algorithm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193792" y="231093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elaborate analytical procedure for complex cases where the matrix provides insufficient guidance, plus patterns of technical system evolution (toward dynamism, micro-level, etc.).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983480" y="2980944"/>
            <a:ext cx="3611880" cy="10149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2"/>
          <p:cNvSpPr/>
          <p:nvPr/>
        </p:nvSpPr>
        <p:spPr>
          <a:xfrm>
            <a:off x="4983480" y="2980944"/>
            <a:ext cx="54864" cy="101498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49" y="3105773"/>
            <a:ext cx="291222" cy="29122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705163" y="3145536"/>
            <a:ext cx="2643309" cy="22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Analysis &amp; Substance-Field Models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212149" y="344022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tools for modelling functional interactions between components identifying harmful, insufficient, or excessive interactions at the root of the design problem.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978908" y="4069080"/>
            <a:ext cx="3611880" cy="6858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26"/>
          <p:cNvSpPr/>
          <p:nvPr/>
        </p:nvSpPr>
        <p:spPr>
          <a:xfrm>
            <a:off x="5120640" y="407822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 transforms creative problem-solving from intuition to methodology, which is precisely what makes it attractive for computational applications.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Altshuller, G. (1973). The Innovation Algorithm. Technical Innovation Centre, Inc., 2007.</a:t>
            </a:r>
            <a:endParaRPr lang="en-US" sz="9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TRIZ × Narratology?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48938"/>
            <a:ext cx="3794760" cy="253815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548938"/>
            <a:ext cx="45720" cy="253815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181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181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TRIZ (Engineering)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80458"/>
            <a:ext cx="3291840" cy="168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all inventive problems</a:t>
            </a: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Inventive Principles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from 400K+ patents</a:t>
            </a: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39×39 Contradiction Matrix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problem → solution strategies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548938"/>
            <a:ext cx="3794760" cy="253815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0" name="Shape 7"/>
          <p:cNvSpPr/>
          <p:nvPr/>
        </p:nvSpPr>
        <p:spPr>
          <a:xfrm flipH="1">
            <a:off x="4754880" y="1548938"/>
            <a:ext cx="45720" cy="2538153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3181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3181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Narratology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4920" y="2280458"/>
            <a:ext cx="3291840" cy="168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generative core of story</a:t>
            </a: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revolve around </a:t>
            </a: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tension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</a:t>
            </a:r>
            <a:r>
              <a:rPr lang="en-US" sz="13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TRIZxNarratology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is </a:t>
            </a: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&amp; pre-LLM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371600" y="1097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9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Contradiction Matrix</a:t>
            </a:r>
            <a:endParaRPr lang="en-US" sz="15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24×24 matrix mapping parameter trade-offs to 40 narrative devices, grounded in classical narratological theory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4" y="1239426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057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9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RDF-Star Ontology</a:t>
            </a:r>
            <a:endParaRPr lang="en-US" sz="15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1371600" y="23774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knowledge representation enabling SPARQL-based narrative rule retrieval and cross-parameter reasoning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548640" y="297180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17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9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Workflow</a:t>
            </a:r>
            <a:endParaRPr lang="en-US" sz="15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1371600" y="33375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TRIZ protocol for structured creative problem-solving, positioning the LLM as dramaturgical consultant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77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9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Agentic Architecture</a:t>
            </a:r>
            <a:endParaRPr lang="en-US" sz="15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1371600" y="42976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ArchiveMyLegacy deployment: TRIZ-agent monitors narrative health and intervenes before contradictions become failures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94" y="2218115"/>
            <a:ext cx="411480" cy="41148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Narrative Parameters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 covering the full narrative design space</a:t>
            </a:r>
            <a:endParaRPr lang="en-US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 (1–6)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Pace, Plot Complexity, Causal Clarity, Suspense/Tension, Resolution, Timeline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64008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(7–12)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Agency, Believability, Relatability, Transformation, Consistency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64008" cy="10058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Management (13–16)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 Density, Historical Coherence, Clarity, Surprise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64008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2920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&amp; Setting (17–18)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World-building, Thematic Coherence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64008" cy="10058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02920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 Engagement (19–22)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Eng., Intellectual Eng., Accessibility, Memorability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64008" cy="10058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02920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Communicative (23–24)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4023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Value, Entertainment Value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Narrative Devices (Selection)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is theoretically grounded in classical narratological sources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Mistaken Identity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Sacrificial Choice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Campbell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Ticking Clock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Sudden Reversal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83280" y="12344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2044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Chekhov's Gun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204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83280" y="21488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 Temporal Displacement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204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Genette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83280" y="30632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204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 Historical Witness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2044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Genette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83280" y="39776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2044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 Moral Dilemma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52044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12344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5508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 Ironic Outcome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5508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21488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5508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 Cathartic Release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5508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17920" y="30632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5508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 Echo Effect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508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Chatman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3977640"/>
            <a:ext cx="2560320" cy="731520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5508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Interrupted Journey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5508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Campbell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709"/>
            <a:ext cx="9144000" cy="731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solidFill>
                <a:schemeClr val="accent6">
                  <a:lumMod val="75000"/>
                  <a:alpha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46611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Narrative Contradiction Matrix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6" name="Picture 15" descr="A grid of numbers and letters&#10;&#10;AI-generated content may be incorrect.">
            <a:extLst>
              <a:ext uri="{FF2B5EF4-FFF2-40B4-BE49-F238E27FC236}">
                <a16:creationId xmlns:a16="http://schemas.microsoft.com/office/drawing/2014/main" id="{C36D4463-7F31-3AFF-2EEA-66BD0973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383" y="908884"/>
            <a:ext cx="4686541" cy="398800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116B2-1C2B-A00E-FE9E-517B548A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4FE185-2BB6-AE45-6306-817FAAF66E0A}"/>
              </a:ext>
            </a:extLst>
          </p:cNvPr>
          <p:cNvSpPr/>
          <p:nvPr/>
        </p:nvSpPr>
        <p:spPr>
          <a:xfrm>
            <a:off x="0" y="-27709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8EB512-4ED5-2046-2D1E-044D90528865}"/>
              </a:ext>
            </a:extLst>
          </p:cNvPr>
          <p:cNvSpPr/>
          <p:nvPr/>
        </p:nvSpPr>
        <p:spPr>
          <a:xfrm>
            <a:off x="548640" y="246611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Narrative Contradiction Matrix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522B7D-9C43-F581-4572-B302BC15A92D}"/>
              </a:ext>
            </a:extLst>
          </p:cNvPr>
          <p:cNvSpPr/>
          <p:nvPr/>
        </p:nvSpPr>
        <p:spPr>
          <a:xfrm>
            <a:off x="548640" y="1476895"/>
            <a:ext cx="3794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8B3737-AA81-66AD-522E-7EBF942E8DB9}"/>
              </a:ext>
            </a:extLst>
          </p:cNvPr>
          <p:cNvSpPr/>
          <p:nvPr/>
        </p:nvSpPr>
        <p:spPr>
          <a:xfrm>
            <a:off x="548640" y="1476895"/>
            <a:ext cx="64008" cy="2834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1B8C96-CFEF-9E80-AEFA-2D243374DAFA}"/>
              </a:ext>
            </a:extLst>
          </p:cNvPr>
          <p:cNvSpPr/>
          <p:nvPr/>
        </p:nvSpPr>
        <p:spPr>
          <a:xfrm>
            <a:off x="777240" y="156833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9C1CF8-4841-73DC-4C67-EAC578209884}"/>
              </a:ext>
            </a:extLst>
          </p:cNvPr>
          <p:cNvSpPr/>
          <p:nvPr/>
        </p:nvSpPr>
        <p:spPr>
          <a:xfrm>
            <a:off x="777240" y="1934095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parameter to improve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parameter that worsens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contains indices of narrative devices (from the 40-device table) that can mediate the specific trade-off.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× 24 = 552 non-diagonal cells,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2 recommended devices.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F8617DC-22C9-26CC-1800-9019D6580BFA}"/>
              </a:ext>
            </a:extLst>
          </p:cNvPr>
          <p:cNvSpPr/>
          <p:nvPr/>
        </p:nvSpPr>
        <p:spPr>
          <a:xfrm>
            <a:off x="4800600" y="1476895"/>
            <a:ext cx="3794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F0B53A5-8E0E-1B83-D33B-AD6DC50D9F1D}"/>
              </a:ext>
            </a:extLst>
          </p:cNvPr>
          <p:cNvSpPr/>
          <p:nvPr/>
        </p:nvSpPr>
        <p:spPr>
          <a:xfrm>
            <a:off x="4800600" y="1476895"/>
            <a:ext cx="64008" cy="2834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8EA6F0-F8D6-687B-7F00-D43CE2555367}"/>
              </a:ext>
            </a:extLst>
          </p:cNvPr>
          <p:cNvSpPr/>
          <p:nvPr/>
        </p:nvSpPr>
        <p:spPr>
          <a:xfrm>
            <a:off x="5029200" y="156833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Example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9B5FEC-FD5F-D80A-5D02-56B85CCE8FFE}"/>
              </a:ext>
            </a:extLst>
          </p:cNvPr>
          <p:cNvSpPr/>
          <p:nvPr/>
        </p:nvSpPr>
        <p:spPr>
          <a:xfrm>
            <a:off x="5029200" y="1934095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(Narrative Pace) ×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2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(Plot Complexity)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Devices: (9) Ticking Clock, (14) Interrupted Journey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>
              <a:lnSpc>
                <a:spcPct val="125000"/>
              </a:lnSpc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improving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risks degrading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Complexity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these devices are recommended mediators. the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Ticking Clock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sustains pace while preserving complexity through urgency; the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Journey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sub-plots that re-inject complexity without disrupting rhythm."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84216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RDF-Star Ontological Representation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12612" y="891540"/>
            <a:ext cx="3794760" cy="381512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12612" y="891540"/>
            <a:ext cx="45720" cy="381512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13505" y="1142307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Formalization and RDF-Star Encoding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7769" y="1652848"/>
            <a:ext cx="28318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{p₁…p₂₄}  Narrative Parameters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{d₁…d₄₀}  Narrative Devices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{improves, worsens,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SolvedbyMeansOf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⊆ P × R × P  (Narrative Compounds)</a:t>
            </a:r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⊆ C × 2ᴰ  (Narrative Rules)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b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:NarrativePace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:worsens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:PlotComplexity &gt;&gt;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</a:t>
            </a:r>
            <a:r>
              <a:rPr lang="en-US" sz="1000" dirty="0" err="1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SolvedByMeansOf</a:t>
            </a: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:TickingClock 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</a:t>
            </a:r>
            <a:r>
              <a:rPr lang="en-US" sz="1000" dirty="0" err="1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SolvedByMeansOf</a:t>
            </a: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:InterruptedJourney 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EF8961A-BEBF-ACC4-EC2D-43CC8AC29181}"/>
              </a:ext>
            </a:extLst>
          </p:cNvPr>
          <p:cNvSpPr/>
          <p:nvPr/>
        </p:nvSpPr>
        <p:spPr>
          <a:xfrm>
            <a:off x="4861556" y="891540"/>
            <a:ext cx="3794760" cy="381512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C35401C-FAD2-12E5-BDB0-0358FA1200BC}"/>
              </a:ext>
            </a:extLst>
          </p:cNvPr>
          <p:cNvSpPr/>
          <p:nvPr/>
        </p:nvSpPr>
        <p:spPr>
          <a:xfrm>
            <a:off x="5067296" y="1142307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SPARQL query example</a:t>
            </a:r>
            <a:endParaRPr lang="en-US" sz="15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413B5F8-CA9C-A8F2-63E0-D8B613E249A0}"/>
              </a:ext>
            </a:extLst>
          </p:cNvPr>
          <p:cNvSpPr/>
          <p:nvPr/>
        </p:nvSpPr>
        <p:spPr>
          <a:xfrm>
            <a:off x="4862948" y="891537"/>
            <a:ext cx="45720" cy="38151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930D1-C048-3892-97A6-B3B269D09AE4}"/>
              </a:ext>
            </a:extLst>
          </p:cNvPr>
          <p:cNvSpPr txBox="1"/>
          <p:nvPr/>
        </p:nvSpPr>
        <p:spPr>
          <a:xfrm>
            <a:off x="5196846" y="1737360"/>
            <a:ext cx="2382982" cy="1276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?device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: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NarrativePace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61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:worsens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61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: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PlotComplexity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&gt;&gt;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961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: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SolvedByMeansOf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?device 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</a:rPr>
              <a:t>}</a:t>
            </a: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A1A7C1-E908-358A-B319-25F0C627C22A}"/>
              </a:ext>
            </a:extLst>
          </p:cNvPr>
          <p:cNvSpPr txBox="1"/>
          <p:nvPr/>
        </p:nvSpPr>
        <p:spPr>
          <a:xfrm>
            <a:off x="5166704" y="3127971"/>
            <a:ext cx="3184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2">
                    <a:lumMod val="75000"/>
                  </a:schemeClr>
                </a:solidFill>
              </a:rPr>
              <a:t>While elementary queries could be answered by direct matrix consultation, the expressive capacity</a:t>
            </a:r>
          </a:p>
          <a:p>
            <a:r>
              <a:rPr lang="en-US" sz="1000" i="1" dirty="0">
                <a:solidFill>
                  <a:schemeClr val="tx2">
                    <a:lumMod val="75000"/>
                  </a:schemeClr>
                </a:solidFill>
              </a:rPr>
              <a:t>of this schema extends well beyond simple lookups: one could query for all devices that mediate a</a:t>
            </a:r>
          </a:p>
          <a:p>
            <a:r>
              <a:rPr lang="en-US" sz="1000" i="1" dirty="0">
                <a:solidFill>
                  <a:schemeClr val="tx2">
                    <a:lumMod val="75000"/>
                  </a:schemeClr>
                </a:solidFill>
              </a:rPr>
              <a:t>specific parameter across multiple trade-off directions, or perform a reverse look-up (“given this device,</a:t>
            </a:r>
          </a:p>
          <a:p>
            <a:r>
              <a:rPr lang="en-US" sz="1000" i="1" dirty="0">
                <a:solidFill>
                  <a:schemeClr val="tx2">
                    <a:lumMod val="75000"/>
                  </a:schemeClr>
                </a:solidFill>
              </a:rPr>
              <a:t>which contradictions can it resolve?”) particularly useful in story diagnosis.</a:t>
            </a:r>
            <a:endParaRPr lang="de-DE" sz="1000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dramaturgical consultant — preserving human creative agency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0515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27048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1527048" y="1325880"/>
            <a:ext cx="10515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1527048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572768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783080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34056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2734056" y="1325880"/>
            <a:ext cx="10515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2734056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779776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783080"/>
            <a:ext cx="164592" cy="164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941064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3941064" y="1325880"/>
            <a:ext cx="10515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/>
          <p:nvPr/>
        </p:nvSpPr>
        <p:spPr>
          <a:xfrm>
            <a:off x="3941064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3986784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783080"/>
            <a:ext cx="164592" cy="16459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148072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0"/>
          <p:cNvSpPr/>
          <p:nvPr/>
        </p:nvSpPr>
        <p:spPr>
          <a:xfrm>
            <a:off x="5148072" y="1325880"/>
            <a:ext cx="10515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/>
          <p:nvPr/>
        </p:nvSpPr>
        <p:spPr>
          <a:xfrm>
            <a:off x="5148072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5193792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164592" cy="16459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355080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4"/>
          <p:cNvSpPr/>
          <p:nvPr/>
        </p:nvSpPr>
        <p:spPr>
          <a:xfrm>
            <a:off x="6355080" y="1325880"/>
            <a:ext cx="10515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5"/>
          <p:cNvSpPr/>
          <p:nvPr/>
        </p:nvSpPr>
        <p:spPr>
          <a:xfrm>
            <a:off x="635508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6400800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164592" cy="164592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7562088" y="1325880"/>
            <a:ext cx="10515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Shape 28"/>
          <p:cNvSpPr/>
          <p:nvPr/>
        </p:nvSpPr>
        <p:spPr>
          <a:xfrm>
            <a:off x="7562088" y="1325880"/>
            <a:ext cx="105156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29"/>
          <p:cNvSpPr/>
          <p:nvPr/>
        </p:nvSpPr>
        <p:spPr>
          <a:xfrm>
            <a:off x="7562088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7607808" y="18288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320040" y="2880360"/>
            <a:ext cx="8503920" cy="365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2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Cycle repeats as new bottlenecks emerge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" y="338328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34"/>
          <p:cNvSpPr/>
          <p:nvPr/>
        </p:nvSpPr>
        <p:spPr>
          <a:xfrm>
            <a:off x="548640" y="3383280"/>
            <a:ext cx="64008" cy="1463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35"/>
          <p:cNvSpPr/>
          <p:nvPr/>
        </p:nvSpPr>
        <p:spPr>
          <a:xfrm>
            <a:off x="7772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777240" y="3749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Writer: "I need backstory for stakes, but it kills pacing."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maps: improving Suspense (p.4) worsens Pace (p.1) → Cell (4,1) = devices (9, 10)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Ticking Clock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Reversal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as mediators.</a:t>
            </a:r>
            <a:endParaRPr lang="en-US" sz="115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logo of a tree&#10;&#10;AI-generated content may be incorrect.">
            <a:extLst>
              <a:ext uri="{FF2B5EF4-FFF2-40B4-BE49-F238E27FC236}">
                <a16:creationId xmlns:a16="http://schemas.microsoft.com/office/drawing/2014/main" id="{3E8D70D7-888F-1BF4-91A8-7AD725013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88" y="1093343"/>
            <a:ext cx="3163824" cy="365633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30877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>
                    <a:lumMod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TRIZ Agent: ArchiveMyLegacy</a:t>
            </a:r>
            <a:endParaRPr lang="en-US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30877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the collaboration: the agent monitors narrative health and advises the writer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88077" y="1280160"/>
            <a:ext cx="2560320" cy="68580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88077" y="128016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70957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02477" y="1938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8077" y="2148840"/>
            <a:ext cx="2560320" cy="68580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88077" y="214884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70957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Relation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02477" y="2807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8077" y="3017520"/>
            <a:ext cx="2560320" cy="68580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88077" y="301752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070957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Story Draft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2477" y="3675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8077" y="3886200"/>
            <a:ext cx="2560320" cy="68580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88077" y="3886200"/>
            <a:ext cx="54864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070957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Narrative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68637" y="1280160"/>
            <a:ext cx="3017520" cy="685800"/>
          </a:xfrm>
          <a:prstGeom prst="rect">
            <a:avLst/>
          </a:prstGeom>
          <a:solidFill>
            <a:srgbClr val="1E2E5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368637" y="128016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551517" y="1325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State Monitor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7357" y="1938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68637" y="2148840"/>
            <a:ext cx="3017520" cy="685800"/>
          </a:xfrm>
          <a:prstGeom prst="rect">
            <a:avLst/>
          </a:prstGeom>
          <a:solidFill>
            <a:srgbClr val="1E2E5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5368637" y="214884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551517" y="2194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57357" y="2807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68637" y="3017520"/>
            <a:ext cx="3017520" cy="685800"/>
          </a:xfrm>
          <a:prstGeom prst="rect">
            <a:avLst/>
          </a:prstGeom>
          <a:solidFill>
            <a:srgbClr val="1E2E5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368637" y="301752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5551517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Look-up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Retrieval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57357" y="3675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68637" y="3886200"/>
            <a:ext cx="3017520" cy="685800"/>
          </a:xfrm>
          <a:prstGeom prst="rect">
            <a:avLst/>
          </a:prstGeom>
          <a:solidFill>
            <a:srgbClr val="1E2E5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5368637" y="388620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551517" y="3931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Writer Prompt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49595" y="218720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state →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39837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device suggestion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48397" y="2154066"/>
            <a:ext cx="192024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de-DE" dirty="0">
              <a:highlight>
                <a:srgbClr val="00FF00"/>
              </a:highlight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448397" y="3900376"/>
            <a:ext cx="1920240" cy="0"/>
          </a:xfrm>
          <a:prstGeom prst="line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888077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biographical narratives from photos — constrained by real events yet requiring dramaturgical shape.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392341" y="530352"/>
            <a:ext cx="84773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2">
                    <a:lumMod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TRIZ Agent: </a:t>
            </a:r>
            <a:r>
              <a:rPr lang="en-US" sz="2600" b="1" dirty="0" err="1">
                <a:solidFill>
                  <a:schemeClr val="bg2">
                    <a:lumMod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ArchiveMyLegacy</a:t>
            </a:r>
            <a:endParaRPr lang="en-US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22"/>
          <p:cNvSpPr/>
          <p:nvPr/>
        </p:nvSpPr>
        <p:spPr>
          <a:xfrm>
            <a:off x="392341" y="94186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Agent Intervention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121375" y="1613311"/>
            <a:ext cx="6771532" cy="320040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4"/>
          <p:cNvSpPr/>
          <p:nvPr/>
        </p:nvSpPr>
        <p:spPr>
          <a:xfrm>
            <a:off x="1075288" y="1621105"/>
            <a:ext cx="45720" cy="3200400"/>
          </a:xfrm>
          <a:prstGeom prst="rect">
            <a:avLst/>
          </a:prstGeom>
          <a:solidFill>
            <a:schemeClr val="accent6">
              <a:lumMod val="60000"/>
              <a:lumOff val="40000"/>
              <a:alpha val="4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488" y="185980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073341" y="1974104"/>
            <a:ext cx="5206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Historical Coherence (p.14) compresses Narrative Pace (p.1)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2073708" y="2097974"/>
            <a:ext cx="486686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current draft allocates significant space to historical context (</a:t>
            </a:r>
            <a:r>
              <a:rPr lang="en-US" sz="12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param. 14: Historical Coherence is high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which is beginning to compress </a:t>
            </a:r>
            <a:r>
              <a:rPr lang="en-US" sz="12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Pace (param. 1)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Table 3 cell (14, 1) suggests devices </a:t>
            </a: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(28: Historical Witness)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(4: Fateful Encounter)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mediators. Would you like the system to introduce a scene in which a family member narrates the historical context through a personal encounter, thus embedding exposition in action?"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391619" y="1850486"/>
            <a:ext cx="3977640" cy="205740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  <a:effectLst/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391619" y="1850486"/>
            <a:ext cx="54864" cy="2057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574499" y="190535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Design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4499" y="2289398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Within-subjects, 3 conditions, N = 30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TRIZ layer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TRIZ device suggestion per session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proactive agent (all 24 parameters)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raters blind to condition · 5 criteria · 1–5 Likert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Krippendorff's α</a:t>
            </a:r>
            <a:endParaRPr lang="en-US" sz="1100" dirty="0"/>
          </a:p>
        </p:txBody>
      </p:sp>
      <p:pic>
        <p:nvPicPr>
          <p:cNvPr id="39" name="Picture 38" descr="A logo of a tree&#10;&#10;AI-generated content may be incorrect.">
            <a:extLst>
              <a:ext uri="{FF2B5EF4-FFF2-40B4-BE49-F238E27FC236}">
                <a16:creationId xmlns:a16="http://schemas.microsoft.com/office/drawing/2014/main" id="{C9C8759B-54CB-5F3F-4236-C2C1AC869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749" y="992759"/>
            <a:ext cx="3163824" cy="365633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7"/>
          <p:cNvSpPr/>
          <p:nvPr/>
        </p:nvSpPr>
        <p:spPr>
          <a:xfrm>
            <a:off x="4900196" y="1403885"/>
            <a:ext cx="3977640" cy="11756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4900195" y="1403884"/>
            <a:ext cx="54864" cy="117560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5175221" y="144960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75221" y="1723925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Inventiveness &amp; Memorability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significant improvement C0 → C2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Engagement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smaller positive effect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possible non-monotonic dip (C1 &gt; C0; C2 may show temporary complexity overhead = learning curve)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00196" y="3039854"/>
            <a:ext cx="3977640" cy="14967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4900196" y="3039854"/>
            <a:ext cx="54864" cy="1496705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620" y="3142280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24380" y="3142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Narrator Skill Development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5086267" y="3615289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(Contradiction Articulation) requires the writer to 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name structural tensions</a:t>
            </a: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metalinguistic act grounded in Vygotskian mediated learning. Repeated use may develop </a:t>
            </a:r>
            <a:r>
              <a:rPr lang="en-US" sz="10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narrative literacy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internalized ability to perceive and manipulate narrative trade-offs.</a:t>
            </a:r>
            <a:endParaRPr lang="en-US" sz="10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777BAF24-3367-9EF8-8A87-43B8DA198A43}"/>
              </a:ext>
            </a:extLst>
          </p:cNvPr>
          <p:cNvSpPr/>
          <p:nvPr/>
        </p:nvSpPr>
        <p:spPr>
          <a:xfrm>
            <a:off x="365761" y="457200"/>
            <a:ext cx="84773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2">
                    <a:lumMod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TRIZ Agent: </a:t>
            </a:r>
            <a:r>
              <a:rPr lang="en-US" sz="2600" b="1" dirty="0" err="1">
                <a:solidFill>
                  <a:schemeClr val="bg2">
                    <a:lumMod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ArchiveMyLegacy</a:t>
            </a:r>
            <a:endParaRPr lang="en-US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D4692313-3EAB-70A9-69BF-D317D712F694}"/>
              </a:ext>
            </a:extLst>
          </p:cNvPr>
          <p:cNvSpPr/>
          <p:nvPr/>
        </p:nvSpPr>
        <p:spPr>
          <a:xfrm>
            <a:off x="365760" y="868711"/>
            <a:ext cx="459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Sketch &amp; Narrator Development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Concluding Remarks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00584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TRIZ fills the LLM gap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lack explicit reasoning about contradictions and trade-offs. TRIZ provides exactly this structured, transparent problem-solving layer.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" y="1956816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54864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48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0116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Multi-scale applicability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resolving micro-level dramatic contradictions within scenes, to generating synopses and discovering novel plot architectures at the macro level.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" y="2926080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54864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089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9718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dramaturg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2918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proactive agent inverts human–AI collaboration: the AI monitors narrative health and intervenes before dysfunction becomes apparent.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" y="3895344"/>
            <a:ext cx="8046720" cy="822960"/>
          </a:xfrm>
          <a:prstGeom prst="rect">
            <a:avLst/>
          </a:prstGeom>
          <a:solidFill>
            <a:srgbClr val="1A23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54864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690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31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artifact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2519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TRIZ-assisted co-writing may function as a vehicle for narrative education — developing structural literacy in writers through repeated use.</a:t>
            </a:r>
            <a:endParaRPr lang="en-US" sz="12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your attention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657600" y="2930242"/>
            <a:ext cx="1828800" cy="365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914400" y="355798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cosimo.palma@phd.unipi.it  ·  info@archivemylegacy.com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868729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Text2Story'26 — 9th International Workshop on Narrative Extraction from Texts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ECIR 2026, March 29th — Delft, The Netherlands</a:t>
            </a:r>
            <a:endParaRPr lang="en-US" sz="1200" dirty="0"/>
          </a:p>
        </p:txBody>
      </p:sp>
      <p:pic>
        <p:nvPicPr>
          <p:cNvPr id="8" name="Picture 7" descr="A logo of a tree&#10;&#10;AI-generated content may be incorrect.">
            <a:extLst>
              <a:ext uri="{FF2B5EF4-FFF2-40B4-BE49-F238E27FC236}">
                <a16:creationId xmlns:a16="http://schemas.microsoft.com/office/drawing/2014/main" id="{D37800F9-C36D-A46C-BBF6-61BC86520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298" y="608562"/>
            <a:ext cx="905404" cy="10463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F04E1C-2647-9BB7-26DE-1A2E460C7D15}"/>
              </a:ext>
            </a:extLst>
          </p:cNvPr>
          <p:cNvSpPr txBox="1"/>
          <p:nvPr/>
        </p:nvSpPr>
        <p:spPr>
          <a:xfrm>
            <a:off x="3913807" y="3170065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Georgia" panose="02040502050405020303" pitchFamily="18" charset="0"/>
              </a:rPr>
              <a:t>Questions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Microsoft Office PowerPoint</Application>
  <PresentationFormat>On-screen Show (16:9)</PresentationFormat>
  <Paragraphs>239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Rethinking TRIZ for AI-Driven Narrative Generation</dc:title>
  <dc:subject>PptxGenJS Presentation</dc:subject>
  <dc:creator>Cosimo Palma &amp; Bertrand Jager</dc:creator>
  <cp:lastModifiedBy>PALMA Cosimo (OP)</cp:lastModifiedBy>
  <cp:revision>14</cp:revision>
  <dcterms:created xsi:type="dcterms:W3CDTF">2026-03-25T15:31:06Z</dcterms:created>
  <dcterms:modified xsi:type="dcterms:W3CDTF">2026-03-27T15:32:53Z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2026-03-25T16:10:51Z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081929ca-559b-4b7d-a84b-57fc3c9dfbaa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