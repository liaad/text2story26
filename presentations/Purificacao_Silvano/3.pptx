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0" r:id="rId2"/>
    <p:sldId id="370" r:id="rId3"/>
    <p:sldId id="346" r:id="rId4"/>
    <p:sldId id="354" r:id="rId5"/>
    <p:sldId id="355" r:id="rId6"/>
    <p:sldId id="364" r:id="rId7"/>
    <p:sldId id="365" r:id="rId8"/>
    <p:sldId id="371" r:id="rId9"/>
    <p:sldId id="356" r:id="rId10"/>
    <p:sldId id="366" r:id="rId11"/>
    <p:sldId id="359" r:id="rId12"/>
    <p:sldId id="360" r:id="rId13"/>
    <p:sldId id="361" r:id="rId14"/>
    <p:sldId id="372" r:id="rId15"/>
    <p:sldId id="362" r:id="rId16"/>
    <p:sldId id="367" r:id="rId17"/>
    <p:sldId id="368" r:id="rId18"/>
    <p:sldId id="369" r:id="rId19"/>
    <p:sldId id="343" r:id="rId20"/>
    <p:sldId id="294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1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31625-4061-4514-9261-BBF921CB4653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940E1-ED9A-4072-8A38-894AA1103FC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589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940E1-ED9A-4072-8A38-894AA1103FC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159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940E1-ED9A-4072-8A38-894AA1103FC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611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10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09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04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745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84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07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75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682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201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317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271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05ED9-852E-412A-9394-2CF4DE17239B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F4386-D8D0-4FCE-87A8-ECC70FBE01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766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94295" y="1063585"/>
            <a:ext cx="10067957" cy="2387600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Gadugi" panose="020B0502040204020203" pitchFamily="34" charset="0"/>
                <a:ea typeface="Gadugi" panose="020B0502040204020203" pitchFamily="34" charset="0"/>
              </a:rPr>
              <a:t>Zero Prompting </a:t>
            </a:r>
            <a:r>
              <a:rPr lang="en-US" sz="3600" dirty="0" smtClean="0">
                <a:latin typeface="Gadugi" panose="020B0502040204020203" pitchFamily="34" charset="0"/>
                <a:ea typeface="Gadugi" panose="020B0502040204020203" pitchFamily="34" charset="0"/>
              </a:rPr>
              <a:t/>
            </a:r>
            <a:br>
              <a:rPr lang="en-US" sz="3600" dirty="0" smtClean="0">
                <a:latin typeface="Gadugi" panose="020B0502040204020203" pitchFamily="34" charset="0"/>
                <a:ea typeface="Gadugi" panose="020B0502040204020203" pitchFamily="34" charset="0"/>
              </a:rPr>
            </a:br>
            <a:r>
              <a:rPr lang="en-US" sz="3600" dirty="0" smtClean="0">
                <a:latin typeface="Gadugi" panose="020B0502040204020203" pitchFamily="34" charset="0"/>
                <a:ea typeface="Gadugi" panose="020B0502040204020203" pitchFamily="34" charset="0"/>
              </a:rPr>
              <a:t>Segmentation </a:t>
            </a:r>
            <a:r>
              <a:rPr lang="en-US" sz="3600" dirty="0">
                <a:latin typeface="Gadugi" panose="020B0502040204020203" pitchFamily="34" charset="0"/>
                <a:ea typeface="Gadugi" panose="020B0502040204020203" pitchFamily="34" charset="0"/>
              </a:rPr>
              <a:t>of </a:t>
            </a:r>
            <a:r>
              <a:rPr lang="en-US" sz="3600" dirty="0" smtClean="0">
                <a:latin typeface="Gadugi" panose="020B0502040204020203" pitchFamily="34" charset="0"/>
                <a:ea typeface="Gadugi" panose="020B0502040204020203" pitchFamily="34" charset="0"/>
              </a:rPr>
              <a:t/>
            </a:r>
            <a:br>
              <a:rPr lang="en-US" sz="3600" dirty="0" smtClean="0">
                <a:latin typeface="Gadugi" panose="020B0502040204020203" pitchFamily="34" charset="0"/>
                <a:ea typeface="Gadugi" panose="020B0502040204020203" pitchFamily="34" charset="0"/>
              </a:rPr>
            </a:br>
            <a:r>
              <a:rPr lang="en-US" sz="3600" dirty="0" smtClean="0">
                <a:latin typeface="Gadugi" panose="020B0502040204020203" pitchFamily="34" charset="0"/>
                <a:ea typeface="Gadugi" panose="020B0502040204020203" pitchFamily="34" charset="0"/>
              </a:rPr>
              <a:t>Movie </a:t>
            </a:r>
            <a:r>
              <a:rPr lang="en-US" sz="3600" dirty="0">
                <a:latin typeface="Gadugi" panose="020B0502040204020203" pitchFamily="34" charset="0"/>
                <a:ea typeface="Gadugi" panose="020B0502040204020203" pitchFamily="34" charset="0"/>
              </a:rPr>
              <a:t>Dialogues into Narrative Units</a:t>
            </a:r>
            <a:r>
              <a:rPr lang="es-ES" sz="3600" dirty="0" smtClean="0">
                <a:latin typeface="Gadugi" panose="020B0502040204020203" pitchFamily="34" charset="0"/>
                <a:ea typeface="Gadugi" panose="020B0502040204020203" pitchFamily="34" charset="0"/>
              </a:rPr>
              <a:t/>
            </a:r>
            <a:br>
              <a:rPr lang="es-ES" sz="3600" dirty="0" smtClean="0">
                <a:latin typeface="Gadugi" panose="020B0502040204020203" pitchFamily="34" charset="0"/>
                <a:ea typeface="Gadugi" panose="020B0502040204020203" pitchFamily="34" charset="0"/>
              </a:rPr>
            </a:br>
            <a:endParaRPr lang="es-ES" sz="36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>
                <a:latin typeface="Gadugi" panose="020B0502040204020203" pitchFamily="34" charset="0"/>
                <a:ea typeface="Gadugi" panose="020B0502040204020203" pitchFamily="34" charset="0"/>
              </a:rPr>
              <a:t>José Luis López Calle </a:t>
            </a:r>
            <a:r>
              <a:rPr lang="es-ES" sz="2800" dirty="0" smtClean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s-ES" sz="2800" b="1" dirty="0" smtClean="0">
                <a:latin typeface="Gadugi" panose="020B0502040204020203" pitchFamily="34" charset="0"/>
                <a:ea typeface="Gadugi" panose="020B0502040204020203" pitchFamily="34" charset="0"/>
              </a:rPr>
              <a:t>Pablo </a:t>
            </a:r>
            <a:r>
              <a:rPr lang="es-ES" sz="2800" b="1" dirty="0" err="1" smtClean="0">
                <a:latin typeface="Gadugi" panose="020B0502040204020203" pitchFamily="34" charset="0"/>
                <a:ea typeface="Gadugi" panose="020B0502040204020203" pitchFamily="34" charset="0"/>
              </a:rPr>
              <a:t>Gervás</a:t>
            </a:r>
            <a:endParaRPr lang="es-ES" sz="2800" dirty="0" smtClean="0">
              <a:latin typeface="Gadugi" panose="020B0502040204020203" pitchFamily="34" charset="0"/>
              <a:ea typeface="Gadugi" panose="020B0502040204020203" pitchFamily="34" charset="0"/>
            </a:endParaRPr>
          </a:p>
          <a:p>
            <a:r>
              <a:rPr lang="es-ES" sz="2800" dirty="0" smtClean="0">
                <a:latin typeface="Gadugi" panose="020B0502040204020203" pitchFamily="34" charset="0"/>
                <a:ea typeface="Gadugi" panose="020B0502040204020203" pitchFamily="34" charset="0"/>
              </a:rPr>
              <a:t>Universidad Complutense de Madrid</a:t>
            </a:r>
            <a:endParaRPr lang="es-ES" sz="28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940728" y="4808488"/>
            <a:ext cx="8310545" cy="15696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T</a:t>
            </a:r>
            <a:r>
              <a:rPr lang="en-GB" sz="2400" dirty="0" smtClean="0"/>
              <a:t>ext2Story 2026</a:t>
            </a:r>
            <a:endParaRPr lang="en-GB" sz="2400" dirty="0"/>
          </a:p>
          <a:p>
            <a:pPr algn="ctr"/>
            <a:r>
              <a:rPr lang="en-US" sz="2400" dirty="0" smtClean="0"/>
              <a:t>Ninth </a:t>
            </a:r>
            <a:r>
              <a:rPr lang="en-US" sz="2400" dirty="0"/>
              <a:t>International Workshop on Narrative Extraction from </a:t>
            </a:r>
            <a:r>
              <a:rPr lang="en-US" sz="2400" dirty="0" smtClean="0"/>
              <a:t>Texts,</a:t>
            </a:r>
          </a:p>
          <a:p>
            <a:pPr algn="ctr"/>
            <a:r>
              <a:rPr lang="en-US" sz="2400" dirty="0" smtClean="0"/>
              <a:t>48th </a:t>
            </a:r>
            <a:r>
              <a:rPr lang="en-US" sz="2400" dirty="0"/>
              <a:t>European Conference on Information </a:t>
            </a:r>
            <a:r>
              <a:rPr lang="en-US" sz="2400" dirty="0" smtClean="0"/>
              <a:t>Retrieval,</a:t>
            </a:r>
          </a:p>
          <a:p>
            <a:pPr algn="ctr"/>
            <a:r>
              <a:rPr lang="en-US" sz="2400" dirty="0"/>
              <a:t>March 29, 2026 - Delft, The Netherlands</a:t>
            </a:r>
            <a:endParaRPr lang="en-US" sz="24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5" name="Picture 6" descr="NILestrech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191" y="44785"/>
            <a:ext cx="5292725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427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4252403" y="1181324"/>
            <a:ext cx="2994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(Ongoing </a:t>
            </a:r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Work)</a:t>
            </a:r>
          </a:p>
          <a:p>
            <a:pPr algn="ctr"/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Talk Outline</a:t>
            </a:r>
            <a:endParaRPr lang="es-E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2144896" y="2732201"/>
            <a:ext cx="7203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Motivation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144894" y="3450956"/>
            <a:ext cx="7361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Experiment</a:t>
            </a:r>
            <a:endParaRPr lang="en-US" sz="20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2144893" y="5178584"/>
            <a:ext cx="7203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Take </a:t>
            </a:r>
            <a:r>
              <a:rPr lang="en-US" sz="20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aways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144894" y="4288301"/>
            <a:ext cx="7203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Results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4587892" y="2732201"/>
            <a:ext cx="2475385" cy="400110"/>
          </a:xfrm>
          <a:prstGeom prst="roundRect">
            <a:avLst/>
          </a:prstGeom>
          <a:noFill/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24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79829" y="215443"/>
            <a:ext cx="606317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FADE IN ON: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VIDEO GAME ON A COMPUTER SCREEN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game is in progress. As a sick coughing sound is heard.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CUT TO: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THIS KID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lying in bed, coughing. Pale, one sick cookie. Maybe he's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seven or eight or nine. He holds a remote in one hand,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presses it, and the video game moves a little bit. Then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he's hit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by another spasm of coughing, puts the remote down.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His room is monochromatic, greys and blues, mildly high-tech.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We're in the present day and this is a middle class house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somewhere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 the suburbs.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CUT TO: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Kid's MOTHER as she enters, goes to him, fluffs his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pillows, kisses him, and briefly feels his forehead.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She's worried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it doesn't show. During this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693878" y="430887"/>
            <a:ext cx="606317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You feeling any better?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THE KID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A little bit.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Guess what.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THE KID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What?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Your grandfather's here.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THE KID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(not overjoyed)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Mom, can't you tell him that I'm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sick?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You are sick, that's why he's here.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THE KID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He'll pinch my cheek. I hate that.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MOTHER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Maybe he won't.</a:t>
            </a: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0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993" y="951148"/>
            <a:ext cx="3327698" cy="2170287"/>
          </a:xfrm>
          <a:prstGeom prst="rect">
            <a:avLst/>
          </a:prstGeom>
        </p:spPr>
      </p:pic>
      <p:pic>
        <p:nvPicPr>
          <p:cNvPr id="4" name="Imagen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914" y="951148"/>
            <a:ext cx="3271423" cy="2156221"/>
          </a:xfrm>
          <a:prstGeom prst="rect">
            <a:avLst/>
          </a:prstGeom>
        </p:spPr>
      </p:pic>
      <p:pic>
        <p:nvPicPr>
          <p:cNvPr id="6" name="Imagen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517" y="951148"/>
            <a:ext cx="3327697" cy="2170287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993" y="3249626"/>
            <a:ext cx="3271423" cy="2170287"/>
          </a:xfrm>
          <a:prstGeom prst="rect">
            <a:avLst/>
          </a:prstGeom>
        </p:spPr>
      </p:pic>
      <p:pic>
        <p:nvPicPr>
          <p:cNvPr id="8" name="Imagen 7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914" y="3249626"/>
            <a:ext cx="3294377" cy="2170287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516" y="3249626"/>
            <a:ext cx="3327698" cy="21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2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781" y="-18307"/>
            <a:ext cx="9724293" cy="3167938"/>
          </a:xfrm>
          <a:prstGeom prst="rect">
            <a:avLst/>
          </a:prstGeom>
        </p:spPr>
      </p:pic>
      <p:grpSp>
        <p:nvGrpSpPr>
          <p:cNvPr id="3" name="Grupo 2"/>
          <p:cNvGrpSpPr/>
          <p:nvPr/>
        </p:nvGrpSpPr>
        <p:grpSpPr>
          <a:xfrm>
            <a:off x="2297468" y="3410782"/>
            <a:ext cx="1834798" cy="369386"/>
            <a:chOff x="2297468" y="3410782"/>
            <a:chExt cx="1834798" cy="369386"/>
          </a:xfrm>
        </p:grpSpPr>
        <p:sp>
          <p:nvSpPr>
            <p:cNvPr id="4" name="CuadroTexto 3"/>
            <p:cNvSpPr txBox="1"/>
            <p:nvPr/>
          </p:nvSpPr>
          <p:spPr>
            <a:xfrm>
              <a:off x="2599154" y="3410836"/>
              <a:ext cx="153311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dirty="0" err="1" smtClean="0"/>
                <a:t>Mother</a:t>
              </a:r>
              <a:r>
                <a:rPr lang="es-ES" dirty="0" smtClean="0"/>
                <a:t> </a:t>
              </a:r>
              <a:r>
                <a:rPr lang="es-ES" dirty="0" err="1" smtClean="0"/>
                <a:t>leaves</a:t>
              </a:r>
              <a:endParaRPr lang="es-ES" dirty="0"/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2297468" y="34107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6</a:t>
              </a:r>
              <a:endParaRPr lang="es-ES" dirty="0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275070" y="3780168"/>
            <a:ext cx="3090640" cy="664898"/>
            <a:chOff x="275070" y="3780168"/>
            <a:chExt cx="3090640" cy="664898"/>
          </a:xfrm>
        </p:grpSpPr>
        <p:sp>
          <p:nvSpPr>
            <p:cNvPr id="5" name="CuadroTexto 4"/>
            <p:cNvSpPr txBox="1"/>
            <p:nvPr/>
          </p:nvSpPr>
          <p:spPr>
            <a:xfrm>
              <a:off x="592007" y="4075734"/>
              <a:ext cx="189673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dirty="0" err="1" smtClean="0"/>
                <a:t>Grandfather</a:t>
              </a:r>
              <a:r>
                <a:rPr lang="es-ES" dirty="0" smtClean="0"/>
                <a:t> </a:t>
              </a:r>
              <a:r>
                <a:rPr lang="es-ES" dirty="0" err="1" smtClean="0"/>
                <a:t>reads</a:t>
              </a:r>
              <a:endParaRPr lang="es-ES" dirty="0"/>
            </a:p>
          </p:txBody>
        </p:sp>
        <p:cxnSp>
          <p:nvCxnSpPr>
            <p:cNvPr id="10" name="Conector recto de flecha 9"/>
            <p:cNvCxnSpPr>
              <a:stCxn id="4" idx="2"/>
              <a:endCxn id="5" idx="0"/>
            </p:cNvCxnSpPr>
            <p:nvPr/>
          </p:nvCxnSpPr>
          <p:spPr>
            <a:xfrm flipH="1">
              <a:off x="1540376" y="3780168"/>
              <a:ext cx="1825334" cy="2955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uadroTexto 14"/>
            <p:cNvSpPr txBox="1"/>
            <p:nvPr/>
          </p:nvSpPr>
          <p:spPr>
            <a:xfrm>
              <a:off x="275070" y="40744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7</a:t>
              </a:r>
              <a:endParaRPr lang="es-ES" dirty="0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2488745" y="4087735"/>
            <a:ext cx="4370854" cy="381084"/>
            <a:chOff x="2488745" y="4087735"/>
            <a:chExt cx="4370854" cy="381084"/>
          </a:xfrm>
        </p:grpSpPr>
        <p:sp>
          <p:nvSpPr>
            <p:cNvPr id="6" name="CuadroTexto 5"/>
            <p:cNvSpPr txBox="1"/>
            <p:nvPr/>
          </p:nvSpPr>
          <p:spPr>
            <a:xfrm>
              <a:off x="3722195" y="4087735"/>
              <a:ext cx="264784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dirty="0" err="1" smtClean="0"/>
                <a:t>Grandfather</a:t>
              </a:r>
              <a:r>
                <a:rPr lang="es-ES" dirty="0" smtClean="0"/>
                <a:t> </a:t>
              </a:r>
              <a:r>
                <a:rPr lang="es-ES" dirty="0" err="1" smtClean="0"/>
                <a:t>tells</a:t>
              </a:r>
              <a:r>
                <a:rPr lang="es-ES" dirty="0" smtClean="0"/>
                <a:t> </a:t>
              </a:r>
              <a:r>
                <a:rPr lang="es-ES" dirty="0" err="1" smtClean="0"/>
                <a:t>boy</a:t>
              </a:r>
              <a:r>
                <a:rPr lang="es-ES" dirty="0" smtClean="0"/>
                <a:t> [8 9]</a:t>
              </a:r>
              <a:endParaRPr lang="es-ES" dirty="0">
                <a:solidFill>
                  <a:srgbClr val="00B0F0"/>
                </a:solidFill>
              </a:endParaRPr>
            </a:p>
          </p:txBody>
        </p:sp>
        <p:cxnSp>
          <p:nvCxnSpPr>
            <p:cNvPr id="11" name="Conector recto 10"/>
            <p:cNvCxnSpPr>
              <a:stCxn id="5" idx="3"/>
            </p:cNvCxnSpPr>
            <p:nvPr/>
          </p:nvCxnSpPr>
          <p:spPr>
            <a:xfrm flipV="1">
              <a:off x="2488745" y="4259068"/>
              <a:ext cx="1194894" cy="13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/>
            <p:cNvSpPr txBox="1"/>
            <p:nvPr/>
          </p:nvSpPr>
          <p:spPr>
            <a:xfrm>
              <a:off x="6447307" y="4099487"/>
              <a:ext cx="412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7a</a:t>
              </a:r>
              <a:endParaRPr lang="es-ES" dirty="0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7717058" y="4082506"/>
            <a:ext cx="3546199" cy="386313"/>
            <a:chOff x="7717058" y="4082506"/>
            <a:chExt cx="3546199" cy="386313"/>
          </a:xfrm>
        </p:grpSpPr>
        <p:sp>
          <p:nvSpPr>
            <p:cNvPr id="8" name="CuadroTexto 7"/>
            <p:cNvSpPr txBox="1"/>
            <p:nvPr/>
          </p:nvSpPr>
          <p:spPr>
            <a:xfrm>
              <a:off x="8025639" y="4082506"/>
              <a:ext cx="323761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Wesley </a:t>
              </a:r>
              <a:r>
                <a:rPr lang="es-ES" dirty="0" err="1" smtClean="0"/>
                <a:t>give</a:t>
              </a:r>
              <a:r>
                <a:rPr lang="es-ES" dirty="0" smtClean="0"/>
                <a:t> pitcher to </a:t>
              </a:r>
              <a:r>
                <a:rPr lang="es-ES" dirty="0" err="1" smtClean="0"/>
                <a:t>Buttercup</a:t>
              </a:r>
              <a:endParaRPr lang="es-ES" dirty="0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7717058" y="40994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8</a:t>
              </a:r>
              <a:endParaRPr lang="es-ES" dirty="0"/>
            </a:p>
          </p:txBody>
        </p:sp>
      </p:grpSp>
      <p:sp>
        <p:nvSpPr>
          <p:cNvPr id="19" name="Rectángulo 18"/>
          <p:cNvSpPr/>
          <p:nvPr/>
        </p:nvSpPr>
        <p:spPr>
          <a:xfrm>
            <a:off x="38678" y="3256012"/>
            <a:ext cx="7168882" cy="3429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/>
          <p:cNvSpPr txBox="1"/>
          <p:nvPr/>
        </p:nvSpPr>
        <p:spPr>
          <a:xfrm>
            <a:off x="38677" y="3264048"/>
            <a:ext cx="1528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Real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world</a:t>
            </a:r>
            <a:endParaRPr lang="es-E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7563271" y="3251106"/>
            <a:ext cx="4209484" cy="3429000"/>
            <a:chOff x="7563271" y="3251106"/>
            <a:chExt cx="4209484" cy="3429000"/>
          </a:xfrm>
        </p:grpSpPr>
        <p:sp>
          <p:nvSpPr>
            <p:cNvPr id="28" name="Rectángulo 27"/>
            <p:cNvSpPr/>
            <p:nvPr/>
          </p:nvSpPr>
          <p:spPr>
            <a:xfrm>
              <a:off x="7563271" y="3251106"/>
              <a:ext cx="4209484" cy="3429000"/>
            </a:xfrm>
            <a:prstGeom prst="rect">
              <a:avLst/>
            </a:prstGeom>
            <a:noFill/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7600299" y="3291597"/>
              <a:ext cx="20441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000" dirty="0" err="1" smtClean="0">
                  <a:latin typeface="Verdana" panose="020B0604030504040204" pitchFamily="34" charset="0"/>
                  <a:ea typeface="Verdana" panose="020B0604030504040204" pitchFamily="34" charset="0"/>
                </a:rPr>
                <a:t>Fictional</a:t>
              </a:r>
              <a:r>
                <a:rPr lang="es-ES" sz="20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es-ES" sz="20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world</a:t>
              </a:r>
              <a:endParaRPr lang="es-E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8206598" y="4497129"/>
            <a:ext cx="2537204" cy="681879"/>
            <a:chOff x="8206598" y="4497129"/>
            <a:chExt cx="2537204" cy="681879"/>
          </a:xfrm>
        </p:grpSpPr>
        <p:sp>
          <p:nvSpPr>
            <p:cNvPr id="26" name="CuadroTexto 25"/>
            <p:cNvSpPr txBox="1"/>
            <p:nvPr/>
          </p:nvSpPr>
          <p:spPr>
            <a:xfrm>
              <a:off x="8515179" y="4792695"/>
              <a:ext cx="222862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Wesley Kiss </a:t>
              </a:r>
              <a:r>
                <a:rPr lang="es-ES" dirty="0" err="1" smtClean="0"/>
                <a:t>Buttercup</a:t>
              </a:r>
              <a:endParaRPr lang="es-ES" dirty="0"/>
            </a:p>
          </p:txBody>
        </p:sp>
        <p:sp>
          <p:nvSpPr>
            <p:cNvPr id="27" name="CuadroTexto 26"/>
            <p:cNvSpPr txBox="1"/>
            <p:nvPr/>
          </p:nvSpPr>
          <p:spPr>
            <a:xfrm>
              <a:off x="8206598" y="48096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9</a:t>
              </a:r>
              <a:endParaRPr lang="es-ES" dirty="0"/>
            </a:p>
          </p:txBody>
        </p:sp>
        <p:cxnSp>
          <p:nvCxnSpPr>
            <p:cNvPr id="30" name="Conector recto de flecha 29"/>
            <p:cNvCxnSpPr/>
            <p:nvPr/>
          </p:nvCxnSpPr>
          <p:spPr>
            <a:xfrm flipH="1">
              <a:off x="9629491" y="4497129"/>
              <a:ext cx="1" cy="2955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o 21"/>
          <p:cNvGrpSpPr/>
          <p:nvPr/>
        </p:nvGrpSpPr>
        <p:grpSpPr>
          <a:xfrm>
            <a:off x="168771" y="4472380"/>
            <a:ext cx="5567200" cy="701648"/>
            <a:chOff x="168771" y="4472380"/>
            <a:chExt cx="5567200" cy="701648"/>
          </a:xfrm>
        </p:grpSpPr>
        <p:cxnSp>
          <p:nvCxnSpPr>
            <p:cNvPr id="12" name="Conector recto de flecha 11"/>
            <p:cNvCxnSpPr/>
            <p:nvPr/>
          </p:nvCxnSpPr>
          <p:spPr>
            <a:xfrm flipH="1">
              <a:off x="1272781" y="4472380"/>
              <a:ext cx="4463190" cy="3323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/>
            <p:cNvSpPr txBox="1"/>
            <p:nvPr/>
          </p:nvSpPr>
          <p:spPr>
            <a:xfrm>
              <a:off x="576756" y="4792695"/>
              <a:ext cx="189673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dirty="0" err="1" smtClean="0"/>
                <a:t>Grandfather</a:t>
              </a:r>
              <a:r>
                <a:rPr lang="es-ES" dirty="0" smtClean="0"/>
                <a:t> </a:t>
              </a:r>
              <a:r>
                <a:rPr lang="es-ES" dirty="0" err="1" smtClean="0"/>
                <a:t>reads</a:t>
              </a:r>
              <a:endParaRPr lang="es-ES" dirty="0"/>
            </a:p>
          </p:txBody>
        </p:sp>
        <p:sp>
          <p:nvSpPr>
            <p:cNvPr id="35" name="CuadroTexto 34"/>
            <p:cNvSpPr txBox="1"/>
            <p:nvPr/>
          </p:nvSpPr>
          <p:spPr>
            <a:xfrm>
              <a:off x="168771" y="480469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10</a:t>
              </a:r>
              <a:endParaRPr lang="es-ES" dirty="0"/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2473494" y="4802959"/>
            <a:ext cx="4678988" cy="371069"/>
            <a:chOff x="2473494" y="4802959"/>
            <a:chExt cx="4678988" cy="371069"/>
          </a:xfrm>
        </p:grpSpPr>
        <p:sp>
          <p:nvSpPr>
            <p:cNvPr id="32" name="CuadroTexto 31"/>
            <p:cNvSpPr txBox="1"/>
            <p:nvPr/>
          </p:nvSpPr>
          <p:spPr>
            <a:xfrm>
              <a:off x="3706944" y="4804696"/>
              <a:ext cx="288187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dirty="0" err="1" smtClean="0"/>
                <a:t>Grandfather</a:t>
              </a:r>
              <a:r>
                <a:rPr lang="es-ES" dirty="0" smtClean="0"/>
                <a:t> </a:t>
              </a:r>
              <a:r>
                <a:rPr lang="es-ES" dirty="0" err="1" smtClean="0"/>
                <a:t>tells</a:t>
              </a:r>
              <a:r>
                <a:rPr lang="es-ES" dirty="0" smtClean="0"/>
                <a:t> </a:t>
              </a:r>
              <a:r>
                <a:rPr lang="es-ES" dirty="0" err="1" smtClean="0"/>
                <a:t>boy</a:t>
              </a:r>
              <a:r>
                <a:rPr lang="es-ES" dirty="0" smtClean="0"/>
                <a:t> [11 12]</a:t>
              </a:r>
              <a:endParaRPr lang="es-ES" dirty="0">
                <a:solidFill>
                  <a:srgbClr val="00B0F0"/>
                </a:solidFill>
              </a:endParaRPr>
            </a:p>
          </p:txBody>
        </p:sp>
        <p:cxnSp>
          <p:nvCxnSpPr>
            <p:cNvPr id="33" name="Conector recto 32"/>
            <p:cNvCxnSpPr>
              <a:stCxn id="31" idx="3"/>
            </p:cNvCxnSpPr>
            <p:nvPr/>
          </p:nvCxnSpPr>
          <p:spPr>
            <a:xfrm flipV="1">
              <a:off x="2473494" y="4976029"/>
              <a:ext cx="1194894" cy="13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uadroTexto 35"/>
            <p:cNvSpPr txBox="1"/>
            <p:nvPr/>
          </p:nvSpPr>
          <p:spPr>
            <a:xfrm>
              <a:off x="6623170" y="4802959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10a</a:t>
              </a:r>
              <a:endParaRPr lang="es-ES" dirty="0"/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8117796" y="5847023"/>
            <a:ext cx="2540980" cy="681879"/>
            <a:chOff x="8117796" y="5847023"/>
            <a:chExt cx="2540980" cy="681879"/>
          </a:xfrm>
        </p:grpSpPr>
        <p:sp>
          <p:nvSpPr>
            <p:cNvPr id="40" name="CuadroTexto 39"/>
            <p:cNvSpPr txBox="1"/>
            <p:nvPr/>
          </p:nvSpPr>
          <p:spPr>
            <a:xfrm>
              <a:off x="8566921" y="6142589"/>
              <a:ext cx="209185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Wesley </a:t>
              </a:r>
              <a:r>
                <a:rPr lang="es-ES" dirty="0" err="1" smtClean="0"/>
                <a:t>seek</a:t>
              </a:r>
              <a:r>
                <a:rPr lang="es-ES" dirty="0" smtClean="0"/>
                <a:t> </a:t>
              </a:r>
              <a:r>
                <a:rPr lang="es-ES" dirty="0" err="1" smtClean="0"/>
                <a:t>fortune</a:t>
              </a:r>
              <a:endParaRPr lang="es-ES" dirty="0"/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8117796" y="615957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12</a:t>
              </a:r>
              <a:endParaRPr lang="es-ES" dirty="0"/>
            </a:p>
          </p:txBody>
        </p:sp>
        <p:cxnSp>
          <p:nvCxnSpPr>
            <p:cNvPr id="42" name="Conector recto de flecha 41"/>
            <p:cNvCxnSpPr/>
            <p:nvPr/>
          </p:nvCxnSpPr>
          <p:spPr>
            <a:xfrm flipH="1">
              <a:off x="9628478" y="5847023"/>
              <a:ext cx="1" cy="2955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o 23"/>
          <p:cNvGrpSpPr/>
          <p:nvPr/>
        </p:nvGrpSpPr>
        <p:grpSpPr>
          <a:xfrm>
            <a:off x="8277247" y="5174028"/>
            <a:ext cx="2315698" cy="679605"/>
            <a:chOff x="8277247" y="5174028"/>
            <a:chExt cx="2315698" cy="679605"/>
          </a:xfrm>
        </p:grpSpPr>
        <p:sp>
          <p:nvSpPr>
            <p:cNvPr id="38" name="CuadroTexto 37"/>
            <p:cNvSpPr txBox="1"/>
            <p:nvPr/>
          </p:nvSpPr>
          <p:spPr>
            <a:xfrm>
              <a:off x="8695951" y="5467963"/>
              <a:ext cx="189699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Wesley </a:t>
              </a:r>
              <a:r>
                <a:rPr lang="es-ES" dirty="0" err="1" smtClean="0"/>
                <a:t>leave</a:t>
              </a:r>
              <a:r>
                <a:rPr lang="es-ES" dirty="0" smtClean="0"/>
                <a:t> </a:t>
              </a:r>
              <a:r>
                <a:rPr lang="es-ES" dirty="0" err="1" smtClean="0"/>
                <a:t>farm</a:t>
              </a:r>
              <a:endParaRPr lang="es-ES" dirty="0"/>
            </a:p>
          </p:txBody>
        </p:sp>
        <p:sp>
          <p:nvSpPr>
            <p:cNvPr id="39" name="CuadroTexto 38"/>
            <p:cNvSpPr txBox="1"/>
            <p:nvPr/>
          </p:nvSpPr>
          <p:spPr>
            <a:xfrm>
              <a:off x="8277247" y="548430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11</a:t>
              </a:r>
              <a:endParaRPr lang="es-ES" dirty="0"/>
            </a:p>
          </p:txBody>
        </p:sp>
        <p:cxnSp>
          <p:nvCxnSpPr>
            <p:cNvPr id="43" name="Conector recto de flecha 42"/>
            <p:cNvCxnSpPr/>
            <p:nvPr/>
          </p:nvCxnSpPr>
          <p:spPr>
            <a:xfrm flipH="1">
              <a:off x="9644446" y="5174028"/>
              <a:ext cx="1" cy="2955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249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" y="113726"/>
            <a:ext cx="6254703" cy="67442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736" y="3053918"/>
            <a:ext cx="6014959" cy="38040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495" y="113726"/>
            <a:ext cx="6088204" cy="37136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upo 6"/>
          <p:cNvGrpSpPr/>
          <p:nvPr/>
        </p:nvGrpSpPr>
        <p:grpSpPr>
          <a:xfrm>
            <a:off x="3865023" y="5762934"/>
            <a:ext cx="2843799" cy="1175558"/>
            <a:chOff x="3865023" y="5762934"/>
            <a:chExt cx="2843799" cy="1175558"/>
          </a:xfrm>
        </p:grpSpPr>
        <p:sp>
          <p:nvSpPr>
            <p:cNvPr id="5" name="CuadroTexto 4"/>
            <p:cNvSpPr txBox="1"/>
            <p:nvPr/>
          </p:nvSpPr>
          <p:spPr>
            <a:xfrm>
              <a:off x="3865023" y="5762934"/>
              <a:ext cx="24913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2,133 </a:t>
              </a:r>
              <a:r>
                <a:rPr lang="es-ES" sz="2400" dirty="0" err="1" smtClean="0">
                  <a:latin typeface="Verdana" panose="020B0604030504040204" pitchFamily="34" charset="0"/>
                  <a:ea typeface="Verdana" panose="020B0604030504040204" pitchFamily="34" charset="0"/>
                </a:rPr>
                <a:t>entries</a:t>
              </a:r>
              <a:r>
                <a:rPr lang="es-ES" sz="24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!!</a:t>
              </a:r>
              <a:endParaRPr lang="es-ES" sz="2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" name="Elipse 5"/>
            <p:cNvSpPr/>
            <p:nvPr/>
          </p:nvSpPr>
          <p:spPr>
            <a:xfrm>
              <a:off x="6411018" y="6659713"/>
              <a:ext cx="297804" cy="278779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23534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4252403" y="1181324"/>
            <a:ext cx="2994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(Ongoing </a:t>
            </a:r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Work)</a:t>
            </a:r>
          </a:p>
          <a:p>
            <a:pPr algn="ctr"/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Talk Outline</a:t>
            </a:r>
            <a:endParaRPr lang="es-E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2144896" y="2732201"/>
            <a:ext cx="7203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Motivation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144894" y="3450956"/>
            <a:ext cx="7361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Experiment</a:t>
            </a:r>
            <a:endParaRPr lang="en-US" sz="20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2144893" y="5178584"/>
            <a:ext cx="7203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Take </a:t>
            </a:r>
            <a:r>
              <a:rPr lang="en-US" sz="20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aways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144894" y="4288301"/>
            <a:ext cx="7203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Results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4587892" y="3495987"/>
            <a:ext cx="2475385" cy="400110"/>
          </a:xfrm>
          <a:prstGeom prst="roundRect">
            <a:avLst/>
          </a:prstGeom>
          <a:noFill/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86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752" y="195624"/>
            <a:ext cx="6161103" cy="627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9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47153"/>
            <a:ext cx="10402752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6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25" y="169081"/>
            <a:ext cx="5533335" cy="38327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980" y="2315309"/>
            <a:ext cx="6457688" cy="41974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730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8" y="306280"/>
            <a:ext cx="4906851" cy="36801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79" y="1716837"/>
            <a:ext cx="5568439" cy="47187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841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63" y="230819"/>
            <a:ext cx="4860601" cy="24166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143" y="736846"/>
            <a:ext cx="6647600" cy="58858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5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4252403" y="1181324"/>
            <a:ext cx="2994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(Ongoing </a:t>
            </a:r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Work)</a:t>
            </a:r>
          </a:p>
          <a:p>
            <a:pPr algn="ctr"/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Talk Outline</a:t>
            </a:r>
            <a:endParaRPr lang="es-E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2144896" y="2732201"/>
            <a:ext cx="7203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Motivation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144894" y="3450956"/>
            <a:ext cx="7361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Experiment</a:t>
            </a:r>
            <a:endParaRPr lang="en-US" sz="20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2144893" y="5178584"/>
            <a:ext cx="7203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Take </a:t>
            </a:r>
            <a:r>
              <a:rPr lang="en-US" sz="20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aways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144894" y="4288301"/>
            <a:ext cx="7203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Results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ángulo redondeado 1"/>
          <p:cNvSpPr/>
          <p:nvPr/>
        </p:nvSpPr>
        <p:spPr>
          <a:xfrm>
            <a:off x="4508761" y="4285060"/>
            <a:ext cx="2475385" cy="400110"/>
          </a:xfrm>
          <a:prstGeom prst="roundRect">
            <a:avLst/>
          </a:prstGeom>
          <a:noFill/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218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66" y="3049938"/>
            <a:ext cx="10077963" cy="257309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41" y="926208"/>
            <a:ext cx="9925073" cy="117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5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1599944"/>
            <a:ext cx="11422069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7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386" y="2565647"/>
            <a:ext cx="12324374" cy="173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41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647312"/>
            <a:ext cx="11145805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77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4959946" y="1228787"/>
            <a:ext cx="1804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Take </a:t>
            </a:r>
            <a:r>
              <a:rPr lang="en-US" sz="24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Aways</a:t>
            </a:r>
            <a:endParaRPr lang="es-E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2862354" y="2297633"/>
            <a:ext cx="855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In small batches </a:t>
            </a:r>
            <a:r>
              <a:rPr lang="en-US" sz="20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ChatGPT</a:t>
            </a:r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does a good job.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862352" y="2991378"/>
            <a:ext cx="7361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In large batches </a:t>
            </a:r>
            <a:r>
              <a:rPr lang="en-US" sz="2000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ChatGPT</a:t>
            </a:r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leaves out significant chunks of the input.</a:t>
            </a:r>
            <a:endParaRPr lang="en-US" sz="20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2862352" y="5072613"/>
            <a:ext cx="5645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Even poor results help reduce the burden of the task.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862352" y="4378868"/>
            <a:ext cx="7203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More elaborate prompting strategies may improve performance.</a:t>
            </a:r>
            <a:endParaRPr lang="es-E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2862352" y="3685123"/>
            <a:ext cx="7361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Clean input helps.</a:t>
            </a:r>
            <a:endParaRPr lang="en-US" sz="20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84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10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875325" y="1796380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Thank you!</a:t>
            </a:r>
            <a:endParaRPr lang="es-ES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3473498" y="3519163"/>
            <a:ext cx="4910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http://nil.fdi.ucm.es/</a:t>
            </a:r>
            <a:endParaRPr lang="es-ES" sz="2800" b="1" dirty="0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9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6267</TotalTime>
  <Words>417</Words>
  <Application>Microsoft Office PowerPoint</Application>
  <PresentationFormat>Panorámica</PresentationFormat>
  <Paragraphs>105</Paragraphs>
  <Slides>20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Gadugi</vt:lpstr>
      <vt:lpstr>Verdana</vt:lpstr>
      <vt:lpstr>Tema de Office</vt:lpstr>
      <vt:lpstr>Zero Prompting  Segmentation of  Movie Dialogues into Narrative Units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PABLO GERVAS GOMEZ-NAVARRO</dc:creator>
  <cp:lastModifiedBy>Pablo</cp:lastModifiedBy>
  <cp:revision>497</cp:revision>
  <dcterms:created xsi:type="dcterms:W3CDTF">2021-03-19T11:54:34Z</dcterms:created>
  <dcterms:modified xsi:type="dcterms:W3CDTF">2026-03-24T18:12:23Z</dcterms:modified>
</cp:coreProperties>
</file>