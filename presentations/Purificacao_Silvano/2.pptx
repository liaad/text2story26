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y="5143500" cx="9144000"/>
  <p:notesSz cx="6858000" cy="9144000"/>
  <p:embeddedFontLst>
    <p:embeddedFont>
      <p:font typeface="Helvetica Neue"/>
      <p:regular r:id="rId15"/>
      <p:bold r:id="rId16"/>
      <p:italic r:id="rId17"/>
      <p:boldItalic r:id="rId1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font" Target="fonts/HelveticaNeue-regular.fntdata"/><Relationship Id="rId14" Type="http://schemas.openxmlformats.org/officeDocument/2006/relationships/slide" Target="slides/slide10.xml"/><Relationship Id="rId17" Type="http://schemas.openxmlformats.org/officeDocument/2006/relationships/font" Target="fonts/HelveticaNeue-italic.fntdata"/><Relationship Id="rId16" Type="http://schemas.openxmlformats.org/officeDocument/2006/relationships/font" Target="fonts/HelveticaNeue-bold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18" Type="http://schemas.openxmlformats.org/officeDocument/2006/relationships/font" Target="fonts/HelveticaNeue-boldItalic.fnt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d20e5b1b6c_0_3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d20e5b1b6c_0_3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d20e5b1b6c_0_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g3d20e5b1b6c_0_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d20e5b1b6c_0_14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d20e5b1b6c_0_14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d20e5b1b6c_0_14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d20e5b1b6c_0_14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d20e5b1b6c_0_14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d20e5b1b6c_0_14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d20e5b1b6c_0_14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d20e5b1b6c_0_14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d2f84b8156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3d2f84b8156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d20e5b1b6c_0_14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3d20e5b1b6c_0_14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d20e5b1b6c_0_14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3d20e5b1b6c_0_14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d20e5b1b6c_0_14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3d20e5b1b6c_0_14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Relationship Id="rId4" Type="http://schemas.openxmlformats.org/officeDocument/2006/relationships/image" Target="../media/image4.png"/><Relationship Id="rId5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 sz="2500"/>
              <a:t>Evaluating Large Language Models for Character Identification in Italian Renaissance Epics</a:t>
            </a:r>
            <a:endParaRPr sz="25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66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 sz="2000"/>
              <a:t>A Case Study on “Orlando Furioso”</a:t>
            </a:r>
            <a:endParaRPr sz="2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0" rtl="0" algn="ctr"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it" sz="6100">
                <a:latin typeface="Helvetica Neue"/>
                <a:ea typeface="Helvetica Neue"/>
                <a:cs typeface="Helvetica Neue"/>
                <a:sym typeface="Helvetica Neue"/>
              </a:rPr>
              <a:t>Gaudenzia Genoni</a:t>
            </a:r>
            <a:r>
              <a:rPr baseline="30000" lang="it" sz="6100">
                <a:latin typeface="Helvetica Neue"/>
                <a:ea typeface="Helvetica Neue"/>
                <a:cs typeface="Helvetica Neue"/>
                <a:sym typeface="Helvetica Neue"/>
              </a:rPr>
              <a:t>1</a:t>
            </a:r>
            <a:r>
              <a:rPr lang="it" sz="6100">
                <a:latin typeface="Helvetica Neue"/>
                <a:ea typeface="Helvetica Neue"/>
                <a:cs typeface="Helvetica Neue"/>
                <a:sym typeface="Helvetica Neue"/>
              </a:rPr>
              <a:t>, Alfio Ferrara</a:t>
            </a:r>
            <a:r>
              <a:rPr baseline="30000" lang="it" sz="6100">
                <a:latin typeface="Helvetica Neue"/>
                <a:ea typeface="Helvetica Neue"/>
                <a:cs typeface="Helvetica Neue"/>
                <a:sym typeface="Helvetica Neue"/>
              </a:rPr>
              <a:t>1,2</a:t>
            </a:r>
            <a:r>
              <a:rPr lang="it" sz="6100">
                <a:latin typeface="Helvetica Neue"/>
                <a:ea typeface="Helvetica Neue"/>
                <a:cs typeface="Helvetica Neue"/>
                <a:sym typeface="Helvetica Neue"/>
              </a:rPr>
              <a:t>, Stefano Montanelli</a:t>
            </a:r>
            <a:r>
              <a:rPr baseline="30000" lang="it" sz="6100">
                <a:latin typeface="Helvetica Neue"/>
                <a:ea typeface="Helvetica Neue"/>
                <a:cs typeface="Helvetica Neue"/>
                <a:sym typeface="Helvetica Neue"/>
              </a:rPr>
              <a:t>1</a:t>
            </a:r>
            <a:endParaRPr sz="61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baseline="30000" lang="it" sz="4500">
                <a:latin typeface="Helvetica Neue"/>
                <a:ea typeface="Helvetica Neue"/>
                <a:cs typeface="Helvetica Neue"/>
                <a:sym typeface="Helvetica Neue"/>
              </a:rPr>
              <a:t>1</a:t>
            </a:r>
            <a:r>
              <a:rPr lang="it" sz="4500">
                <a:latin typeface="Helvetica Neue"/>
                <a:ea typeface="Helvetica Neue"/>
                <a:cs typeface="Helvetica Neue"/>
                <a:sym typeface="Helvetica Neue"/>
              </a:rPr>
              <a:t>University of Milan, Department of Computer Science, Via Celoria, 18-20133 Milan, Italy</a:t>
            </a:r>
            <a:endParaRPr sz="45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ctr">
              <a:lnSpc>
                <a:spcPct val="4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baseline="30000" lang="it" sz="4500">
                <a:latin typeface="Helvetica Neue"/>
                <a:ea typeface="Helvetica Neue"/>
                <a:cs typeface="Helvetica Neue"/>
                <a:sym typeface="Helvetica Neue"/>
              </a:rPr>
              <a:t>2</a:t>
            </a:r>
            <a:r>
              <a:rPr lang="it" sz="4500">
                <a:latin typeface="Helvetica Neue"/>
                <a:ea typeface="Helvetica Neue"/>
                <a:cs typeface="Helvetica Neue"/>
                <a:sym typeface="Helvetica Neue"/>
              </a:rPr>
              <a:t>University of Milan, Department of Literary Studies, Philology and Linguistics, Via Festa del Perdono, 7-20122 Milan, Italy</a:t>
            </a:r>
            <a:endParaRPr sz="45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pic>
        <p:nvPicPr>
          <p:cNvPr id="56" name="Google Shape;56;p13" title="qrcod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11625" y="3950025"/>
            <a:ext cx="792598" cy="792598"/>
          </a:xfrm>
          <a:prstGeom prst="rect">
            <a:avLst/>
          </a:prstGeom>
          <a:noFill/>
          <a:ln>
            <a:noFill/>
          </a:ln>
        </p:spPr>
      </p:pic>
      <p:pic>
        <p:nvPicPr>
          <p:cNvPr id="57" name="Google Shape;57;p13" title="LogoFooter_a9f0c3692bf29c71609e5f204522c5d4_0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46125" y="4059755"/>
            <a:ext cx="1517399" cy="509950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13"/>
          <p:cNvSpPr txBox="1"/>
          <p:nvPr>
            <p:ph idx="1" type="subTitle"/>
          </p:nvPr>
        </p:nvSpPr>
        <p:spPr>
          <a:xfrm>
            <a:off x="203275" y="211674"/>
            <a:ext cx="3316500" cy="63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1100"/>
              <a:t>Text2Story’26 Workshop @ ECIR'26</a:t>
            </a:r>
            <a:endParaRPr sz="1100"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00"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1100"/>
              <a:t>Delft, The Netherlands - March 29th, 2026</a:t>
            </a:r>
            <a:endParaRPr sz="1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Introduction</a:t>
            </a:r>
            <a:endParaRPr/>
          </a:p>
        </p:txBody>
      </p:sp>
      <p:sp>
        <p:nvSpPr>
          <p:cNvPr id="64" name="Google Shape;64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/>
              <a:t>Research </a:t>
            </a:r>
            <a:r>
              <a:rPr b="1" lang="it"/>
              <a:t>Question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it"/>
              <a:t>Can LLMs identify characters in the low-resource literary domain of Italian Renaissance epic poetry?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14"/>
          <p:cNvSpPr txBox="1"/>
          <p:nvPr>
            <p:ph idx="1" type="body"/>
          </p:nvPr>
        </p:nvSpPr>
        <p:spPr>
          <a:xfrm>
            <a:off x="308550" y="1497176"/>
            <a:ext cx="8520600" cy="207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it"/>
              <a:t>Challenges</a:t>
            </a:r>
            <a:endParaRPr b="1"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it"/>
              <a:t>Linguistic complexity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it"/>
              <a:t>Segmentation into smaller textual units</a:t>
            </a:r>
            <a:endParaRPr/>
          </a:p>
        </p:txBody>
      </p:sp>
      <p:sp>
        <p:nvSpPr>
          <p:cNvPr id="66" name="Google Shape;66;p14"/>
          <p:cNvSpPr txBox="1"/>
          <p:nvPr>
            <p:ph idx="1" type="body"/>
          </p:nvPr>
        </p:nvSpPr>
        <p:spPr>
          <a:xfrm>
            <a:off x="308545" y="3109130"/>
            <a:ext cx="8520600" cy="166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it"/>
              <a:t>Case Study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it"/>
              <a:t>The first twelve cantos of </a:t>
            </a:r>
            <a:r>
              <a:rPr i="1" lang="it"/>
              <a:t>Orlando Furioso </a:t>
            </a:r>
            <a:r>
              <a:rPr lang="it"/>
              <a:t>(</a:t>
            </a:r>
            <a:r>
              <a:rPr i="1" lang="it"/>
              <a:t>The Frenzy of Orlando</a:t>
            </a:r>
            <a:r>
              <a:rPr lang="it"/>
              <a:t>).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Data</a:t>
            </a:r>
            <a:endParaRPr/>
          </a:p>
        </p:txBody>
      </p:sp>
      <p:sp>
        <p:nvSpPr>
          <p:cNvPr id="72" name="Google Shape;72;p15"/>
          <p:cNvSpPr txBox="1"/>
          <p:nvPr>
            <p:ph idx="1" type="body"/>
          </p:nvPr>
        </p:nvSpPr>
        <p:spPr>
          <a:xfrm>
            <a:off x="311700" y="106326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250"/>
              <a:t>Annotation Process</a:t>
            </a:r>
            <a:endParaRPr b="1" sz="1250"/>
          </a:p>
          <a:p>
            <a:pPr indent="-307975" lvl="0" marL="457200" rtl="0" algn="l">
              <a:spcBef>
                <a:spcPts val="1200"/>
              </a:spcBef>
              <a:spcAft>
                <a:spcPts val="0"/>
              </a:spcAft>
              <a:buSzPts val="1250"/>
              <a:buChar char="-"/>
            </a:pPr>
            <a:r>
              <a:rPr lang="it" sz="1250"/>
              <a:t>Proper names (PN)</a:t>
            </a:r>
            <a:endParaRPr sz="1250"/>
          </a:p>
          <a:p>
            <a:pPr indent="-307975" lvl="0" marL="457200" rtl="0" algn="l">
              <a:spcBef>
                <a:spcPts val="0"/>
              </a:spcBef>
              <a:spcAft>
                <a:spcPts val="0"/>
              </a:spcAft>
              <a:buSzPts val="1250"/>
              <a:buChar char="-"/>
            </a:pPr>
            <a:r>
              <a:rPr lang="it" sz="1250"/>
              <a:t>Nouns (N) / Noun Phrases (NP)</a:t>
            </a:r>
            <a:endParaRPr sz="1250"/>
          </a:p>
          <a:p>
            <a:pPr indent="-307975" lvl="0" marL="457200" rtl="0" algn="l">
              <a:spcBef>
                <a:spcPts val="0"/>
              </a:spcBef>
              <a:spcAft>
                <a:spcPts val="0"/>
              </a:spcAft>
              <a:buSzPts val="1250"/>
              <a:buChar char="-"/>
            </a:pPr>
            <a:r>
              <a:rPr lang="it" sz="1250"/>
              <a:t>Pronouns (P)</a:t>
            </a:r>
            <a:endParaRPr sz="1250"/>
          </a:p>
        </p:txBody>
      </p:sp>
      <p:pic>
        <p:nvPicPr>
          <p:cNvPr id="73" name="Google Shape;73;p15" title="Screenshot 2026-03-16 alle 15.07.5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10751" y="880091"/>
            <a:ext cx="2850763" cy="1418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4" name="Google Shape;74;p15" title="Screenshot 2026-03-26 alle 11.18.38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10750" y="2684463"/>
            <a:ext cx="3203200" cy="1418600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15"/>
          <p:cNvSpPr txBox="1"/>
          <p:nvPr/>
        </p:nvSpPr>
        <p:spPr>
          <a:xfrm>
            <a:off x="4872236" y="579308"/>
            <a:ext cx="2922600" cy="2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100">
                <a:solidFill>
                  <a:schemeClr val="dk2"/>
                </a:solidFill>
              </a:rPr>
              <a:t>Annotation Example</a:t>
            </a:r>
            <a:r>
              <a:rPr lang="it" sz="1100">
                <a:solidFill>
                  <a:schemeClr val="dk2"/>
                </a:solidFill>
              </a:rPr>
              <a:t>: Canto I, Stanza 5</a:t>
            </a:r>
            <a:endParaRPr sz="1100">
              <a:solidFill>
                <a:schemeClr val="dk2"/>
              </a:solidFill>
            </a:endParaRPr>
          </a:p>
        </p:txBody>
      </p:sp>
      <p:sp>
        <p:nvSpPr>
          <p:cNvPr id="76" name="Google Shape;76;p15"/>
          <p:cNvSpPr txBox="1"/>
          <p:nvPr/>
        </p:nvSpPr>
        <p:spPr>
          <a:xfrm>
            <a:off x="4867433" y="2371268"/>
            <a:ext cx="2922600" cy="2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100">
                <a:solidFill>
                  <a:schemeClr val="dk2"/>
                </a:solidFill>
              </a:rPr>
              <a:t>English translation</a:t>
            </a:r>
            <a:endParaRPr sz="1100">
              <a:solidFill>
                <a:schemeClr val="dk2"/>
              </a:solidFill>
            </a:endParaRPr>
          </a:p>
        </p:txBody>
      </p:sp>
      <p:sp>
        <p:nvSpPr>
          <p:cNvPr id="77" name="Google Shape;77;p15"/>
          <p:cNvSpPr txBox="1"/>
          <p:nvPr/>
        </p:nvSpPr>
        <p:spPr>
          <a:xfrm>
            <a:off x="4876864" y="4188101"/>
            <a:ext cx="2922600" cy="2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100">
                <a:solidFill>
                  <a:schemeClr val="dk2"/>
                </a:solidFill>
              </a:rPr>
              <a:t>Ground-Truth Entries</a:t>
            </a:r>
            <a:endParaRPr sz="1100">
              <a:solidFill>
                <a:schemeClr val="dk2"/>
              </a:solidFill>
            </a:endParaRPr>
          </a:p>
        </p:txBody>
      </p:sp>
      <p:grpSp>
        <p:nvGrpSpPr>
          <p:cNvPr id="78" name="Google Shape;78;p15"/>
          <p:cNvGrpSpPr/>
          <p:nvPr/>
        </p:nvGrpSpPr>
        <p:grpSpPr>
          <a:xfrm>
            <a:off x="5110751" y="4456349"/>
            <a:ext cx="1945891" cy="218550"/>
            <a:chOff x="5728170" y="4064775"/>
            <a:chExt cx="1945891" cy="218550"/>
          </a:xfrm>
        </p:grpSpPr>
        <p:pic>
          <p:nvPicPr>
            <p:cNvPr id="79" name="Google Shape;79;p15" title="Screenshot 2026-03-16 alle 15.08.43.png"/>
            <p:cNvPicPr preferRelativeResize="0"/>
            <p:nvPr/>
          </p:nvPicPr>
          <p:blipFill rotWithShape="1">
            <a:blip r:embed="rId5">
              <a:alphaModFix/>
            </a:blip>
            <a:srcRect b="67852" l="0" r="20736" t="0"/>
            <a:stretch/>
          </p:blipFill>
          <p:spPr>
            <a:xfrm>
              <a:off x="5728170" y="4106515"/>
              <a:ext cx="561150" cy="1555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0" name="Google Shape;80;p15" title="Screenshot 2026-03-16 alle 15.08.43.png"/>
            <p:cNvPicPr preferRelativeResize="0"/>
            <p:nvPr/>
          </p:nvPicPr>
          <p:blipFill rotWithShape="1">
            <a:blip r:embed="rId5">
              <a:alphaModFix/>
            </a:blip>
            <a:srcRect b="30655" l="0" r="0" t="28515"/>
            <a:stretch/>
          </p:blipFill>
          <p:spPr>
            <a:xfrm>
              <a:off x="6278950" y="4085775"/>
              <a:ext cx="707925" cy="1975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1" name="Google Shape;81;p15" title="Screenshot 2026-03-16 alle 15.08.43.png"/>
            <p:cNvPicPr preferRelativeResize="0"/>
            <p:nvPr/>
          </p:nvPicPr>
          <p:blipFill rotWithShape="1">
            <a:blip r:embed="rId5">
              <a:alphaModFix/>
            </a:blip>
            <a:srcRect b="0" l="0" r="0" t="59172"/>
            <a:stretch/>
          </p:blipFill>
          <p:spPr>
            <a:xfrm>
              <a:off x="6966135" y="4064775"/>
              <a:ext cx="707925" cy="197550"/>
            </a:xfrm>
            <a:prstGeom prst="rect">
              <a:avLst/>
            </a:prstGeom>
            <a:noFill/>
            <a:ln>
              <a:noFill/>
            </a:ln>
          </p:spPr>
        </p:pic>
      </p:grpSp>
      <p:cxnSp>
        <p:nvCxnSpPr>
          <p:cNvPr id="82" name="Google Shape;82;p15"/>
          <p:cNvCxnSpPr/>
          <p:nvPr/>
        </p:nvCxnSpPr>
        <p:spPr>
          <a:xfrm flipH="1" rot="10800000">
            <a:off x="4956825" y="850190"/>
            <a:ext cx="2550900" cy="19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3" name="Google Shape;83;p15"/>
          <p:cNvCxnSpPr>
            <a:endCxn id="76" idx="2"/>
          </p:cNvCxnSpPr>
          <p:nvPr/>
        </p:nvCxnSpPr>
        <p:spPr>
          <a:xfrm flipH="1" rot="10800000">
            <a:off x="4956833" y="2661668"/>
            <a:ext cx="1371900" cy="2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4" name="Google Shape;84;p15"/>
          <p:cNvCxnSpPr/>
          <p:nvPr/>
        </p:nvCxnSpPr>
        <p:spPr>
          <a:xfrm flipH="1" rot="10800000">
            <a:off x="4987943" y="4456343"/>
            <a:ext cx="1371900" cy="2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5" name="Google Shape;85;p15"/>
          <p:cNvSpPr txBox="1"/>
          <p:nvPr/>
        </p:nvSpPr>
        <p:spPr>
          <a:xfrm>
            <a:off x="311700" y="2184779"/>
            <a:ext cx="2550900" cy="141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it" sz="1250">
                <a:solidFill>
                  <a:schemeClr val="dk2"/>
                </a:solidFill>
              </a:rPr>
              <a:t>Constraints</a:t>
            </a:r>
            <a:endParaRPr b="1" sz="1250">
              <a:solidFill>
                <a:schemeClr val="dk2"/>
              </a:solidFill>
            </a:endParaRPr>
          </a:p>
          <a:p>
            <a:pPr indent="-307975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250"/>
              <a:buChar char="-"/>
            </a:pPr>
            <a:r>
              <a:rPr lang="it" sz="1250">
                <a:solidFill>
                  <a:schemeClr val="dk2"/>
                </a:solidFill>
              </a:rPr>
              <a:t>Narratological level </a:t>
            </a:r>
            <a:endParaRPr sz="1250">
              <a:solidFill>
                <a:schemeClr val="dk2"/>
              </a:solidFill>
            </a:endParaRPr>
          </a:p>
          <a:p>
            <a:pPr indent="-30797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50"/>
              <a:buChar char="-"/>
            </a:pPr>
            <a:r>
              <a:rPr lang="it" sz="1250">
                <a:solidFill>
                  <a:schemeClr val="dk2"/>
                </a:solidFill>
              </a:rPr>
              <a:t>Individual identity </a:t>
            </a:r>
            <a:endParaRPr sz="1250">
              <a:solidFill>
                <a:schemeClr val="dk2"/>
              </a:solidFill>
            </a:endParaRPr>
          </a:p>
          <a:p>
            <a:pPr indent="-30797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50"/>
              <a:buChar char="-"/>
            </a:pPr>
            <a:r>
              <a:rPr lang="it" sz="1250">
                <a:solidFill>
                  <a:schemeClr val="dk2"/>
                </a:solidFill>
              </a:rPr>
              <a:t>Proper-name attribution </a:t>
            </a:r>
            <a:endParaRPr sz="1250">
              <a:solidFill>
                <a:schemeClr val="dk2"/>
              </a:solidFill>
            </a:endParaRPr>
          </a:p>
          <a:p>
            <a:pPr indent="-30797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50"/>
              <a:buChar char="-"/>
            </a:pPr>
            <a:r>
              <a:rPr lang="it" sz="1250">
                <a:solidFill>
                  <a:schemeClr val="dk2"/>
                </a:solidFill>
              </a:rPr>
              <a:t>Entity type</a:t>
            </a:r>
            <a:endParaRPr sz="125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50">
              <a:solidFill>
                <a:schemeClr val="dk2"/>
              </a:solidFill>
            </a:endParaRPr>
          </a:p>
        </p:txBody>
      </p:sp>
      <p:sp>
        <p:nvSpPr>
          <p:cNvPr id="86" name="Google Shape;86;p15"/>
          <p:cNvSpPr txBox="1"/>
          <p:nvPr/>
        </p:nvSpPr>
        <p:spPr>
          <a:xfrm>
            <a:off x="311700" y="3534937"/>
            <a:ext cx="3551700" cy="125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it" sz="1250">
                <a:solidFill>
                  <a:schemeClr val="dk2"/>
                </a:solidFill>
              </a:rPr>
              <a:t>Resulting Dataset</a:t>
            </a:r>
            <a:endParaRPr b="1" sz="1250">
              <a:solidFill>
                <a:schemeClr val="dk2"/>
              </a:solidFill>
            </a:endParaRPr>
          </a:p>
          <a:p>
            <a:pPr indent="-307975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250"/>
              <a:buChar char="-"/>
            </a:pPr>
            <a:r>
              <a:rPr lang="it" sz="1250">
                <a:solidFill>
                  <a:schemeClr val="dk2"/>
                </a:solidFill>
              </a:rPr>
              <a:t>1,890 character occurrences</a:t>
            </a:r>
            <a:endParaRPr sz="1250">
              <a:solidFill>
                <a:schemeClr val="dk2"/>
              </a:solidFill>
            </a:endParaRPr>
          </a:p>
          <a:p>
            <a:pPr indent="-30797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50"/>
              <a:buChar char="-"/>
            </a:pPr>
            <a:r>
              <a:rPr lang="it" sz="1250">
                <a:solidFill>
                  <a:schemeClr val="dk2"/>
                </a:solidFill>
              </a:rPr>
              <a:t>64 unique characters</a:t>
            </a:r>
            <a:endParaRPr sz="1250">
              <a:solidFill>
                <a:schemeClr val="dk2"/>
              </a:solidFill>
            </a:endParaRPr>
          </a:p>
          <a:p>
            <a:pPr indent="-30797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50"/>
              <a:buChar char="-"/>
            </a:pPr>
            <a:r>
              <a:rPr lang="it" sz="1250">
                <a:solidFill>
                  <a:schemeClr val="dk2"/>
                </a:solidFill>
              </a:rPr>
              <a:t>106 stanzas with no character mentions</a:t>
            </a:r>
            <a:endParaRPr sz="125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50">
              <a:solidFill>
                <a:schemeClr val="dk2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Methodology</a:t>
            </a:r>
            <a:endParaRPr/>
          </a:p>
        </p:txBody>
      </p:sp>
      <p:sp>
        <p:nvSpPr>
          <p:cNvPr id="92" name="Google Shape;92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it" sz="1500"/>
              <a:t>The poem is split into batches of n stanzas and processed by a </a:t>
            </a:r>
            <a:r>
              <a:rPr b="1" lang="it" sz="1500"/>
              <a:t>character identification pipeline</a:t>
            </a:r>
            <a:r>
              <a:rPr lang="it" sz="1500"/>
              <a:t>.</a:t>
            </a:r>
            <a:endParaRPr sz="1500"/>
          </a:p>
        </p:txBody>
      </p:sp>
      <p:pic>
        <p:nvPicPr>
          <p:cNvPr id="93" name="Google Shape;93;p16" title="Screenshot 2026-03-16 alle 17.25.2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2250281"/>
            <a:ext cx="8520602" cy="1342707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6"/>
          <p:cNvSpPr txBox="1"/>
          <p:nvPr/>
        </p:nvSpPr>
        <p:spPr>
          <a:xfrm>
            <a:off x="3110711" y="3752515"/>
            <a:ext cx="2922600" cy="2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100">
                <a:solidFill>
                  <a:schemeClr val="dk2"/>
                </a:solidFill>
              </a:rPr>
              <a:t>Figure 1.</a:t>
            </a:r>
            <a:r>
              <a:rPr lang="it" sz="1100">
                <a:solidFill>
                  <a:schemeClr val="dk2"/>
                </a:solidFill>
              </a:rPr>
              <a:t> Character identification pipeline.</a:t>
            </a:r>
            <a:endParaRPr sz="1100">
              <a:solidFill>
                <a:schemeClr val="dk2"/>
              </a:solidFill>
            </a:endParaRPr>
          </a:p>
        </p:txBody>
      </p:sp>
      <p:sp>
        <p:nvSpPr>
          <p:cNvPr id="95" name="Google Shape;95;p16"/>
          <p:cNvSpPr txBox="1"/>
          <p:nvPr/>
        </p:nvSpPr>
        <p:spPr>
          <a:xfrm>
            <a:off x="1215475" y="2709750"/>
            <a:ext cx="2096400" cy="390300"/>
          </a:xfrm>
          <a:prstGeom prst="rect">
            <a:avLst/>
          </a:prstGeom>
          <a:noFill/>
          <a:ln cap="flat" cmpd="sng" w="28575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96" name="Google Shape;96;p16"/>
          <p:cNvSpPr txBox="1"/>
          <p:nvPr/>
        </p:nvSpPr>
        <p:spPr>
          <a:xfrm>
            <a:off x="4802451" y="2709750"/>
            <a:ext cx="1486800" cy="390300"/>
          </a:xfrm>
          <a:prstGeom prst="rect">
            <a:avLst/>
          </a:prstGeom>
          <a:noFill/>
          <a:ln cap="flat" cmpd="sng" w="28575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Experimental Results</a:t>
            </a:r>
            <a:endParaRPr/>
          </a:p>
        </p:txBody>
      </p:sp>
      <p:sp>
        <p:nvSpPr>
          <p:cNvPr id="102" name="Google Shape;102;p17"/>
          <p:cNvSpPr txBox="1"/>
          <p:nvPr>
            <p:ph idx="1" type="body"/>
          </p:nvPr>
        </p:nvSpPr>
        <p:spPr>
          <a:xfrm>
            <a:off x="311700" y="965816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250"/>
              <a:t>Two NER baselines and four LLMs are evaluated; LLMs are tested at 𝑛 ∈ {4, 8, 12}, with/without narrative memory.</a:t>
            </a:r>
            <a:endParaRPr sz="125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200"/>
          </a:p>
        </p:txBody>
      </p:sp>
      <p:pic>
        <p:nvPicPr>
          <p:cNvPr id="103" name="Google Shape;103;p17" title="v3_best_final_2x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82450" y="1334800"/>
            <a:ext cx="6979098" cy="3472576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7"/>
          <p:cNvSpPr txBox="1"/>
          <p:nvPr/>
        </p:nvSpPr>
        <p:spPr>
          <a:xfrm>
            <a:off x="2152496" y="4807384"/>
            <a:ext cx="4839000" cy="27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100">
                <a:solidFill>
                  <a:schemeClr val="dk2"/>
                </a:solidFill>
              </a:rPr>
              <a:t>Figure 2.</a:t>
            </a:r>
            <a:r>
              <a:rPr lang="it" sz="1100">
                <a:solidFill>
                  <a:schemeClr val="dk2"/>
                </a:solidFill>
              </a:rPr>
              <a:t> F1 score across Cantos I-XII for each experimental configuration.</a:t>
            </a:r>
            <a:endParaRPr sz="1100">
              <a:solidFill>
                <a:schemeClr val="dk2"/>
              </a:solidFill>
            </a:endParaRPr>
          </a:p>
        </p:txBody>
      </p:sp>
      <p:sp>
        <p:nvSpPr>
          <p:cNvPr id="105" name="Google Shape;105;p17"/>
          <p:cNvSpPr txBox="1"/>
          <p:nvPr/>
        </p:nvSpPr>
        <p:spPr>
          <a:xfrm>
            <a:off x="311700" y="1295197"/>
            <a:ext cx="881400" cy="4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250">
                <a:solidFill>
                  <a:srgbClr val="66666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F1 score</a:t>
            </a:r>
            <a:endParaRPr b="1" sz="1250">
              <a:solidFill>
                <a:srgbClr val="666666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250">
                <a:solidFill>
                  <a:srgbClr val="66666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0.758</a:t>
            </a:r>
            <a:endParaRPr b="1" sz="1250">
              <a:solidFill>
                <a:srgbClr val="666666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106" name="Google Shape;106;p17"/>
          <p:cNvCxnSpPr>
            <a:stCxn id="105" idx="2"/>
          </p:cNvCxnSpPr>
          <p:nvPr/>
        </p:nvCxnSpPr>
        <p:spPr>
          <a:xfrm>
            <a:off x="752400" y="1784197"/>
            <a:ext cx="1377600" cy="200700"/>
          </a:xfrm>
          <a:prstGeom prst="straightConnector1">
            <a:avLst/>
          </a:prstGeom>
          <a:noFill/>
          <a:ln cap="flat" cmpd="sng" w="9525">
            <a:solidFill>
              <a:srgbClr val="999999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Narrative Memory Impact</a:t>
            </a:r>
            <a:endParaRPr/>
          </a:p>
        </p:txBody>
      </p:sp>
      <p:sp>
        <p:nvSpPr>
          <p:cNvPr id="112" name="Google Shape;112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Char char="➢"/>
            </a:pPr>
            <a:r>
              <a:rPr lang="it" sz="1500"/>
              <a:t>Mean F1 improvement of +8.1 points.</a:t>
            </a:r>
            <a:endParaRPr sz="200"/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Char char="➢"/>
            </a:pPr>
            <a:r>
              <a:rPr lang="it" sz="1500"/>
              <a:t>Improves </a:t>
            </a:r>
            <a:r>
              <a:rPr b="1" lang="it" sz="1500"/>
              <a:t>intra-batch</a:t>
            </a:r>
            <a:r>
              <a:rPr lang="it" sz="1500"/>
              <a:t> character identification for pre- and post-onomastic mentions.</a:t>
            </a:r>
            <a:endParaRPr sz="1500"/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Char char="➢"/>
            </a:pPr>
            <a:r>
              <a:rPr lang="it" sz="1500"/>
              <a:t>Enables </a:t>
            </a:r>
            <a:r>
              <a:rPr b="1" lang="it" sz="1500"/>
              <a:t>inter-batch</a:t>
            </a:r>
            <a:r>
              <a:rPr lang="it" sz="1500"/>
              <a:t> identification when a character’s proper name never appears within the batch.</a:t>
            </a:r>
            <a:endParaRPr sz="15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500"/>
          </a:p>
        </p:txBody>
      </p:sp>
      <p:pic>
        <p:nvPicPr>
          <p:cNvPr id="113" name="Google Shape;113;p18" title="Screenshot 2026-03-16 alle 16.02.3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60990" y="2529645"/>
            <a:ext cx="4748652" cy="1670125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8"/>
          <p:cNvSpPr txBox="1"/>
          <p:nvPr/>
        </p:nvSpPr>
        <p:spPr>
          <a:xfrm>
            <a:off x="2061006" y="4146955"/>
            <a:ext cx="5022000" cy="27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100">
                <a:solidFill>
                  <a:schemeClr val="dk2"/>
                </a:solidFill>
              </a:rPr>
              <a:t>Table 1. </a:t>
            </a:r>
            <a:r>
              <a:rPr lang="it" sz="1100">
                <a:solidFill>
                  <a:schemeClr val="dk2"/>
                </a:solidFill>
              </a:rPr>
              <a:t>Impact of narrative memory injection for Qwen-2.5-72B  (𝑛 = 8).</a:t>
            </a:r>
            <a:endParaRPr sz="11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2"/>
              </a:solidFill>
            </a:endParaRPr>
          </a:p>
        </p:txBody>
      </p:sp>
      <p:cxnSp>
        <p:nvCxnSpPr>
          <p:cNvPr id="115" name="Google Shape;115;p18"/>
          <p:cNvCxnSpPr/>
          <p:nvPr/>
        </p:nvCxnSpPr>
        <p:spPr>
          <a:xfrm>
            <a:off x="1761894" y="3568402"/>
            <a:ext cx="367800" cy="22200"/>
          </a:xfrm>
          <a:prstGeom prst="straightConnector1">
            <a:avLst/>
          </a:prstGeom>
          <a:noFill/>
          <a:ln cap="flat" cmpd="sng" w="19050">
            <a:solidFill>
              <a:srgbClr val="FF99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6" name="Google Shape;116;p18"/>
          <p:cNvCxnSpPr/>
          <p:nvPr/>
        </p:nvCxnSpPr>
        <p:spPr>
          <a:xfrm>
            <a:off x="1773045" y="3977300"/>
            <a:ext cx="367800" cy="22200"/>
          </a:xfrm>
          <a:prstGeom prst="straightConnector1">
            <a:avLst/>
          </a:prstGeom>
          <a:noFill/>
          <a:ln cap="flat" cmpd="sng" w="19050">
            <a:solidFill>
              <a:srgbClr val="FF99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7" name="Google Shape;117;p18"/>
          <p:cNvCxnSpPr/>
          <p:nvPr/>
        </p:nvCxnSpPr>
        <p:spPr>
          <a:xfrm>
            <a:off x="1773045" y="3353613"/>
            <a:ext cx="367800" cy="22200"/>
          </a:xfrm>
          <a:prstGeom prst="straightConnector1">
            <a:avLst/>
          </a:prstGeom>
          <a:noFill/>
          <a:ln cap="flat" cmpd="sng" w="19050">
            <a:solidFill>
              <a:srgbClr val="FF9900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Error Analysis Insights</a:t>
            </a:r>
            <a:endParaRPr/>
          </a:p>
        </p:txBody>
      </p:sp>
      <p:sp>
        <p:nvSpPr>
          <p:cNvPr id="123" name="Google Shape;123;p19"/>
          <p:cNvSpPr txBox="1"/>
          <p:nvPr>
            <p:ph idx="1" type="body"/>
          </p:nvPr>
        </p:nvSpPr>
        <p:spPr>
          <a:xfrm>
            <a:off x="311700" y="1152475"/>
            <a:ext cx="39918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238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❏"/>
            </a:pPr>
            <a:r>
              <a:rPr lang="it" sz="1500"/>
              <a:t>Characters introduced anonymously generate </a:t>
            </a:r>
            <a:r>
              <a:rPr b="1" lang="it" sz="1500"/>
              <a:t>cataphoric references</a:t>
            </a:r>
            <a:r>
              <a:rPr lang="it" sz="1500"/>
              <a:t> whose resolution requires retrospective narrative integration not supported by the current pipeline.</a:t>
            </a:r>
            <a:endParaRPr sz="1500"/>
          </a:p>
        </p:txBody>
      </p:sp>
      <p:pic>
        <p:nvPicPr>
          <p:cNvPr id="124" name="Google Shape;124;p19" title="Screenshot 2026-03-16 alle 16.03.5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64400" y="1297654"/>
            <a:ext cx="4215274" cy="2858800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19"/>
          <p:cNvSpPr txBox="1"/>
          <p:nvPr/>
        </p:nvSpPr>
        <p:spPr>
          <a:xfrm>
            <a:off x="3633000" y="4166824"/>
            <a:ext cx="5264400" cy="27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100">
                <a:solidFill>
                  <a:schemeClr val="dk2"/>
                </a:solidFill>
              </a:rPr>
              <a:t>Table 2. </a:t>
            </a:r>
            <a:r>
              <a:rPr lang="it" sz="1100">
                <a:solidFill>
                  <a:schemeClr val="dk2"/>
                </a:solidFill>
              </a:rPr>
              <a:t>Error taxonomy for the top-ten FNs and FPs in the optimal configuration.</a:t>
            </a:r>
            <a:endParaRPr sz="11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2"/>
              </a:solidFill>
            </a:endParaRPr>
          </a:p>
        </p:txBody>
      </p:sp>
      <p:sp>
        <p:nvSpPr>
          <p:cNvPr id="126" name="Google Shape;126;p19"/>
          <p:cNvSpPr txBox="1"/>
          <p:nvPr>
            <p:ph idx="1" type="body"/>
          </p:nvPr>
        </p:nvSpPr>
        <p:spPr>
          <a:xfrm>
            <a:off x="311700" y="2755925"/>
            <a:ext cx="3991800" cy="162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238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❏"/>
            </a:pPr>
            <a:r>
              <a:rPr lang="it" sz="1500"/>
              <a:t>Hallucinations based on inferred character presence from narrative actions, in the absence of the required linguistic markers, point to the model’s sensitivity to </a:t>
            </a:r>
            <a:r>
              <a:rPr b="1" lang="it" sz="1500"/>
              <a:t>character agency</a:t>
            </a:r>
            <a:r>
              <a:rPr lang="it" sz="1500"/>
              <a:t>.</a:t>
            </a:r>
            <a:endParaRPr sz="1500"/>
          </a:p>
        </p:txBody>
      </p:sp>
      <p:sp>
        <p:nvSpPr>
          <p:cNvPr id="127" name="Google Shape;127;p19"/>
          <p:cNvSpPr txBox="1"/>
          <p:nvPr/>
        </p:nvSpPr>
        <p:spPr>
          <a:xfrm>
            <a:off x="4839625" y="1761004"/>
            <a:ext cx="2553600" cy="279900"/>
          </a:xfrm>
          <a:prstGeom prst="rect">
            <a:avLst/>
          </a:prstGeom>
          <a:noFill/>
          <a:ln cap="flat" cmpd="sng" w="1905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28" name="Google Shape;128;p19"/>
          <p:cNvSpPr txBox="1"/>
          <p:nvPr/>
        </p:nvSpPr>
        <p:spPr>
          <a:xfrm>
            <a:off x="4839625" y="3508025"/>
            <a:ext cx="1583400" cy="279900"/>
          </a:xfrm>
          <a:prstGeom prst="rect">
            <a:avLst/>
          </a:prstGeom>
          <a:noFill/>
          <a:ln cap="flat" cmpd="sng" w="1905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Future Work</a:t>
            </a:r>
            <a:endParaRPr/>
          </a:p>
        </p:txBody>
      </p:sp>
      <p:sp>
        <p:nvSpPr>
          <p:cNvPr id="134" name="Google Shape;134;p20"/>
          <p:cNvSpPr txBox="1"/>
          <p:nvPr>
            <p:ph idx="1" type="body"/>
          </p:nvPr>
        </p:nvSpPr>
        <p:spPr>
          <a:xfrm>
            <a:off x="311700" y="1152475"/>
            <a:ext cx="8520600" cy="73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62500" lnSpcReduction="10000"/>
          </a:bodyPr>
          <a:lstStyle/>
          <a:p>
            <a:pPr indent="-33972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❖"/>
            </a:pPr>
            <a:r>
              <a:rPr lang="it" sz="2800"/>
              <a:t>Redefining the task as character presence detection grounded in narrative agency, beyond nominal and pronominal markers.</a:t>
            </a:r>
            <a:endParaRPr sz="2800"/>
          </a:p>
        </p:txBody>
      </p:sp>
      <p:sp>
        <p:nvSpPr>
          <p:cNvPr id="135" name="Google Shape;135;p20"/>
          <p:cNvSpPr txBox="1"/>
          <p:nvPr>
            <p:ph idx="1" type="body"/>
          </p:nvPr>
        </p:nvSpPr>
        <p:spPr>
          <a:xfrm>
            <a:off x="308000" y="1806495"/>
            <a:ext cx="8520600" cy="273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6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/>
          </a:p>
          <a:p>
            <a:pPr indent="-339725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❖"/>
            </a:pPr>
            <a:r>
              <a:rPr lang="it" sz="2800"/>
              <a:t>Tracking characters as anonymous entities linked to stable attributes, and resolving them through clustering and name resolution.</a:t>
            </a:r>
            <a:endParaRPr sz="28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8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8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8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800"/>
          </a:p>
        </p:txBody>
      </p:sp>
      <p:sp>
        <p:nvSpPr>
          <p:cNvPr id="136" name="Google Shape;136;p20"/>
          <p:cNvSpPr txBox="1"/>
          <p:nvPr>
            <p:ph idx="1" type="body"/>
          </p:nvPr>
        </p:nvSpPr>
        <p:spPr>
          <a:xfrm>
            <a:off x="315425" y="2865860"/>
            <a:ext cx="8520600" cy="153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6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/>
          </a:p>
          <a:p>
            <a:pPr indent="-339725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❖"/>
            </a:pPr>
            <a:r>
              <a:rPr lang="it" sz="2800"/>
              <a:t>Using structured, ontology-based narrative representations to model plot dynamics and story vs. narration order.</a:t>
            </a:r>
            <a:endParaRPr sz="28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8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Main References</a:t>
            </a:r>
            <a:endParaRPr/>
          </a:p>
        </p:txBody>
      </p:sp>
      <p:sp>
        <p:nvSpPr>
          <p:cNvPr id="142" name="Google Shape;142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5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R. Campos, A. Jorge, A. Jatowt, S. Bhatia, M. Litvak, The 8th international workshop on narrative extraction from texts: Text2Story 2025, in: C. Hauff, C. Macdonald, D. Jannach, G. Kazai, F. M. Nardini, F. Pinelli, F. Silvestri, N. Tonellotto (Eds.), Advances in Information Retrieval, Springer Nature Switzerland, Cham, 2025, pp. 345–351.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it"/>
              <a:t>G. Genoni, Un grafo per il “Furioso”. Prime annotazioni di una ricerca sperimentale, AOQU (Achilles Orlando Quixote Ulysses). Rivista di epica 3 (2022) 241–290.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it"/>
              <a:t>J. Li, A. Sun, J. Han, C. Li, A survey on deep learning for named entity recognition, IEEE Transactions on Knowledge and Data Engineering 34 (2022) 50–70.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it"/>
              <a:t>G. Martinelli, B. Gatti, R. Navigli, xCoRe: Cross-context coreference resolution, in: C. Christodoulopoulos, T. Chakraborty, C. Rose, V. Peng (Eds.), Proceedings of the 2025 Conference on Empirical Methods in Natural Language Processing, Association for Computational Linguistics, Suzhou, China, 2025, pp. 34264–34278.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it"/>
              <a:t>F. Pianzola, L. Cheng, F. Pannach, X. Yang, L. Scotti, The Golem ontology for narrative and fiction, Humanities 14 (2025).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it"/>
              <a:t>P. Ranade, S. Dey, A. Joshi, T. Finin, Computational understanding of narratives: A survey, IEEE Access 10 (2022) 101575–101594.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it"/>
              <a:t>B. Santana, R. Campos, E. Amorim, A. Jorge, P. A. Silvano, S. Nunes, A survey on narrative extraction from textual data, Artificial Intelligence Review 56 (2023) 8393–8435.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it"/>
              <a:t>C. Santini, L. Melosi, E. Frontoni, Named entity recognition in historical Italian: The case of Giacomo Leopardi’s Zibaldone, 2025.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2"/>
          <p:cNvSpPr txBox="1"/>
          <p:nvPr>
            <p:ph type="title"/>
          </p:nvPr>
        </p:nvSpPr>
        <p:spPr>
          <a:xfrm>
            <a:off x="311708" y="1545450"/>
            <a:ext cx="8520600" cy="205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 sz="2500"/>
              <a:t>Thank you for your attention!</a:t>
            </a:r>
            <a:endParaRPr sz="25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