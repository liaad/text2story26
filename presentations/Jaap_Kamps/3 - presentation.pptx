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0" r:id="rId1"/>
  </p:sldMasterIdLst>
  <p:notesMasterIdLst>
    <p:notesMasterId r:id="rId22"/>
  </p:notesMasterIdLst>
  <p:sldIdLst>
    <p:sldId id="258" r:id="rId2"/>
    <p:sldId id="350" r:id="rId3"/>
    <p:sldId id="260" r:id="rId4"/>
    <p:sldId id="369" r:id="rId5"/>
    <p:sldId id="352" r:id="rId6"/>
    <p:sldId id="353" r:id="rId7"/>
    <p:sldId id="354" r:id="rId8"/>
    <p:sldId id="355" r:id="rId9"/>
    <p:sldId id="356" r:id="rId10"/>
    <p:sldId id="357" r:id="rId11"/>
    <p:sldId id="370" r:id="rId12"/>
    <p:sldId id="371" r:id="rId13"/>
    <p:sldId id="372" r:id="rId14"/>
    <p:sldId id="358" r:id="rId15"/>
    <p:sldId id="374" r:id="rId16"/>
    <p:sldId id="361" r:id="rId17"/>
    <p:sldId id="366" r:id="rId18"/>
    <p:sldId id="367" r:id="rId19"/>
    <p:sldId id="368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E9E5"/>
    <a:srgbClr val="D4D4D4"/>
    <a:srgbClr val="B8B8B8"/>
    <a:srgbClr val="466DCC"/>
    <a:srgbClr val="2B468F"/>
    <a:srgbClr val="2C458F"/>
    <a:srgbClr val="31489F"/>
    <a:srgbClr val="2D59A6"/>
    <a:srgbClr val="3A58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Stile con tema 2 - Color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/>
    <p:restoredTop sz="89286"/>
  </p:normalViewPr>
  <p:slideViewPr>
    <p:cSldViewPr snapToGrid="0">
      <p:cViewPr varScale="1">
        <p:scale>
          <a:sx n="103" d="100"/>
          <a:sy n="103" d="100"/>
        </p:scale>
        <p:origin x="1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Pre-trained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Foglio1!$A$2:$A$8</c:f>
              <c:strCache>
                <c:ptCount val="7"/>
                <c:pt idx="0">
                  <c:v>StoryScore</c:v>
                </c:pt>
                <c:pt idx="1">
                  <c:v>ContextRecall</c:v>
                </c:pt>
                <c:pt idx="2">
                  <c:v>BertScore</c:v>
                </c:pt>
                <c:pt idx="3">
                  <c:v>PromptCleanliness</c:v>
                </c:pt>
                <c:pt idx="4">
                  <c:v>TitleCoverage</c:v>
                </c:pt>
                <c:pt idx="5">
                  <c:v>NoRedundancy</c:v>
                </c:pt>
                <c:pt idx="6">
                  <c:v>NoHallucination</c:v>
                </c:pt>
              </c:strCache>
            </c:strRef>
          </c:cat>
          <c:val>
            <c:numRef>
              <c:f>Foglio1!$B$2:$B$8</c:f>
              <c:numCache>
                <c:formatCode>General</c:formatCode>
                <c:ptCount val="7"/>
                <c:pt idx="0">
                  <c:v>0.56000000000000005</c:v>
                </c:pt>
                <c:pt idx="1">
                  <c:v>0.39</c:v>
                </c:pt>
                <c:pt idx="2">
                  <c:v>0.78</c:v>
                </c:pt>
                <c:pt idx="3">
                  <c:v>1.0999999999999999E-2</c:v>
                </c:pt>
                <c:pt idx="4">
                  <c:v>0.99</c:v>
                </c:pt>
                <c:pt idx="5">
                  <c:v>0.89300000000000002</c:v>
                </c:pt>
                <c:pt idx="6">
                  <c:v>0.95699999999999996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5E-514C-B15C-63164524C3BD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Fine-tuned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Foglio1!$A$2:$A$8</c:f>
              <c:strCache>
                <c:ptCount val="7"/>
                <c:pt idx="0">
                  <c:v>StoryScore</c:v>
                </c:pt>
                <c:pt idx="1">
                  <c:v>ContextRecall</c:v>
                </c:pt>
                <c:pt idx="2">
                  <c:v>BertScore</c:v>
                </c:pt>
                <c:pt idx="3">
                  <c:v>PromptCleanliness</c:v>
                </c:pt>
                <c:pt idx="4">
                  <c:v>TitleCoverage</c:v>
                </c:pt>
                <c:pt idx="5">
                  <c:v>NoRedundancy</c:v>
                </c:pt>
                <c:pt idx="6">
                  <c:v>NoHallucination</c:v>
                </c:pt>
              </c:strCache>
            </c:strRef>
          </c:cat>
          <c:val>
            <c:numRef>
              <c:f>Foglio1!$C$2:$C$8</c:f>
              <c:numCache>
                <c:formatCode>General</c:formatCode>
                <c:ptCount val="7"/>
                <c:pt idx="0">
                  <c:v>0.78700000000000003</c:v>
                </c:pt>
                <c:pt idx="1">
                  <c:v>0.47199999999999998</c:v>
                </c:pt>
                <c:pt idx="2">
                  <c:v>0.81499999999999995</c:v>
                </c:pt>
                <c:pt idx="3">
                  <c:v>0.999</c:v>
                </c:pt>
                <c:pt idx="4">
                  <c:v>0.998</c:v>
                </c:pt>
                <c:pt idx="5">
                  <c:v>0.90300000000000002</c:v>
                </c:pt>
                <c:pt idx="6">
                  <c:v>0.92500000000000004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75E-514C-B15C-63164524C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91"/>
        <c:axId val="874944192"/>
        <c:axId val="836372672"/>
      </c:barChart>
      <c:catAx>
        <c:axId val="8749441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FR"/>
          </a:p>
        </c:txPr>
        <c:crossAx val="836372672"/>
        <c:crosses val="autoZero"/>
        <c:auto val="1"/>
        <c:lblAlgn val="ctr"/>
        <c:lblOffset val="100"/>
        <c:noMultiLvlLbl val="0"/>
      </c:catAx>
      <c:valAx>
        <c:axId val="83637267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rgbClr val="D4D4D4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FR"/>
          </a:p>
        </c:txPr>
        <c:crossAx val="874944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FR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6E35E-1F41-F74B-BE35-F12B158EED58}" type="datetimeFigureOut">
              <a:rPr lang="it-FR" smtClean="0"/>
              <a:t>27/03/2026</a:t>
            </a:fld>
            <a:endParaRPr lang="it-FR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FR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FR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FR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9EC2D-D090-A043-8434-0B41295EDAC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3427622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F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1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2667788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2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2467659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3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748184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5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491867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6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1089086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7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1859322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8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935730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9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2489975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10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838338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14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3263002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15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2568732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16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1641235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9EC2D-D090-A043-8434-0B41295EDACD}" type="slidenum">
              <a:rPr lang="it-FR" smtClean="0"/>
              <a:t>20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40678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F8F4-BB1E-2B4A-BE01-A4B1746F5E60}" type="datetime1">
              <a:rPr lang="it-IT" smtClean="0"/>
              <a:t>27/03/26</a:t>
            </a:fld>
            <a:endParaRPr lang="it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73EB-1B7C-AC46-BECF-AC7D5E08E22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260389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8C0CA-D066-204E-BF7D-8F8DF4DEE9B5}" type="datetime1">
              <a:rPr lang="it-IT" smtClean="0"/>
              <a:t>27/03/26</a:t>
            </a:fld>
            <a:endParaRPr lang="it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73EB-1B7C-AC46-BECF-AC7D5E08E22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139352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81B0-C05C-E844-81E6-CC00AAF233BA}" type="datetime1">
              <a:rPr lang="it-IT" smtClean="0"/>
              <a:t>27/03/26</a:t>
            </a:fld>
            <a:endParaRPr lang="it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73EB-1B7C-AC46-BECF-AC7D5E08E22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247950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E34D1-246F-3A4D-AF6F-A6A398F3C31F}" type="datetime1">
              <a:rPr lang="it-IT" smtClean="0"/>
              <a:t>27/03/26</a:t>
            </a:fld>
            <a:endParaRPr lang="it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73EB-1B7C-AC46-BECF-AC7D5E08E22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2222670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1D3F-D509-1246-82ED-2DF67D3BF01B}" type="datetime1">
              <a:rPr lang="it-IT" smtClean="0"/>
              <a:t>27/03/26</a:t>
            </a:fld>
            <a:endParaRPr lang="it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73EB-1B7C-AC46-BECF-AC7D5E08E22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4278700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9A3C-4CF8-5A41-A4DC-C472AD7F24D6}" type="datetime1">
              <a:rPr lang="it-IT" smtClean="0"/>
              <a:t>27/03/26</a:t>
            </a:fld>
            <a:endParaRPr lang="it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73EB-1B7C-AC46-BECF-AC7D5E08E22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362935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C53ED-8FC5-6143-930E-D5C159E4A2F2}" type="datetime1">
              <a:rPr lang="it-IT" smtClean="0"/>
              <a:t>27/03/26</a:t>
            </a:fld>
            <a:endParaRPr lang="it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73EB-1B7C-AC46-BECF-AC7D5E08E22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3466139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6169-9BF2-B840-B549-19A90D1F4EE9}" type="datetime1">
              <a:rPr lang="it-IT" smtClean="0"/>
              <a:t>27/03/26</a:t>
            </a:fld>
            <a:endParaRPr lang="it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73EB-1B7C-AC46-BECF-AC7D5E08E22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730205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026CE-E292-3849-9433-BBDE0D5FBF31}" type="datetime1">
              <a:rPr lang="it-IT" smtClean="0"/>
              <a:t>27/03/26</a:t>
            </a:fld>
            <a:endParaRPr lang="it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73EB-1B7C-AC46-BECF-AC7D5E08E22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236282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084E-7D32-A347-8C8B-92366CC22E5C}" type="datetime1">
              <a:rPr lang="it-IT" smtClean="0"/>
              <a:t>27/03/26</a:t>
            </a:fld>
            <a:endParaRPr lang="it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73EB-1B7C-AC46-BECF-AC7D5E08E22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2760575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5AB0-6649-C646-9461-D4810DAF9221}" type="datetime1">
              <a:rPr lang="it-IT" smtClean="0"/>
              <a:t>27/03/26</a:t>
            </a:fld>
            <a:endParaRPr lang="it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73EB-1B7C-AC46-BECF-AC7D5E08E22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3039382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7F4">
                <a:alpha val="43922"/>
              </a:srgbClr>
            </a:gs>
            <a:gs pos="87000">
              <a:srgbClr val="EDE9E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F4513-332C-DF4F-A89B-D811E56C940F}" type="datetime1">
              <a:rPr lang="it-IT" smtClean="0"/>
              <a:t>27/03/26</a:t>
            </a:fld>
            <a:endParaRPr lang="it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E73EB-1B7C-AC46-BECF-AC7D5E08E22D}" type="slidenum">
              <a:rPr lang="it-FR" smtClean="0"/>
              <a:t>‹N›</a:t>
            </a:fld>
            <a:endParaRPr lang="it-FR"/>
          </a:p>
        </p:txBody>
      </p:sp>
    </p:spTree>
    <p:extLst>
      <p:ext uri="{BB962C8B-B14F-4D97-AF65-F5344CB8AC3E}">
        <p14:creationId xmlns:p14="http://schemas.microsoft.com/office/powerpoint/2010/main" val="55891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sciteller.tools.eurecom.fr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github.com/bVendeville/MIRAG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mailto:alex.argese@eurecom.fr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://bit.ly/ai-sci-storytelle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7F4">
                <a:alpha val="43922"/>
              </a:srgbClr>
            </a:gs>
            <a:gs pos="87000">
              <a:srgbClr val="EDE9E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magine 48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70A818FF-C073-ED6F-FFF1-8C98136B5A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1105370" y="-3167860"/>
            <a:ext cx="9698035" cy="1077271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F66FA4D-E209-84DE-D725-2B28659E2C7C}"/>
              </a:ext>
            </a:extLst>
          </p:cNvPr>
          <p:cNvSpPr txBox="1"/>
          <p:nvPr/>
        </p:nvSpPr>
        <p:spPr>
          <a:xfrm>
            <a:off x="2161637" y="2218498"/>
            <a:ext cx="7868726" cy="83099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rtlCol="0">
            <a:spAutoFit/>
          </a:bodyPr>
          <a:lstStyle/>
          <a:p>
            <a:pPr algn="ctr"/>
            <a:r>
              <a:rPr lang="it-FR" sz="48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Hallucination or Creativity: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9FE7E8F-8E23-A632-1FAC-E2EC107D05AB}"/>
              </a:ext>
            </a:extLst>
          </p:cNvPr>
          <p:cNvSpPr txBox="1"/>
          <p:nvPr/>
        </p:nvSpPr>
        <p:spPr>
          <a:xfrm>
            <a:off x="1604988" y="2991326"/>
            <a:ext cx="8982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2B468F"/>
                </a:solidFill>
                <a:latin typeface="Footlight MT Light" panose="0204060206030A020304" pitchFamily="18" charset="77"/>
              </a:rPr>
              <a:t>How to </a:t>
            </a:r>
            <a:r>
              <a:rPr lang="it-IT" sz="3200" dirty="0" err="1">
                <a:solidFill>
                  <a:srgbClr val="2B468F"/>
                </a:solidFill>
                <a:latin typeface="Footlight MT Light" panose="0204060206030A020304" pitchFamily="18" charset="77"/>
              </a:rPr>
              <a:t>Evaluate</a:t>
            </a:r>
            <a:r>
              <a:rPr lang="it-IT" sz="3200" dirty="0">
                <a:solidFill>
                  <a:srgbClr val="2B468F"/>
                </a:solidFill>
                <a:latin typeface="Footlight MT Light" panose="0204060206030A020304" pitchFamily="18" charset="77"/>
              </a:rPr>
              <a:t> AI-</a:t>
            </a:r>
            <a:r>
              <a:rPr lang="it-IT" sz="3200" dirty="0" err="1">
                <a:solidFill>
                  <a:srgbClr val="2B468F"/>
                </a:solidFill>
                <a:latin typeface="Footlight MT Light" panose="0204060206030A020304" pitchFamily="18" charset="77"/>
              </a:rPr>
              <a:t>Generated</a:t>
            </a:r>
            <a:r>
              <a:rPr lang="it-IT" sz="3200" dirty="0">
                <a:solidFill>
                  <a:srgbClr val="2B468F"/>
                </a:solidFill>
                <a:latin typeface="Footlight MT Light" panose="0204060206030A020304" pitchFamily="18" charset="77"/>
              </a:rPr>
              <a:t> Scientific Stories?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6B35D4A6-E676-9E80-86A2-7D7D6B65F315}"/>
              </a:ext>
            </a:extLst>
          </p:cNvPr>
          <p:cNvSpPr txBox="1"/>
          <p:nvPr/>
        </p:nvSpPr>
        <p:spPr>
          <a:xfrm>
            <a:off x="2610545" y="3781570"/>
            <a:ext cx="6970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Alex </a:t>
            </a:r>
            <a:r>
              <a:rPr lang="it-IT" sz="2800" b="1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Argese</a:t>
            </a:r>
            <a:r>
              <a:rPr lang="it-IT" sz="28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, </a:t>
            </a:r>
            <a:r>
              <a:rPr lang="it-IT" sz="280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Pasquale Lisena, </a:t>
            </a:r>
            <a:r>
              <a:rPr lang="it-IT" sz="280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Raphaël</a:t>
            </a:r>
            <a:r>
              <a:rPr lang="it-IT" sz="280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280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Troncy</a:t>
            </a:r>
            <a:endParaRPr lang="it-FR" sz="2800" dirty="0">
              <a:latin typeface="Footlight MT Light" panose="0204060206030A020304" pitchFamily="18" charset="77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35DB738-D6EC-4552-E9DC-34F0D92F9183}"/>
              </a:ext>
            </a:extLst>
          </p:cNvPr>
          <p:cNvSpPr txBox="1"/>
          <p:nvPr/>
        </p:nvSpPr>
        <p:spPr>
          <a:xfrm>
            <a:off x="5399749" y="5708365"/>
            <a:ext cx="3068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Text2Story @ ECIR 2026</a:t>
            </a:r>
          </a:p>
          <a:p>
            <a:pPr algn="ctr"/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Delft, 29 </a:t>
            </a:r>
            <a:r>
              <a:rPr lang="it-IT" sz="2000" dirty="0">
                <a:solidFill>
                  <a:srgbClr val="000000"/>
                </a:solidFill>
                <a:latin typeface="Footlight MT Light" panose="0204060206030A020304" pitchFamily="18" charset="77"/>
              </a:rPr>
              <a:t>March 2026</a:t>
            </a:r>
            <a:endParaRPr lang="it-FR" sz="2800" dirty="0">
              <a:latin typeface="Footlight MT Light" panose="0204060206030A020304" pitchFamily="18" charset="77"/>
            </a:endParaRPr>
          </a:p>
        </p:txBody>
      </p:sp>
      <p:pic>
        <p:nvPicPr>
          <p:cNvPr id="1026" name="Picture 2" descr="Espace presse | EURECOM">
            <a:extLst>
              <a:ext uri="{FF2B5EF4-FFF2-40B4-BE49-F238E27FC236}">
                <a16:creationId xmlns:a16="http://schemas.microsoft.com/office/drawing/2014/main" id="{8E00BAB2-B7EF-E343-41DD-33CD75573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40" y="348041"/>
            <a:ext cx="1039446" cy="49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CIR2026">
            <a:extLst>
              <a:ext uri="{FF2B5EF4-FFF2-40B4-BE49-F238E27FC236}">
                <a16:creationId xmlns:a16="http://schemas.microsoft.com/office/drawing/2014/main" id="{8843FAA3-836B-72CD-680C-BDF9B8CE1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876" y="5708365"/>
            <a:ext cx="1151873" cy="708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3448660-3AE2-589B-4D17-0E5A899BC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2361" y="446418"/>
            <a:ext cx="1571898" cy="3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666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magine 23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8A6FB187-CB1D-54F8-880A-993D4AF346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p:grpSp>
        <p:nvGrpSpPr>
          <p:cNvPr id="23" name="Gruppo 22">
            <a:extLst>
              <a:ext uri="{FF2B5EF4-FFF2-40B4-BE49-F238E27FC236}">
                <a16:creationId xmlns:a16="http://schemas.microsoft.com/office/drawing/2014/main" id="{0F063D04-038B-5297-0F16-B994D9511673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85BBFE34-7F5A-095F-C1C6-902A4D232217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3" name="Picture 4" descr="ECIR2026">
              <a:extLst>
                <a:ext uri="{FF2B5EF4-FFF2-40B4-BE49-F238E27FC236}">
                  <a16:creationId xmlns:a16="http://schemas.microsoft.com/office/drawing/2014/main" id="{F42AD88D-ED67-578F-C714-3EFED279AD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FD67ED05-FF94-4B13-2A95-BF4A2821F21C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BAC2C138-F34B-7BAB-0C6A-B171200A49A9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12" name="Picture 2" descr="Espace presse | EURECOM">
                <a:extLst>
                  <a:ext uri="{FF2B5EF4-FFF2-40B4-BE49-F238E27FC236}">
                    <a16:creationId xmlns:a16="http://schemas.microsoft.com/office/drawing/2014/main" id="{99FDAFE5-9886-1083-D404-E35FD6D4CD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16F8C99E-3DA8-47DE-0933-CA576ABB4904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F985A85-43AC-18B7-9A27-A539A2C03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33" y="313403"/>
            <a:ext cx="10515600" cy="961321"/>
          </a:xfrm>
        </p:spPr>
        <p:txBody>
          <a:bodyPr>
            <a:normAutofit/>
          </a:bodyPr>
          <a:lstStyle/>
          <a:p>
            <a:r>
              <a:rPr lang="it-FR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AI Scientist Storyteller</a:t>
            </a:r>
            <a:endParaRPr lang="en-GB" sz="4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F7B48F-5150-69C7-A850-2E989CB1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559703"/>
            <a:ext cx="5181600" cy="3513742"/>
          </a:xfrm>
        </p:spPr>
        <p:txBody>
          <a:bodyPr>
            <a:normAutofit/>
          </a:bodyPr>
          <a:lstStyle/>
          <a:p>
            <a:r>
              <a:rPr lang="it-IT" sz="2400" dirty="0">
                <a:latin typeface="Footlight MT Light" panose="0204060206030A020304" pitchFamily="18" charset="77"/>
              </a:rPr>
              <a:t>Turn </a:t>
            </a:r>
            <a:r>
              <a:rPr lang="it-IT" sz="2400" dirty="0" err="1">
                <a:latin typeface="Footlight MT Light" panose="0204060206030A020304" pitchFamily="18" charset="77"/>
              </a:rPr>
              <a:t>scientific</a:t>
            </a:r>
            <a:r>
              <a:rPr lang="it-IT" sz="2400" dirty="0">
                <a:latin typeface="Footlight MT Light" panose="0204060206030A020304" pitchFamily="18" charset="77"/>
              </a:rPr>
              <a:t> papers </a:t>
            </a:r>
            <a:r>
              <a:rPr lang="it-IT" sz="2400" dirty="0" err="1">
                <a:latin typeface="Footlight MT Light" panose="0204060206030A020304" pitchFamily="18" charset="77"/>
              </a:rPr>
              <a:t>into</a:t>
            </a:r>
            <a:r>
              <a:rPr lang="it-IT" sz="2400" dirty="0">
                <a:latin typeface="Footlight MT Light" panose="0204060206030A020304" pitchFamily="18" charset="77"/>
              </a:rPr>
              <a:t> stories</a:t>
            </a:r>
          </a:p>
          <a:p>
            <a:r>
              <a:rPr lang="it-IT" sz="2400" dirty="0" err="1">
                <a:latin typeface="Footlight MT Light" panose="0204060206030A020304" pitchFamily="18" charset="77"/>
              </a:rPr>
              <a:t>Adapt</a:t>
            </a:r>
            <a:r>
              <a:rPr lang="it-IT" sz="2400" dirty="0">
                <a:latin typeface="Footlight MT Light" panose="0204060206030A020304" pitchFamily="18" charset="77"/>
              </a:rPr>
              <a:t> to </a:t>
            </a:r>
            <a:r>
              <a:rPr lang="it-IT" sz="2400" dirty="0" err="1">
                <a:latin typeface="Footlight MT Light" panose="0204060206030A020304" pitchFamily="18" charset="77"/>
              </a:rPr>
              <a:t>different</a:t>
            </a:r>
            <a:r>
              <a:rPr lang="it-IT" sz="2400" dirty="0">
                <a:latin typeface="Footlight MT Light" panose="0204060206030A020304" pitchFamily="18" charset="77"/>
              </a:rPr>
              <a:t> </a:t>
            </a:r>
            <a:r>
              <a:rPr lang="it-IT" sz="2400" dirty="0" err="1">
                <a:latin typeface="Footlight MT Light" panose="0204060206030A020304" pitchFamily="18" charset="77"/>
              </a:rPr>
              <a:t>personas</a:t>
            </a:r>
            <a:r>
              <a:rPr lang="it-IT" sz="2400" dirty="0">
                <a:latin typeface="Footlight MT Light" panose="0204060206030A020304" pitchFamily="18" charset="77"/>
              </a:rPr>
              <a:t>:</a:t>
            </a:r>
          </a:p>
          <a:p>
            <a:pPr lvl="1"/>
            <a:r>
              <a:rPr lang="it-IT" sz="2000" dirty="0" err="1">
                <a:latin typeface="Footlight MT Light" panose="0204060206030A020304" pitchFamily="18" charset="77"/>
              </a:rPr>
              <a:t>Researchers</a:t>
            </a:r>
            <a:r>
              <a:rPr lang="it-IT" sz="2000" dirty="0">
                <a:latin typeface="Footlight MT Light" panose="0204060206030A020304" pitchFamily="18" charset="77"/>
              </a:rPr>
              <a:t> &amp; </a:t>
            </a:r>
            <a:r>
              <a:rPr lang="it-IT" sz="2000" dirty="0" err="1">
                <a:latin typeface="Footlight MT Light" panose="0204060206030A020304" pitchFamily="18" charset="77"/>
              </a:rPr>
              <a:t>Engineers</a:t>
            </a:r>
            <a:endParaRPr lang="it-IT" sz="2000" dirty="0">
              <a:latin typeface="Footlight MT Light" panose="0204060206030A020304" pitchFamily="18" charset="77"/>
            </a:endParaRPr>
          </a:p>
          <a:p>
            <a:pPr lvl="1"/>
            <a:r>
              <a:rPr lang="it-IT" sz="2000" dirty="0" err="1">
                <a:latin typeface="Footlight MT Light" panose="0204060206030A020304" pitchFamily="18" charset="77"/>
              </a:rPr>
              <a:t>Student</a:t>
            </a:r>
            <a:endParaRPr lang="it-IT" sz="2000" dirty="0">
              <a:latin typeface="Footlight MT Light" panose="0204060206030A020304" pitchFamily="18" charset="77"/>
            </a:endParaRPr>
          </a:p>
          <a:p>
            <a:pPr lvl="1"/>
            <a:r>
              <a:rPr lang="it-IT" sz="2000" dirty="0" err="1">
                <a:latin typeface="Footlight MT Light" panose="0204060206030A020304" pitchFamily="18" charset="77"/>
              </a:rPr>
              <a:t>Teacher</a:t>
            </a:r>
            <a:endParaRPr lang="it-IT" sz="2000" dirty="0">
              <a:latin typeface="Footlight MT Light" panose="0204060206030A020304" pitchFamily="18" charset="77"/>
            </a:endParaRPr>
          </a:p>
          <a:p>
            <a:pPr lvl="1"/>
            <a:r>
              <a:rPr lang="it-IT" sz="2000" dirty="0">
                <a:latin typeface="Footlight MT Light" panose="0204060206030A020304" pitchFamily="18" charset="77"/>
              </a:rPr>
              <a:t>Policy Maker</a:t>
            </a:r>
          </a:p>
          <a:p>
            <a:pPr lvl="1"/>
            <a:r>
              <a:rPr lang="it-IT" sz="2000" dirty="0" err="1">
                <a:latin typeface="Footlight MT Light" panose="0204060206030A020304" pitchFamily="18" charset="77"/>
              </a:rPr>
              <a:t>Jounalist</a:t>
            </a:r>
            <a:endParaRPr lang="it-IT" sz="2000" dirty="0">
              <a:latin typeface="Footlight MT Light" panose="0204060206030A020304" pitchFamily="18" charset="77"/>
            </a:endParaRPr>
          </a:p>
          <a:p>
            <a:pPr lvl="1"/>
            <a:r>
              <a:rPr lang="it-IT" sz="2000" dirty="0">
                <a:latin typeface="Footlight MT Light" panose="0204060206030A020304" pitchFamily="18" charset="77"/>
              </a:rPr>
              <a:t>Investor</a:t>
            </a:r>
          </a:p>
          <a:p>
            <a:pPr lvl="1"/>
            <a:r>
              <a:rPr lang="it-IT" sz="2000" dirty="0">
                <a:latin typeface="Footlight MT Light" panose="0204060206030A020304" pitchFamily="18" charset="77"/>
              </a:rPr>
              <a:t>General </a:t>
            </a:r>
            <a:r>
              <a:rPr lang="it-IT" sz="2000" dirty="0" err="1">
                <a:latin typeface="Footlight MT Light" panose="0204060206030A020304" pitchFamily="18" charset="77"/>
              </a:rPr>
              <a:t>pulic</a:t>
            </a:r>
            <a:endParaRPr lang="it-IT" sz="2000" dirty="0">
              <a:latin typeface="Footlight MT Light" panose="0204060206030A020304" pitchFamily="18" charset="77"/>
            </a:endParaRPr>
          </a:p>
          <a:p>
            <a:pPr marL="457200" lvl="1" indent="0">
              <a:buNone/>
            </a:pPr>
            <a:endParaRPr lang="en-GB" sz="2000" dirty="0">
              <a:latin typeface="Footlight MT Light" panose="0204060206030A020304" pitchFamily="18" charset="77"/>
            </a:endParaRPr>
          </a:p>
        </p:txBody>
      </p:sp>
      <p:pic>
        <p:nvPicPr>
          <p:cNvPr id="17" name="Segnaposto contenuto 16" descr="Immagine che contiene testo, schermata, Rettangolo, numero&#10;&#10;Descrizione generata automaticamente">
            <a:extLst>
              <a:ext uri="{FF2B5EF4-FFF2-40B4-BE49-F238E27FC236}">
                <a16:creationId xmlns:a16="http://schemas.microsoft.com/office/drawing/2014/main" id="{54D2196B-83FE-16B2-82EF-3CE9D6E4AB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/>
          <a:stretch>
            <a:fillRect/>
          </a:stretch>
        </p:blipFill>
        <p:spPr>
          <a:xfrm>
            <a:off x="4426226" y="2749034"/>
            <a:ext cx="6927574" cy="2951536"/>
          </a:xfrm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AA8F1DD-FE5A-3C7E-FB93-00D65989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8721" y="6408925"/>
            <a:ext cx="341276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2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pic>
        <p:nvPicPr>
          <p:cNvPr id="25" name="Immagine 24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B2886B02-DC19-9EF6-F3BE-359AC6E21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F08810-3D40-58E1-452D-5ED5B330CD6D}"/>
              </a:ext>
            </a:extLst>
          </p:cNvPr>
          <p:cNvSpPr txBox="1"/>
          <p:nvPr/>
        </p:nvSpPr>
        <p:spPr>
          <a:xfrm>
            <a:off x="762000" y="5427800"/>
            <a:ext cx="3338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Footlight MT Light" panose="0204060206030A020304" pitchFamily="18" charset="77"/>
                <a:hlinkClick r:id="rId7"/>
              </a:rPr>
              <a:t>https://</a:t>
            </a:r>
            <a:r>
              <a:rPr lang="en-GB" sz="1600" dirty="0" err="1">
                <a:latin typeface="Footlight MT Light" panose="0204060206030A020304" pitchFamily="18" charset="77"/>
                <a:hlinkClick r:id="rId7"/>
              </a:rPr>
              <a:t>sciteller.tools.eurecom.fr</a:t>
            </a:r>
            <a:r>
              <a:rPr lang="en-GB" sz="1600" dirty="0">
                <a:latin typeface="Footlight MT Light" panose="0204060206030A020304" pitchFamily="18" charset="77"/>
                <a:hlinkClick r:id="rId7"/>
              </a:rPr>
              <a:t>/</a:t>
            </a:r>
            <a:endParaRPr lang="en-GB" sz="1600" dirty="0">
              <a:latin typeface="Footlight MT Light" panose="0204060206030A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17994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9E264F73-6D2F-3817-A538-435F291B509A}"/>
              </a:ext>
            </a:extLst>
          </p:cNvPr>
          <p:cNvSpPr/>
          <p:nvPr/>
        </p:nvSpPr>
        <p:spPr>
          <a:xfrm>
            <a:off x="313152" y="3460435"/>
            <a:ext cx="11616846" cy="2595590"/>
          </a:xfrm>
          <a:prstGeom prst="roundRect">
            <a:avLst>
              <a:gd name="adj" fmla="val 9800"/>
            </a:avLst>
          </a:prstGeom>
          <a:solidFill>
            <a:srgbClr val="FFFFFF">
              <a:alpha val="50196"/>
            </a:srgbClr>
          </a:solidFill>
          <a:ln w="28575">
            <a:solidFill>
              <a:srgbClr val="B8B8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2" name="Immagine 131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E3A0F5E4-C30E-5020-E0ED-A15FD1A3CC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2709822" y="-3613550"/>
            <a:ext cx="9698035" cy="10772716"/>
          </a:xfrm>
          <a:prstGeom prst="rect">
            <a:avLst/>
          </a:prstGeom>
        </p:spPr>
      </p:pic>
      <p:sp>
        <p:nvSpPr>
          <p:cNvPr id="30" name="Segnaposto contenuto 2">
            <a:extLst>
              <a:ext uri="{FF2B5EF4-FFF2-40B4-BE49-F238E27FC236}">
                <a16:creationId xmlns:a16="http://schemas.microsoft.com/office/drawing/2014/main" id="{39DDAC51-FB37-FAC9-18BD-200A68862D4E}"/>
              </a:ext>
            </a:extLst>
          </p:cNvPr>
          <p:cNvSpPr txBox="1">
            <a:spLocks/>
          </p:cNvSpPr>
          <p:nvPr/>
        </p:nvSpPr>
        <p:spPr>
          <a:xfrm>
            <a:off x="761999" y="1271795"/>
            <a:ext cx="10608871" cy="91210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latin typeface="Footlight MT Light" panose="0204060206030A020304" pitchFamily="18" charset="77"/>
              </a:rPr>
              <a:t>A good scientific story must preserve the paper’s meaning while adapting structure and tone to a target audience.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5C980CF3-5393-9554-E0B9-74E630393F72}"/>
              </a:ext>
            </a:extLst>
          </p:cNvPr>
          <p:cNvSpPr/>
          <p:nvPr/>
        </p:nvSpPr>
        <p:spPr>
          <a:xfrm>
            <a:off x="3019026" y="3704923"/>
            <a:ext cx="3820390" cy="2115029"/>
          </a:xfrm>
          <a:prstGeom prst="rect">
            <a:avLst/>
          </a:prstGeom>
          <a:solidFill>
            <a:schemeClr val="l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7C7E91AA-5B0E-83C8-D4DD-3BADD100F99B}"/>
              </a:ext>
            </a:extLst>
          </p:cNvPr>
          <p:cNvGrpSpPr/>
          <p:nvPr/>
        </p:nvGrpSpPr>
        <p:grpSpPr>
          <a:xfrm>
            <a:off x="3299579" y="3884644"/>
            <a:ext cx="3539836" cy="1746682"/>
            <a:chOff x="-529588" y="458896"/>
            <a:chExt cx="13493224" cy="4421730"/>
          </a:xfrm>
        </p:grpSpPr>
        <p:grpSp>
          <p:nvGrpSpPr>
            <p:cNvPr id="42" name="Gruppo 41">
              <a:extLst>
                <a:ext uri="{FF2B5EF4-FFF2-40B4-BE49-F238E27FC236}">
                  <a16:creationId xmlns:a16="http://schemas.microsoft.com/office/drawing/2014/main" id="{F4F9CEA9-5B4B-0DCA-1262-CE6D0B61FEBF}"/>
                </a:ext>
              </a:extLst>
            </p:cNvPr>
            <p:cNvGrpSpPr/>
            <p:nvPr/>
          </p:nvGrpSpPr>
          <p:grpSpPr>
            <a:xfrm>
              <a:off x="-529588" y="458896"/>
              <a:ext cx="13493224" cy="3866125"/>
              <a:chOff x="3036795" y="2028495"/>
              <a:chExt cx="6360458" cy="2507921"/>
            </a:xfrm>
          </p:grpSpPr>
          <p:cxnSp>
            <p:nvCxnSpPr>
              <p:cNvPr id="71" name="Connettore 1 70">
                <a:extLst>
                  <a:ext uri="{FF2B5EF4-FFF2-40B4-BE49-F238E27FC236}">
                    <a16:creationId xmlns:a16="http://schemas.microsoft.com/office/drawing/2014/main" id="{DF1BEF91-AC12-5A62-72BA-D9F7B1F7F7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45636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nettore 1 71">
                <a:extLst>
                  <a:ext uri="{FF2B5EF4-FFF2-40B4-BE49-F238E27FC236}">
                    <a16:creationId xmlns:a16="http://schemas.microsoft.com/office/drawing/2014/main" id="{03B7E540-D8E6-B5E7-9151-7F3A12E7F8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028495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nettore 1 72">
                <a:extLst>
                  <a:ext uri="{FF2B5EF4-FFF2-40B4-BE49-F238E27FC236}">
                    <a16:creationId xmlns:a16="http://schemas.microsoft.com/office/drawing/2014/main" id="{A5104AF5-77C6-D523-C2CA-73AC9FC84B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38392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nettore 1 73">
                <a:extLst>
                  <a:ext uri="{FF2B5EF4-FFF2-40B4-BE49-F238E27FC236}">
                    <a16:creationId xmlns:a16="http://schemas.microsoft.com/office/drawing/2014/main" id="{955DB553-8D57-A6BB-27C6-10966CC1B5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73553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nettore 1 74">
                <a:extLst>
                  <a:ext uri="{FF2B5EF4-FFF2-40B4-BE49-F238E27FC236}">
                    <a16:creationId xmlns:a16="http://schemas.microsoft.com/office/drawing/2014/main" id="{694BCF79-D17F-8383-36F9-7B1AD9539B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095948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Connettore 1 75">
                <a:extLst>
                  <a:ext uri="{FF2B5EF4-FFF2-40B4-BE49-F238E27FC236}">
                    <a16:creationId xmlns:a16="http://schemas.microsoft.com/office/drawing/2014/main" id="{AA35F821-3CA5-DC6A-B686-9E1B6799B7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811794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nettore 1 76">
                <a:extLst>
                  <a:ext uri="{FF2B5EF4-FFF2-40B4-BE49-F238E27FC236}">
                    <a16:creationId xmlns:a16="http://schemas.microsoft.com/office/drawing/2014/main" id="{0B47C08A-6305-5786-6AA8-03150F0EF3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163401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nettore 1 77">
                <a:extLst>
                  <a:ext uri="{FF2B5EF4-FFF2-40B4-BE49-F238E27FC236}">
                    <a16:creationId xmlns:a16="http://schemas.microsoft.com/office/drawing/2014/main" id="{7DC2F499-0AF8-4D1F-94F1-8652BEF604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52381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Connettore 1 45">
              <a:extLst>
                <a:ext uri="{FF2B5EF4-FFF2-40B4-BE49-F238E27FC236}">
                  <a16:creationId xmlns:a16="http://schemas.microsoft.com/office/drawing/2014/main" id="{B7028A12-1645-3526-4B28-51C7BA76B7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29588" y="4861202"/>
              <a:ext cx="13493224" cy="19424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Rettangolo 96">
            <a:extLst>
              <a:ext uri="{FF2B5EF4-FFF2-40B4-BE49-F238E27FC236}">
                <a16:creationId xmlns:a16="http://schemas.microsoft.com/office/drawing/2014/main" id="{88400DBB-8A8E-F2E2-251D-A54DC3E6327F}"/>
              </a:ext>
            </a:extLst>
          </p:cNvPr>
          <p:cNvSpPr/>
          <p:nvPr/>
        </p:nvSpPr>
        <p:spPr>
          <a:xfrm>
            <a:off x="7260491" y="3704922"/>
            <a:ext cx="4425970" cy="2115029"/>
          </a:xfrm>
          <a:prstGeom prst="rect">
            <a:avLst/>
          </a:prstGeom>
          <a:solidFill>
            <a:schemeClr val="l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6DB88164-1D3F-E290-F584-580BCF2DDEAA}"/>
              </a:ext>
            </a:extLst>
          </p:cNvPr>
          <p:cNvGrpSpPr/>
          <p:nvPr/>
        </p:nvGrpSpPr>
        <p:grpSpPr>
          <a:xfrm>
            <a:off x="7585515" y="3884642"/>
            <a:ext cx="3820390" cy="1825333"/>
            <a:chOff x="3036795" y="2028495"/>
            <a:chExt cx="6360458" cy="2507921"/>
          </a:xfrm>
        </p:grpSpPr>
        <p:cxnSp>
          <p:nvCxnSpPr>
            <p:cNvPr id="105" name="Connettore 1 104">
              <a:extLst>
                <a:ext uri="{FF2B5EF4-FFF2-40B4-BE49-F238E27FC236}">
                  <a16:creationId xmlns:a16="http://schemas.microsoft.com/office/drawing/2014/main" id="{2A802567-E382-ADEE-324E-9B61CA69F7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3456363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05">
              <a:extLst>
                <a:ext uri="{FF2B5EF4-FFF2-40B4-BE49-F238E27FC236}">
                  <a16:creationId xmlns:a16="http://schemas.microsoft.com/office/drawing/2014/main" id="{5EC4E529-B1F3-F8FE-DA19-340828213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2028495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06">
              <a:extLst>
                <a:ext uri="{FF2B5EF4-FFF2-40B4-BE49-F238E27FC236}">
                  <a16:creationId xmlns:a16="http://schemas.microsoft.com/office/drawing/2014/main" id="{404E30A2-B7FC-F902-80B7-BD7B4B0CFD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2383926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07">
              <a:extLst>
                <a:ext uri="{FF2B5EF4-FFF2-40B4-BE49-F238E27FC236}">
                  <a16:creationId xmlns:a16="http://schemas.microsoft.com/office/drawing/2014/main" id="{55CE6D07-994F-E3C7-36FD-474D04B19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2735533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08">
              <a:extLst>
                <a:ext uri="{FF2B5EF4-FFF2-40B4-BE49-F238E27FC236}">
                  <a16:creationId xmlns:a16="http://schemas.microsoft.com/office/drawing/2014/main" id="{20E89281-7B11-BC0F-BF41-23380305A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3095948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09">
              <a:extLst>
                <a:ext uri="{FF2B5EF4-FFF2-40B4-BE49-F238E27FC236}">
                  <a16:creationId xmlns:a16="http://schemas.microsoft.com/office/drawing/2014/main" id="{23B4DCA3-9CCD-EBD7-8B2E-21EA2F1E87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3811794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0">
              <a:extLst>
                <a:ext uri="{FF2B5EF4-FFF2-40B4-BE49-F238E27FC236}">
                  <a16:creationId xmlns:a16="http://schemas.microsoft.com/office/drawing/2014/main" id="{C6DEA29F-3F48-3692-A374-AFF1BB1AA3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4163401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1">
              <a:extLst>
                <a:ext uri="{FF2B5EF4-FFF2-40B4-BE49-F238E27FC236}">
                  <a16:creationId xmlns:a16="http://schemas.microsoft.com/office/drawing/2014/main" id="{271D0048-BD7D-75D1-6F1A-8ACC6AA0B9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4523816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CasellaDiTesto 113">
            <a:extLst>
              <a:ext uri="{FF2B5EF4-FFF2-40B4-BE49-F238E27FC236}">
                <a16:creationId xmlns:a16="http://schemas.microsoft.com/office/drawing/2014/main" id="{29930EA9-3564-AB3A-E1E1-B70B2001F128}"/>
              </a:ext>
            </a:extLst>
          </p:cNvPr>
          <p:cNvSpPr txBox="1"/>
          <p:nvPr/>
        </p:nvSpPr>
        <p:spPr>
          <a:xfrm>
            <a:off x="3299579" y="3846221"/>
            <a:ext cx="338809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Factual</a:t>
            </a:r>
            <a:r>
              <a:rPr lang="it-IT" sz="2000" b="1" i="0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2000" b="1" i="0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Summary</a:t>
            </a:r>
            <a:endParaRPr lang="it-IT" sz="2000" b="1" i="0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  <a:p>
            <a:pPr algn="l"/>
            <a:endParaRPr lang="it-IT" b="0" i="0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  <a:p>
            <a:r>
              <a:rPr lang="it-IT" dirty="0">
                <a:latin typeface="Footlight MT Light" panose="0204060206030A020304" pitchFamily="18" charset="77"/>
              </a:rPr>
              <a:t>The paper </a:t>
            </a:r>
            <a:r>
              <a:rPr lang="it-IT" dirty="0" err="1">
                <a:latin typeface="Footlight MT Light" panose="0204060206030A020304" pitchFamily="18" charset="77"/>
              </a:rPr>
              <a:t>introduces</a:t>
            </a:r>
            <a:r>
              <a:rPr lang="it-IT" dirty="0">
                <a:latin typeface="Footlight MT Light" panose="0204060206030A020304" pitchFamily="18" charset="77"/>
              </a:rPr>
              <a:t> the Transformer, a model </a:t>
            </a:r>
            <a:r>
              <a:rPr lang="it-IT" dirty="0" err="1">
                <a:latin typeface="Footlight MT Light" panose="0204060206030A020304" pitchFamily="18" charset="77"/>
              </a:rPr>
              <a:t>based</a:t>
            </a:r>
            <a:r>
              <a:rPr lang="it-IT" dirty="0">
                <a:latin typeface="Footlight MT Light" panose="0204060206030A020304" pitchFamily="18" charset="77"/>
              </a:rPr>
              <a:t> on </a:t>
            </a:r>
            <a:r>
              <a:rPr lang="it-IT" dirty="0" err="1">
                <a:latin typeface="Footlight MT Light" panose="0204060206030A020304" pitchFamily="18" charset="77"/>
              </a:rPr>
              <a:t>attention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mechanisms</a:t>
            </a:r>
            <a:r>
              <a:rPr lang="it-IT" dirty="0">
                <a:latin typeface="Footlight MT Light" panose="0204060206030A020304" pitchFamily="18" charset="77"/>
              </a:rPr>
              <a:t>, </a:t>
            </a:r>
            <a:r>
              <a:rPr lang="it-IT" dirty="0" err="1">
                <a:latin typeface="Footlight MT Light" panose="0204060206030A020304" pitchFamily="18" charset="77"/>
              </a:rPr>
              <a:t>removing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recurrence</a:t>
            </a:r>
            <a:r>
              <a:rPr lang="it-IT" dirty="0">
                <a:latin typeface="Footlight MT Light" panose="0204060206030A020304" pitchFamily="18" charset="77"/>
              </a:rPr>
              <a:t> and </a:t>
            </a:r>
            <a:r>
              <a:rPr lang="it-IT" dirty="0" err="1">
                <a:latin typeface="Footlight MT Light" panose="0204060206030A020304" pitchFamily="18" charset="77"/>
              </a:rPr>
              <a:t>convolution</a:t>
            </a:r>
            <a:r>
              <a:rPr lang="it-IT" dirty="0">
                <a:latin typeface="Footlight MT Light" panose="0204060206030A020304" pitchFamily="18" charset="77"/>
              </a:rPr>
              <a:t>.</a:t>
            </a:r>
          </a:p>
        </p:txBody>
      </p:sp>
      <p:sp>
        <p:nvSpPr>
          <p:cNvPr id="116" name="CasellaDiTesto 115">
            <a:extLst>
              <a:ext uri="{FF2B5EF4-FFF2-40B4-BE49-F238E27FC236}">
                <a16:creationId xmlns:a16="http://schemas.microsoft.com/office/drawing/2014/main" id="{7A5CE9FA-22DE-27B6-2699-6B2088A2C9C4}"/>
              </a:ext>
            </a:extLst>
          </p:cNvPr>
          <p:cNvSpPr txBox="1"/>
          <p:nvPr/>
        </p:nvSpPr>
        <p:spPr>
          <a:xfrm>
            <a:off x="7356671" y="3848440"/>
            <a:ext cx="4090439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Story for General Public</a:t>
            </a:r>
            <a:endParaRPr lang="it-IT" sz="2000" b="1" dirty="0">
              <a:solidFill>
                <a:srgbClr val="000000"/>
              </a:solidFill>
              <a:latin typeface="Footlight MT Light" panose="0204060206030A020304" pitchFamily="18" charset="77"/>
            </a:endParaRPr>
          </a:p>
          <a:p>
            <a:pPr algn="l"/>
            <a:endParaRPr lang="it-IT" sz="500" b="0" i="0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  <a:p>
            <a:r>
              <a:rPr lang="it-IT" dirty="0" err="1">
                <a:latin typeface="Footlight MT Light" panose="0204060206030A020304" pitchFamily="18" charset="77"/>
              </a:rPr>
              <a:t>Imagine</a:t>
            </a:r>
            <a:r>
              <a:rPr lang="it-IT" dirty="0">
                <a:latin typeface="Footlight MT Light" panose="0204060206030A020304" pitchFamily="18" charset="77"/>
              </a:rPr>
              <a:t> a reader </a:t>
            </a:r>
            <a:r>
              <a:rPr lang="it-IT" dirty="0" err="1">
                <a:latin typeface="Footlight MT Light" panose="0204060206030A020304" pitchFamily="18" charset="77"/>
              </a:rPr>
              <a:t>that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doesn’t</a:t>
            </a:r>
            <a:r>
              <a:rPr lang="it-IT" dirty="0">
                <a:latin typeface="Footlight MT Light" panose="0204060206030A020304" pitchFamily="18" charset="77"/>
              </a:rPr>
              <a:t> follow words one by one, </a:t>
            </a:r>
            <a:r>
              <a:rPr lang="it-IT" dirty="0" err="1">
                <a:latin typeface="Footlight MT Light" panose="0204060206030A020304" pitchFamily="18" charset="77"/>
              </a:rPr>
              <a:t>but</a:t>
            </a:r>
            <a:r>
              <a:rPr lang="it-IT" dirty="0">
                <a:latin typeface="Footlight MT Light" panose="0204060206030A020304" pitchFamily="18" charset="77"/>
              </a:rPr>
              <a:t> looks </a:t>
            </a:r>
            <a:r>
              <a:rPr lang="it-IT" dirty="0" err="1">
                <a:latin typeface="Footlight MT Light" panose="0204060206030A020304" pitchFamily="18" charset="77"/>
              </a:rPr>
              <a:t>at</a:t>
            </a:r>
            <a:r>
              <a:rPr lang="it-IT" dirty="0">
                <a:latin typeface="Footlight MT Light" panose="0204060206030A020304" pitchFamily="18" charset="77"/>
              </a:rPr>
              <a:t> the </a:t>
            </a:r>
            <a:r>
              <a:rPr lang="it-IT" dirty="0" err="1">
                <a:latin typeface="Footlight MT Light" panose="0204060206030A020304" pitchFamily="18" charset="77"/>
              </a:rPr>
              <a:t>whole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sentence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at</a:t>
            </a:r>
            <a:r>
              <a:rPr lang="it-IT" dirty="0">
                <a:latin typeface="Footlight MT Light" panose="0204060206030A020304" pitchFamily="18" charset="77"/>
              </a:rPr>
              <a:t> once, </a:t>
            </a:r>
            <a:r>
              <a:rPr lang="it-IT" dirty="0" err="1">
                <a:latin typeface="Footlight MT Light" panose="0204060206030A020304" pitchFamily="18" charset="77"/>
              </a:rPr>
              <a:t>focusing</a:t>
            </a:r>
            <a:r>
              <a:rPr lang="it-IT" dirty="0">
                <a:latin typeface="Footlight MT Light" panose="0204060206030A020304" pitchFamily="18" charset="77"/>
              </a:rPr>
              <a:t> on </a:t>
            </a:r>
            <a:r>
              <a:rPr lang="it-IT" dirty="0" err="1">
                <a:latin typeface="Footlight MT Light" panose="0204060206030A020304" pitchFamily="18" charset="77"/>
              </a:rPr>
              <a:t>what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matters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most</a:t>
            </a:r>
            <a:r>
              <a:rPr lang="it-IT" dirty="0">
                <a:latin typeface="Footlight MT Light" panose="0204060206030A020304" pitchFamily="18" charset="77"/>
              </a:rPr>
              <a:t>. </a:t>
            </a:r>
            <a:r>
              <a:rPr lang="it-IT" dirty="0" err="1">
                <a:latin typeface="Footlight MT Light" panose="0204060206030A020304" pitchFamily="18" charset="77"/>
              </a:rPr>
              <a:t>That’s</a:t>
            </a:r>
            <a:r>
              <a:rPr lang="it-IT" dirty="0">
                <a:latin typeface="Footlight MT Light" panose="0204060206030A020304" pitchFamily="18" charset="77"/>
              </a:rPr>
              <a:t> the idea </a:t>
            </a:r>
            <a:r>
              <a:rPr lang="it-IT" dirty="0" err="1">
                <a:latin typeface="Footlight MT Light" panose="0204060206030A020304" pitchFamily="18" charset="77"/>
              </a:rPr>
              <a:t>behind</a:t>
            </a:r>
            <a:r>
              <a:rPr lang="it-IT" dirty="0">
                <a:latin typeface="Footlight MT Light" panose="0204060206030A020304" pitchFamily="18" charset="77"/>
              </a:rPr>
              <a:t> the Transformer.</a:t>
            </a:r>
          </a:p>
        </p:txBody>
      </p:sp>
      <p:sp>
        <p:nvSpPr>
          <p:cNvPr id="122" name="Titolo 1">
            <a:extLst>
              <a:ext uri="{FF2B5EF4-FFF2-40B4-BE49-F238E27FC236}">
                <a16:creationId xmlns:a16="http://schemas.microsoft.com/office/drawing/2014/main" id="{153308A5-CDEE-F4B5-A685-6D2DD8419CD3}"/>
              </a:ext>
            </a:extLst>
          </p:cNvPr>
          <p:cNvSpPr txBox="1">
            <a:spLocks/>
          </p:cNvSpPr>
          <p:nvPr/>
        </p:nvSpPr>
        <p:spPr>
          <a:xfrm>
            <a:off x="1588258" y="465235"/>
            <a:ext cx="10515600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Why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evaluating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scientific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stories </a:t>
            </a:r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is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challenging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?</a:t>
            </a:r>
            <a:endParaRPr lang="en-GB" sz="4000" dirty="0"/>
          </a:p>
        </p:txBody>
      </p:sp>
      <p:grpSp>
        <p:nvGrpSpPr>
          <p:cNvPr id="124" name="Gruppo 123">
            <a:extLst>
              <a:ext uri="{FF2B5EF4-FFF2-40B4-BE49-F238E27FC236}">
                <a16:creationId xmlns:a16="http://schemas.microsoft.com/office/drawing/2014/main" id="{8F947EB4-6BA9-8086-630E-40584583AD96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125" name="Rettangolo 124">
              <a:extLst>
                <a:ext uri="{FF2B5EF4-FFF2-40B4-BE49-F238E27FC236}">
                  <a16:creationId xmlns:a16="http://schemas.microsoft.com/office/drawing/2014/main" id="{33E02ACB-B212-CDDA-6DCA-B7BC030274C7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26" name="Picture 4" descr="ECIR2026">
              <a:extLst>
                <a:ext uri="{FF2B5EF4-FFF2-40B4-BE49-F238E27FC236}">
                  <a16:creationId xmlns:a16="http://schemas.microsoft.com/office/drawing/2014/main" id="{CA611C80-B5F0-FABD-DB30-03E3AC54E2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7" name="CasellaDiTesto 126">
              <a:extLst>
                <a:ext uri="{FF2B5EF4-FFF2-40B4-BE49-F238E27FC236}">
                  <a16:creationId xmlns:a16="http://schemas.microsoft.com/office/drawing/2014/main" id="{5EE9F595-8506-3695-7A6C-CC197D190BE9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128" name="Gruppo 127">
              <a:extLst>
                <a:ext uri="{FF2B5EF4-FFF2-40B4-BE49-F238E27FC236}">
                  <a16:creationId xmlns:a16="http://schemas.microsoft.com/office/drawing/2014/main" id="{A9CA1014-9C74-3689-90AB-F047AA9289C9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129" name="Picture 2" descr="Espace presse | EURECOM">
                <a:extLst>
                  <a:ext uri="{FF2B5EF4-FFF2-40B4-BE49-F238E27FC236}">
                    <a16:creationId xmlns:a16="http://schemas.microsoft.com/office/drawing/2014/main" id="{5CE3D05E-99E7-ED2B-F39A-003D2B6474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0" name="CasellaDiTesto 129">
                <a:extLst>
                  <a:ext uri="{FF2B5EF4-FFF2-40B4-BE49-F238E27FC236}">
                    <a16:creationId xmlns:a16="http://schemas.microsoft.com/office/drawing/2014/main" id="{9C6CB11F-FFC6-2DF8-28A4-944A88CF9927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131" name="Segnaposto numero diapositiva 4">
            <a:extLst>
              <a:ext uri="{FF2B5EF4-FFF2-40B4-BE49-F238E27FC236}">
                <a16:creationId xmlns:a16="http://schemas.microsoft.com/office/drawing/2014/main" id="{DB8C4626-38DC-87E6-1654-D50F2DF07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8721" y="6408925"/>
            <a:ext cx="341276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3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pic>
        <p:nvPicPr>
          <p:cNvPr id="133" name="Immagine 132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431AED68-3A77-DB11-41F0-F90207797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0EA79721-2E69-8D46-09F4-E6A2DFB44044}"/>
              </a:ext>
            </a:extLst>
          </p:cNvPr>
          <p:cNvSpPr/>
          <p:nvPr/>
        </p:nvSpPr>
        <p:spPr>
          <a:xfrm>
            <a:off x="644804" y="3696221"/>
            <a:ext cx="1967949" cy="2097308"/>
          </a:xfrm>
          <a:prstGeom prst="rect">
            <a:avLst/>
          </a:prstGeom>
          <a:solidFill>
            <a:schemeClr val="l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EAD907B6-C304-8154-302E-5BD0EA29CBAA}"/>
              </a:ext>
            </a:extLst>
          </p:cNvPr>
          <p:cNvGrpSpPr/>
          <p:nvPr/>
        </p:nvGrpSpPr>
        <p:grpSpPr>
          <a:xfrm>
            <a:off x="744890" y="3875941"/>
            <a:ext cx="1753705" cy="1732047"/>
            <a:chOff x="-529588" y="458896"/>
            <a:chExt cx="13493224" cy="4421730"/>
          </a:xfrm>
        </p:grpSpPr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00BEB27C-E10C-6B56-6646-121F99631A48}"/>
                </a:ext>
              </a:extLst>
            </p:cNvPr>
            <p:cNvGrpSpPr/>
            <p:nvPr/>
          </p:nvGrpSpPr>
          <p:grpSpPr>
            <a:xfrm>
              <a:off x="-529588" y="458896"/>
              <a:ext cx="13493224" cy="3866125"/>
              <a:chOff x="3036795" y="2028495"/>
              <a:chExt cx="6360458" cy="2507921"/>
            </a:xfrm>
          </p:grpSpPr>
          <p:cxnSp>
            <p:nvCxnSpPr>
              <p:cNvPr id="7" name="Connettore 1 6">
                <a:extLst>
                  <a:ext uri="{FF2B5EF4-FFF2-40B4-BE49-F238E27FC236}">
                    <a16:creationId xmlns:a16="http://schemas.microsoft.com/office/drawing/2014/main" id="{421C6FEF-ECAC-8CD1-5783-CAC7A16138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45636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nettore 1 7">
                <a:extLst>
                  <a:ext uri="{FF2B5EF4-FFF2-40B4-BE49-F238E27FC236}">
                    <a16:creationId xmlns:a16="http://schemas.microsoft.com/office/drawing/2014/main" id="{534DD93A-6380-AE43-1C8F-24B6B1D219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028495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nettore 1 8">
                <a:extLst>
                  <a:ext uri="{FF2B5EF4-FFF2-40B4-BE49-F238E27FC236}">
                    <a16:creationId xmlns:a16="http://schemas.microsoft.com/office/drawing/2014/main" id="{1DE7933E-4212-B582-CB35-6B0AF7B106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38392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ttore 1 9">
                <a:extLst>
                  <a:ext uri="{FF2B5EF4-FFF2-40B4-BE49-F238E27FC236}">
                    <a16:creationId xmlns:a16="http://schemas.microsoft.com/office/drawing/2014/main" id="{4D15554E-F1E2-FB1E-855F-90BBE3F801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73553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ttore 1 10">
                <a:extLst>
                  <a:ext uri="{FF2B5EF4-FFF2-40B4-BE49-F238E27FC236}">
                    <a16:creationId xmlns:a16="http://schemas.microsoft.com/office/drawing/2014/main" id="{CA4C6511-3D7A-8834-9B75-66CCF113E8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095948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ttore 1 11">
                <a:extLst>
                  <a:ext uri="{FF2B5EF4-FFF2-40B4-BE49-F238E27FC236}">
                    <a16:creationId xmlns:a16="http://schemas.microsoft.com/office/drawing/2014/main" id="{AC9E69F5-39B3-40A5-F708-3399710916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811794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ttore 1 12">
                <a:extLst>
                  <a:ext uri="{FF2B5EF4-FFF2-40B4-BE49-F238E27FC236}">
                    <a16:creationId xmlns:a16="http://schemas.microsoft.com/office/drawing/2014/main" id="{A432F190-6FD5-52FC-7F7D-456244E135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163401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ttore 1 13">
                <a:extLst>
                  <a:ext uri="{FF2B5EF4-FFF2-40B4-BE49-F238E27FC236}">
                    <a16:creationId xmlns:a16="http://schemas.microsoft.com/office/drawing/2014/main" id="{3F60DFA6-0E8C-E220-4EDD-23F0D90EEA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52381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Connettore 1 5">
              <a:extLst>
                <a:ext uri="{FF2B5EF4-FFF2-40B4-BE49-F238E27FC236}">
                  <a16:creationId xmlns:a16="http://schemas.microsoft.com/office/drawing/2014/main" id="{B149100C-3699-CFAD-47C3-7CD367B4C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29588" y="4861202"/>
              <a:ext cx="13493224" cy="19424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9E39B51-5979-B7F0-A803-3433F2DFFC49}"/>
              </a:ext>
            </a:extLst>
          </p:cNvPr>
          <p:cNvSpPr txBox="1"/>
          <p:nvPr/>
        </p:nvSpPr>
        <p:spPr>
          <a:xfrm>
            <a:off x="776422" y="3837519"/>
            <a:ext cx="172217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Paper</a:t>
            </a:r>
          </a:p>
          <a:p>
            <a:pPr algn="l"/>
            <a:endParaRPr lang="it-IT" b="0" i="0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  <a:p>
            <a:r>
              <a:rPr lang="it-IT" sz="18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“</a:t>
            </a:r>
            <a:r>
              <a:rPr lang="it-IT" sz="18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Attention</a:t>
            </a:r>
            <a:r>
              <a:rPr lang="it-IT" sz="18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18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Is</a:t>
            </a:r>
            <a:r>
              <a:rPr lang="it-IT" sz="18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18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All</a:t>
            </a:r>
            <a:r>
              <a:rPr lang="it-IT" sz="18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18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You</a:t>
            </a:r>
            <a:r>
              <a:rPr lang="it-IT" sz="18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18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Need</a:t>
            </a:r>
            <a:r>
              <a:rPr lang="it-IT" sz="18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” </a:t>
            </a:r>
            <a:r>
              <a:rPr lang="it-IT" sz="1800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Vaswani</a:t>
            </a:r>
            <a:r>
              <a:rPr lang="en-GB" sz="1800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en-GB" sz="1800" dirty="0">
                <a:solidFill>
                  <a:srgbClr val="000000"/>
                </a:solidFill>
                <a:latin typeface="Footlight MT Light" panose="0204060206030A020304" pitchFamily="18" charset="77"/>
              </a:rPr>
              <a:t>et al., 2017</a:t>
            </a:r>
            <a:endParaRPr lang="it-IT" dirty="0">
              <a:latin typeface="Footlight MT Light" panose="0204060206030A020304" pitchFamily="18" charset="77"/>
            </a:endParaRPr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3FB6B09-60F1-3B9A-1D0A-A42A84C76898}"/>
              </a:ext>
            </a:extLst>
          </p:cNvPr>
          <p:cNvSpPr txBox="1">
            <a:spLocks/>
          </p:cNvSpPr>
          <p:nvPr/>
        </p:nvSpPr>
        <p:spPr>
          <a:xfrm>
            <a:off x="519112" y="3090355"/>
            <a:ext cx="1102630" cy="40442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Footlight MT Light" panose="0204060206030A020304" pitchFamily="18" charset="77"/>
              </a:rPr>
              <a:t>Example</a:t>
            </a:r>
          </a:p>
        </p:txBody>
      </p:sp>
      <p:sp>
        <p:nvSpPr>
          <p:cNvPr id="18" name="Segnaposto contenuto 2">
            <a:extLst>
              <a:ext uri="{FF2B5EF4-FFF2-40B4-BE49-F238E27FC236}">
                <a16:creationId xmlns:a16="http://schemas.microsoft.com/office/drawing/2014/main" id="{4F8B8C29-043B-BF7C-91CA-F36E63CBBE21}"/>
              </a:ext>
            </a:extLst>
          </p:cNvPr>
          <p:cNvSpPr txBox="1">
            <a:spLocks/>
          </p:cNvSpPr>
          <p:nvPr/>
        </p:nvSpPr>
        <p:spPr>
          <a:xfrm>
            <a:off x="761998" y="2080342"/>
            <a:ext cx="10608871" cy="10863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latin typeface="Footlight MT Light" panose="0204060206030A020304" pitchFamily="18" charset="77"/>
              </a:rPr>
              <a:t>Traditional metrics alone (ROUGE, </a:t>
            </a:r>
            <a:r>
              <a:rPr lang="en-GB" sz="2400" dirty="0" err="1">
                <a:latin typeface="Footlight MT Light" panose="0204060206030A020304" pitchFamily="18" charset="77"/>
              </a:rPr>
              <a:t>BERTScore</a:t>
            </a:r>
            <a:r>
              <a:rPr lang="en-GB" sz="2400" dirty="0">
                <a:latin typeface="Footlight MT Light" panose="0204060206030A020304" pitchFamily="18" charset="77"/>
              </a:rPr>
              <a:t>, etc.) are not enough</a:t>
            </a:r>
          </a:p>
          <a:p>
            <a:r>
              <a:rPr lang="en-GB" sz="2400" dirty="0">
                <a:latin typeface="Footlight MT Light" panose="0204060206030A020304" pitchFamily="18" charset="77"/>
              </a:rPr>
              <a:t>We want stories that are factual accurate, but have freedom in structure, for engagement and creativity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0E45359C-5AE3-E8C2-EB24-093AC03F75CD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612753" y="4744875"/>
            <a:ext cx="406273" cy="894"/>
          </a:xfrm>
          <a:prstGeom prst="straightConnector1">
            <a:avLst/>
          </a:prstGeom>
          <a:ln w="76200">
            <a:solidFill>
              <a:srgbClr val="466DCC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34EF98A1-00BB-4116-8361-63C8B45638F4}"/>
              </a:ext>
            </a:extLst>
          </p:cNvPr>
          <p:cNvCxnSpPr>
            <a:cxnSpLocks/>
          </p:cNvCxnSpPr>
          <p:nvPr/>
        </p:nvCxnSpPr>
        <p:spPr>
          <a:xfrm>
            <a:off x="6854218" y="4758071"/>
            <a:ext cx="406273" cy="894"/>
          </a:xfrm>
          <a:prstGeom prst="straightConnector1">
            <a:avLst/>
          </a:prstGeom>
          <a:ln w="76200">
            <a:solidFill>
              <a:srgbClr val="466DCC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904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3652C12D-394E-53A3-11B3-6F23CEE2C0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74D19F-04E0-32FF-E8F7-15CCE8BDF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Footlight MT Light" panose="0204060206030A020304" pitchFamily="18" charset="77"/>
              </a:rPr>
              <a:t>A new metric for AI-generated scientific stories:</a:t>
            </a:r>
            <a:br>
              <a:rPr lang="en-GB" dirty="0">
                <a:latin typeface="Footlight MT Light" panose="0204060206030A020304" pitchFamily="18" charset="77"/>
              </a:rPr>
            </a:br>
            <a:r>
              <a:rPr lang="en-GB" dirty="0">
                <a:latin typeface="Footlight MT Light" panose="0204060206030A020304" pitchFamily="18" charset="77"/>
              </a:rPr>
              <a:t>the </a:t>
            </a:r>
            <a:r>
              <a:rPr lang="en-GB" b="1" i="1" dirty="0" err="1">
                <a:latin typeface="Footlight MT Light" panose="0204060206030A020304" pitchFamily="18" charset="77"/>
              </a:rPr>
              <a:t>StoryScore</a:t>
            </a:r>
            <a:r>
              <a:rPr lang="en-GB" dirty="0">
                <a:latin typeface="Footlight MT Light" panose="0204060206030A020304" pitchFamily="18" charset="77"/>
              </a:rPr>
              <a:t> metric</a:t>
            </a:r>
          </a:p>
          <a:p>
            <a:endParaRPr lang="en-GB" dirty="0">
              <a:solidFill>
                <a:schemeClr val="bg1">
                  <a:lumMod val="65000"/>
                </a:schemeClr>
              </a:solidFill>
              <a:latin typeface="Footlight MT Light" panose="0204060206030A020304" pitchFamily="18" charset="77"/>
            </a:endParaRP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  <a:latin typeface="Footlight MT Light" panose="0204060206030A020304" pitchFamily="18" charset="77"/>
              </a:rPr>
              <a:t>A comparison of different hallucination detectors for AI-generated scientific stories</a:t>
            </a:r>
          </a:p>
          <a:p>
            <a:endParaRPr lang="en-GB" dirty="0">
              <a:latin typeface="Footlight MT Light" panose="0204060206030A020304" pitchFamily="18" charset="77"/>
            </a:endParaRP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D8B4424B-7F21-901A-5B64-15C8D11362DE}"/>
              </a:ext>
            </a:extLst>
          </p:cNvPr>
          <p:cNvSpPr txBox="1">
            <a:spLocks/>
          </p:cNvSpPr>
          <p:nvPr/>
        </p:nvSpPr>
        <p:spPr>
          <a:xfrm>
            <a:off x="1588258" y="465235"/>
            <a:ext cx="10515600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Our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Contribution</a:t>
            </a:r>
            <a:endParaRPr lang="en-GB" sz="4000" dirty="0"/>
          </a:p>
        </p:txBody>
      </p:sp>
      <p:pic>
        <p:nvPicPr>
          <p:cNvPr id="6" name="Immagine 5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1BA22237-66E3-5E1E-CC90-2A86264D4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0F881EA5-BD22-5251-E6F0-BC31075AEBCE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B4509336-F42E-DD8E-1398-1F029B84C767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9" name="Picture 4" descr="ECIR2026">
              <a:extLst>
                <a:ext uri="{FF2B5EF4-FFF2-40B4-BE49-F238E27FC236}">
                  <a16:creationId xmlns:a16="http://schemas.microsoft.com/office/drawing/2014/main" id="{14150CB7-E8C2-1921-CCE5-31C1ECCB45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30800C7D-0372-76C6-5462-933F3A03D61E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7DC2A8FE-0795-DF50-C6F1-B8708FBA38F9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12" name="Picture 2" descr="Espace presse | EURECOM">
                <a:extLst>
                  <a:ext uri="{FF2B5EF4-FFF2-40B4-BE49-F238E27FC236}">
                    <a16:creationId xmlns:a16="http://schemas.microsoft.com/office/drawing/2014/main" id="{3B73E515-2F99-EBD5-91CE-B559A05621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2D429A7F-3AAB-9AA5-4CE1-A1A9DBCA22DD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14" name="Segnaposto numero diapositiva 4">
            <a:extLst>
              <a:ext uri="{FF2B5EF4-FFF2-40B4-BE49-F238E27FC236}">
                <a16:creationId xmlns:a16="http://schemas.microsoft.com/office/drawing/2014/main" id="{A7D2B5D0-20B4-0585-EA45-7FC833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3642" y="6408925"/>
            <a:ext cx="446355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4</a:t>
            </a:fld>
            <a:endParaRPr lang="it-FR" dirty="0">
              <a:latin typeface="Footlight MT Light" panose="0204060206030A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4218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magine 60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BABCB03E-ECD4-9ABF-12F7-0F55035C54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48ABE35E-C57E-D2FC-9AD5-3297D7B71355}"/>
                  </a:ext>
                </a:extLst>
              </p:cNvPr>
              <p:cNvSpPr txBox="1"/>
              <p:nvPr/>
            </p:nvSpPr>
            <p:spPr>
              <a:xfrm>
                <a:off x="-624817" y="2407109"/>
                <a:ext cx="7714384" cy="25853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𝑆𝑡𝑜𝑟𝑦𝑆𝑐𝑜𝑟𝑒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𝐶𝑜𝑛𝑡𝑒𝑥𝑡𝑅𝑒𝑐𝑎𝑙𝑙</m:t>
                          </m:r>
                        </m:e>
                      </m:d>
                      <m:r>
                        <a:rPr lang="it-IT" sz="28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t-IT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                          </m:t>
                      </m:r>
                      <m:d>
                        <m:d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𝐵𝐸𝑅𝑇𝑆𝑐𝑜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</m:t>
                          </m:r>
                          <m:r>
                            <m:rPr>
                              <m:nor/>
                            </m:rPr>
                            <a:rPr lang="it-FR" sz="2800" dirty="0"/>
                            <m:t> </m:t>
                          </m:r>
                        </m:e>
                      </m:d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+ </m:t>
                      </m:r>
                    </m:oMath>
                  </m:oMathPara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b="0" dirty="0"/>
                  <a:t>           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𝑟𝑜𝑚𝑝𝑡𝐶𝑙𝑒𝑎𝑛𝑙𝑖𝑛𝑒𝑠𝑠</m:t>
                        </m:r>
                      </m:e>
                    </m:d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      	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𝑇𝑖𝑡𝑙𝑒𝐶𝑜𝑣𝑒𝑟𝑎𝑔𝑒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	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𝑁𝑜𝑅𝑒𝑑𝑢𝑛𝑑𝑎𝑛𝑐𝑦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it-IT" sz="280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		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𝑁𝑜𝐻𝑎𝑙𝑙𝑢𝑐𝑖𝑛𝑎𝑡𝑖𝑜𝑛</m:t>
                        </m:r>
                      </m:e>
                    </m:d>
                  </m:oMath>
                </a14:m>
                <a:endParaRPr lang="it-FR" sz="280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48ABE35E-C57E-D2FC-9AD5-3297D7B71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4817" y="2407109"/>
                <a:ext cx="7714384" cy="2585323"/>
              </a:xfrm>
              <a:prstGeom prst="rect">
                <a:avLst/>
              </a:prstGeom>
              <a:blipFill>
                <a:blip r:embed="rId4"/>
                <a:stretch>
                  <a:fillRect r="-1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umetto 2 21">
            <a:extLst>
              <a:ext uri="{FF2B5EF4-FFF2-40B4-BE49-F238E27FC236}">
                <a16:creationId xmlns:a16="http://schemas.microsoft.com/office/drawing/2014/main" id="{EE82D063-FB9F-3A8A-AFF8-42BB948EFDED}"/>
              </a:ext>
            </a:extLst>
          </p:cNvPr>
          <p:cNvSpPr/>
          <p:nvPr/>
        </p:nvSpPr>
        <p:spPr>
          <a:xfrm>
            <a:off x="7618393" y="555178"/>
            <a:ext cx="4082143" cy="5531056"/>
          </a:xfrm>
          <a:prstGeom prst="wedgeRoundRectCallout">
            <a:avLst>
              <a:gd name="adj1" fmla="val -84367"/>
              <a:gd name="adj2" fmla="val -12286"/>
              <a:gd name="adj3" fmla="val 16667"/>
            </a:avLst>
          </a:prstGeom>
          <a:solidFill>
            <a:schemeClr val="bg1">
              <a:alpha val="57159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 w="508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FR" dirty="0">
              <a:solidFill>
                <a:schemeClr val="tx1"/>
              </a:solidFill>
              <a:latin typeface="Footlight MT Light" panose="0204060206030A020304" pitchFamily="18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30FEC5B4-BE21-7B3F-1C05-5EA5F9ADE020}"/>
                  </a:ext>
                </a:extLst>
              </p:cNvPr>
              <p:cNvSpPr txBox="1"/>
              <p:nvPr/>
            </p:nvSpPr>
            <p:spPr>
              <a:xfrm>
                <a:off x="8008653" y="1096779"/>
                <a:ext cx="3301621" cy="4386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400" b="0" i="0" u="none" strike="noStrike" dirty="0" err="1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Context</a:t>
                </a:r>
                <a:r>
                  <a:rPr lang="it-IT" sz="2400" b="0" i="0" u="none" strike="noStrike" dirty="0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24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R</a:t>
                </a:r>
                <a:r>
                  <a:rPr lang="it-IT" sz="2400" b="0" i="0" u="none" strike="noStrike" dirty="0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ecall</a:t>
                </a:r>
                <a:endParaRPr lang="it-IT" sz="2400" dirty="0">
                  <a:solidFill>
                    <a:srgbClr val="31489F"/>
                  </a:solidFill>
                  <a:latin typeface="Footlight MT Light" panose="0204060206030A020304" pitchFamily="18" charset="77"/>
                </a:endParaRPr>
              </a:p>
              <a:p>
                <a:pPr algn="ctr"/>
                <a:endParaRPr lang="it-IT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pPr algn="ctr"/>
                <a:endParaRPr lang="it-IT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Measures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vocabulary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overlap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between</a:t>
                </a:r>
                <a:r>
                  <a:rPr lang="it-IT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paper and story</a:t>
                </a:r>
                <a:endParaRPr lang="it-IT" sz="1800" i="1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800" i="1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𝐽𝑎𝑐𝑐𝑎𝑟𝑑</m:t>
                    </m:r>
                    <m:r>
                      <a:rPr lang="it-IT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𝑟𝑒𝑐𝑎𝑙𝑙</m:t>
                    </m:r>
                    <m:r>
                      <a:rPr lang="it-IT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it-IT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it-IT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𝑡𝑜𝑘𝑒𝑛𝑠</m:t>
                        </m:r>
                        <m:r>
                          <a:rPr lang="it-IT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it-IT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𝑠𝑡𝑜𝑟𝑦</m:t>
                        </m:r>
                        <m:r>
                          <a:rPr lang="it-IT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∩ </m:t>
                        </m:r>
                        <m:r>
                          <a:rPr lang="it-IT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𝑡𝑜𝑘𝑒𝑛𝑠</m:t>
                        </m:r>
                        <m:r>
                          <a:rPr lang="it-IT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it-IT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𝑝𝑎𝑝𝑒𝑟</m:t>
                        </m:r>
                        <m:r>
                          <a:rPr lang="it-IT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it-IT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it-IT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𝑡𝑜𝑘𝑒𝑛𝑠</m:t>
                        </m:r>
                        <m:r>
                          <a:rPr lang="it-IT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it-IT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𝑝𝑎𝑝𝑒𝑟</m:t>
                        </m:r>
                        <m:r>
                          <a:rPr lang="it-IT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it-IT" sz="1800" dirty="0">
                            <a:solidFill>
                              <a:schemeClr val="tx1"/>
                            </a:solidFill>
                            <a:latin typeface="Footlight MT Light" panose="0204060206030A020304" pitchFamily="18" charset="77"/>
                          </a:rPr>
                          <m:t> </m:t>
                        </m:r>
                      </m:den>
                    </m:f>
                    <m:r>
                      <a:rPr lang="it-IT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it-IT" dirty="0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</a:br>
                <a:endParaRPr lang="it-IT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r>
                  <a:rPr lang="it-IT" dirty="0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→ i.e.: </a:t>
                </a:r>
                <a:r>
                  <a:rPr lang="it-IT" dirty="0" err="1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how</a:t>
                </a:r>
                <a:r>
                  <a:rPr lang="it-IT" dirty="0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 </a:t>
                </a:r>
                <a:r>
                  <a:rPr lang="it-IT" dirty="0" err="1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much</a:t>
                </a:r>
                <a:r>
                  <a:rPr lang="it-IT" dirty="0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 of the </a:t>
                </a:r>
                <a:r>
                  <a:rPr lang="it-IT" dirty="0" err="1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paper's</a:t>
                </a:r>
                <a:r>
                  <a:rPr lang="it-IT" dirty="0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 </a:t>
                </a:r>
                <a:r>
                  <a:rPr lang="it-IT" dirty="0" err="1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vocabulary</a:t>
                </a:r>
                <a:r>
                  <a:rPr lang="it-IT" dirty="0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 </a:t>
                </a:r>
                <a:r>
                  <a:rPr lang="it-IT" dirty="0" err="1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is</a:t>
                </a:r>
                <a:r>
                  <a:rPr lang="it-IT" dirty="0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 </a:t>
                </a:r>
                <a:r>
                  <a:rPr lang="it-IT" dirty="0" err="1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reused</a:t>
                </a:r>
                <a:r>
                  <a:rPr lang="it-IT" dirty="0">
                    <a:solidFill>
                      <a:schemeClr val="tx1"/>
                    </a:solidFill>
                    <a:latin typeface="Footlight MT Light" panose="0204060206030A020304" pitchFamily="18" charset="77"/>
                  </a:rPr>
                  <a:t> in the story.</a:t>
                </a:r>
              </a:p>
              <a:p>
                <a:endParaRPr lang="it-IT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endParaRPr lang="it-IT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pPr algn="ctr"/>
                <a:r>
                  <a:rPr lang="it-IT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Scale: 0–1</a:t>
                </a:r>
              </a:p>
              <a:p>
                <a:pPr algn="ctr"/>
                <a:r>
                  <a:rPr lang="it-IT" sz="11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High </a:t>
                </a:r>
                <a:r>
                  <a:rPr lang="it-IT" sz="11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value</a:t>
                </a:r>
                <a:r>
                  <a:rPr lang="it-IT" sz="11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 = </a:t>
                </a:r>
                <a:r>
                  <a:rPr lang="it-IT" sz="1100" b="0" i="0" u="none" strike="noStrike" dirty="0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large </a:t>
                </a:r>
                <a:r>
                  <a:rPr lang="it-IT" sz="1100" b="0" i="0" u="none" strike="noStrike" dirty="0" err="1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lexical</a:t>
                </a:r>
                <a:r>
                  <a:rPr lang="it-IT" sz="1100" b="0" i="0" u="none" strike="noStrike" dirty="0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 coverage of the paper</a:t>
                </a:r>
                <a:endParaRPr lang="it-FR" dirty="0">
                  <a:solidFill>
                    <a:srgbClr val="31489F"/>
                  </a:solidFill>
                  <a:latin typeface="Footlight MT Light" panose="0204060206030A020304" pitchFamily="18" charset="77"/>
                </a:endParaRPr>
              </a:p>
            </p:txBody>
          </p:sp>
        </mc:Choice>
        <mc:Fallback xmlns="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30FEC5B4-BE21-7B3F-1C05-5EA5F9ADE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653" y="1096779"/>
                <a:ext cx="3301621" cy="4386842"/>
              </a:xfrm>
              <a:prstGeom prst="rect">
                <a:avLst/>
              </a:prstGeom>
              <a:blipFill>
                <a:blip r:embed="rId5"/>
                <a:stretch>
                  <a:fillRect l="-1533" t="-1153" r="-3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uppo 22">
            <a:extLst>
              <a:ext uri="{FF2B5EF4-FFF2-40B4-BE49-F238E27FC236}">
                <a16:creationId xmlns:a16="http://schemas.microsoft.com/office/drawing/2014/main" id="{47193A1C-4334-5437-BF3A-1150CCBD1D17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1FFD241B-A5A0-417B-1B38-26F4B566513E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9" name="Picture 4" descr="ECIR2026">
              <a:extLst>
                <a:ext uri="{FF2B5EF4-FFF2-40B4-BE49-F238E27FC236}">
                  <a16:creationId xmlns:a16="http://schemas.microsoft.com/office/drawing/2014/main" id="{5E307438-A9AC-70EF-81C9-C8B25016D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7FC89D73-B478-375C-CD3B-CD213A03AB26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31" name="Gruppo 30">
              <a:extLst>
                <a:ext uri="{FF2B5EF4-FFF2-40B4-BE49-F238E27FC236}">
                  <a16:creationId xmlns:a16="http://schemas.microsoft.com/office/drawing/2014/main" id="{B9DA03EE-4031-E071-417F-3AF038F57A8B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32" name="Picture 2" descr="Espace presse | EURECOM">
                <a:extLst>
                  <a:ext uri="{FF2B5EF4-FFF2-40B4-BE49-F238E27FC236}">
                    <a16:creationId xmlns:a16="http://schemas.microsoft.com/office/drawing/2014/main" id="{B44749B9-4F16-3D61-496E-ADCEACAE04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id="{65CB5488-E99C-F2BA-37BA-B2BD2EFC5469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34" name="Segnaposto numero diapositiva 4">
            <a:extLst>
              <a:ext uri="{FF2B5EF4-FFF2-40B4-BE49-F238E27FC236}">
                <a16:creationId xmlns:a16="http://schemas.microsoft.com/office/drawing/2014/main" id="{A57C707E-97F9-AD19-E17F-31F22EDDF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8721" y="6408925"/>
            <a:ext cx="341276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5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sp>
        <p:nvSpPr>
          <p:cNvPr id="35" name="Segnaposto contenuto 2">
            <a:extLst>
              <a:ext uri="{FF2B5EF4-FFF2-40B4-BE49-F238E27FC236}">
                <a16:creationId xmlns:a16="http://schemas.microsoft.com/office/drawing/2014/main" id="{A09F49DA-BFA9-7FC7-11A9-FD801F6B8DC9}"/>
              </a:ext>
            </a:extLst>
          </p:cNvPr>
          <p:cNvSpPr txBox="1">
            <a:spLocks/>
          </p:cNvSpPr>
          <p:nvPr/>
        </p:nvSpPr>
        <p:spPr>
          <a:xfrm>
            <a:off x="762000" y="1318459"/>
            <a:ext cx="3931920" cy="4234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latin typeface="Footlight MT Light" panose="0204060206030A020304" pitchFamily="18" charset="77"/>
              </a:rPr>
              <a:t>Composite evaluation metric</a:t>
            </a:r>
          </a:p>
        </p:txBody>
      </p: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C2185E64-660D-A904-43C4-912D726919DF}"/>
              </a:ext>
            </a:extLst>
          </p:cNvPr>
          <p:cNvGrpSpPr/>
          <p:nvPr/>
        </p:nvGrpSpPr>
        <p:grpSpPr>
          <a:xfrm>
            <a:off x="7889545" y="907132"/>
            <a:ext cx="3573378" cy="4854089"/>
            <a:chOff x="7889545" y="907132"/>
            <a:chExt cx="3573378" cy="4854089"/>
          </a:xfrm>
        </p:grpSpPr>
        <p:grpSp>
          <p:nvGrpSpPr>
            <p:cNvPr id="37" name="Gruppo 36">
              <a:extLst>
                <a:ext uri="{FF2B5EF4-FFF2-40B4-BE49-F238E27FC236}">
                  <a16:creationId xmlns:a16="http://schemas.microsoft.com/office/drawing/2014/main" id="{121C5B8F-AF29-FA49-5B2B-F6E4A8EE7A04}"/>
                </a:ext>
              </a:extLst>
            </p:cNvPr>
            <p:cNvGrpSpPr/>
            <p:nvPr/>
          </p:nvGrpSpPr>
          <p:grpSpPr>
            <a:xfrm>
              <a:off x="7923087" y="907132"/>
              <a:ext cx="3539836" cy="2521868"/>
              <a:chOff x="-529588" y="458896"/>
              <a:chExt cx="13493224" cy="4421730"/>
            </a:xfrm>
          </p:grpSpPr>
          <p:grpSp>
            <p:nvGrpSpPr>
              <p:cNvPr id="38" name="Gruppo 37">
                <a:extLst>
                  <a:ext uri="{FF2B5EF4-FFF2-40B4-BE49-F238E27FC236}">
                    <a16:creationId xmlns:a16="http://schemas.microsoft.com/office/drawing/2014/main" id="{A15E1E7A-EDF9-5A3A-34E3-EE7418F7164E}"/>
                  </a:ext>
                </a:extLst>
              </p:cNvPr>
              <p:cNvGrpSpPr/>
              <p:nvPr/>
            </p:nvGrpSpPr>
            <p:grpSpPr>
              <a:xfrm>
                <a:off x="-529588" y="458896"/>
                <a:ext cx="13493224" cy="3866125"/>
                <a:chOff x="3036795" y="2028495"/>
                <a:chExt cx="6360458" cy="2507921"/>
              </a:xfrm>
            </p:grpSpPr>
            <p:cxnSp>
              <p:nvCxnSpPr>
                <p:cNvPr id="40" name="Connettore 1 39">
                  <a:extLst>
                    <a:ext uri="{FF2B5EF4-FFF2-40B4-BE49-F238E27FC236}">
                      <a16:creationId xmlns:a16="http://schemas.microsoft.com/office/drawing/2014/main" id="{CF62235C-A390-B1AC-0D55-947EBEA841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456363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nettore 1 40">
                  <a:extLst>
                    <a:ext uri="{FF2B5EF4-FFF2-40B4-BE49-F238E27FC236}">
                      <a16:creationId xmlns:a16="http://schemas.microsoft.com/office/drawing/2014/main" id="{E7EF4BBB-571E-19EC-2B2F-7922336B75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028495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nettore 1 41">
                  <a:extLst>
                    <a:ext uri="{FF2B5EF4-FFF2-40B4-BE49-F238E27FC236}">
                      <a16:creationId xmlns:a16="http://schemas.microsoft.com/office/drawing/2014/main" id="{0B38B8FF-DDAB-F3DF-6D2E-0E1327B716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383926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Connettore 1 42">
                  <a:extLst>
                    <a:ext uri="{FF2B5EF4-FFF2-40B4-BE49-F238E27FC236}">
                      <a16:creationId xmlns:a16="http://schemas.microsoft.com/office/drawing/2014/main" id="{143F61BD-D0A0-2E0D-79F1-B6A5136049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735533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Connettore 1 43">
                  <a:extLst>
                    <a:ext uri="{FF2B5EF4-FFF2-40B4-BE49-F238E27FC236}">
                      <a16:creationId xmlns:a16="http://schemas.microsoft.com/office/drawing/2014/main" id="{2B4028FF-2A75-41AC-54A5-F9E8DF872D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095948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Connettore 1 44">
                  <a:extLst>
                    <a:ext uri="{FF2B5EF4-FFF2-40B4-BE49-F238E27FC236}">
                      <a16:creationId xmlns:a16="http://schemas.microsoft.com/office/drawing/2014/main" id="{48E0C701-73A1-8050-E74F-B7F32F2A20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811794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Connettore 1 45">
                  <a:extLst>
                    <a:ext uri="{FF2B5EF4-FFF2-40B4-BE49-F238E27FC236}">
                      <a16:creationId xmlns:a16="http://schemas.microsoft.com/office/drawing/2014/main" id="{64656057-BC9C-58ED-0B82-C1F7D2F824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4163401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Connettore 1 46">
                  <a:extLst>
                    <a:ext uri="{FF2B5EF4-FFF2-40B4-BE49-F238E27FC236}">
                      <a16:creationId xmlns:a16="http://schemas.microsoft.com/office/drawing/2014/main" id="{98070F0D-B3DF-A0FF-A5E9-080677DBD6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4523816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" name="Connettore 1 38">
                <a:extLst>
                  <a:ext uri="{FF2B5EF4-FFF2-40B4-BE49-F238E27FC236}">
                    <a16:creationId xmlns:a16="http://schemas.microsoft.com/office/drawing/2014/main" id="{18A68DAC-CB1E-004D-041E-B6A4099131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529588" y="4861202"/>
                <a:ext cx="13493224" cy="19424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uppo 48">
              <a:extLst>
                <a:ext uri="{FF2B5EF4-FFF2-40B4-BE49-F238E27FC236}">
                  <a16:creationId xmlns:a16="http://schemas.microsoft.com/office/drawing/2014/main" id="{4B9A850B-B6A2-3AC5-BE7C-63F566ADF3E7}"/>
                </a:ext>
              </a:extLst>
            </p:cNvPr>
            <p:cNvGrpSpPr/>
            <p:nvPr/>
          </p:nvGrpSpPr>
          <p:grpSpPr>
            <a:xfrm>
              <a:off x="7889545" y="3413416"/>
              <a:ext cx="3539836" cy="2347805"/>
              <a:chOff x="3036795" y="2028495"/>
              <a:chExt cx="6360458" cy="2507921"/>
            </a:xfrm>
          </p:grpSpPr>
          <p:cxnSp>
            <p:nvCxnSpPr>
              <p:cNvPr id="52" name="Connettore 1 51">
                <a:extLst>
                  <a:ext uri="{FF2B5EF4-FFF2-40B4-BE49-F238E27FC236}">
                    <a16:creationId xmlns:a16="http://schemas.microsoft.com/office/drawing/2014/main" id="{22CF715B-2572-ED37-E8F3-662009045D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45636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nettore 1 52">
                <a:extLst>
                  <a:ext uri="{FF2B5EF4-FFF2-40B4-BE49-F238E27FC236}">
                    <a16:creationId xmlns:a16="http://schemas.microsoft.com/office/drawing/2014/main" id="{0E4EF219-520B-9D1A-D379-6F13AE5579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028495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nettore 1 53">
                <a:extLst>
                  <a:ext uri="{FF2B5EF4-FFF2-40B4-BE49-F238E27FC236}">
                    <a16:creationId xmlns:a16="http://schemas.microsoft.com/office/drawing/2014/main" id="{2E4E7200-F740-D5BA-D6DA-89BF3F3F9A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38392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nettore 1 54">
                <a:extLst>
                  <a:ext uri="{FF2B5EF4-FFF2-40B4-BE49-F238E27FC236}">
                    <a16:creationId xmlns:a16="http://schemas.microsoft.com/office/drawing/2014/main" id="{CF1A2155-0DCE-D6CC-91A0-9E20109320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73553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nettore 1 55">
                <a:extLst>
                  <a:ext uri="{FF2B5EF4-FFF2-40B4-BE49-F238E27FC236}">
                    <a16:creationId xmlns:a16="http://schemas.microsoft.com/office/drawing/2014/main" id="{42A778B6-CBF6-074E-92E6-2470BFDD51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095948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nettore 1 56">
                <a:extLst>
                  <a:ext uri="{FF2B5EF4-FFF2-40B4-BE49-F238E27FC236}">
                    <a16:creationId xmlns:a16="http://schemas.microsoft.com/office/drawing/2014/main" id="{8AB35651-45D0-855F-B284-D1842A50F0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811794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nettore 1 57">
                <a:extLst>
                  <a:ext uri="{FF2B5EF4-FFF2-40B4-BE49-F238E27FC236}">
                    <a16:creationId xmlns:a16="http://schemas.microsoft.com/office/drawing/2014/main" id="{D2103577-F43D-6607-B613-BDCF84D7CD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163401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nettore 1 58">
                <a:extLst>
                  <a:ext uri="{FF2B5EF4-FFF2-40B4-BE49-F238E27FC236}">
                    <a16:creationId xmlns:a16="http://schemas.microsoft.com/office/drawing/2014/main" id="{6F33C241-AA81-DF16-C277-DB1DE9E539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52381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Titolo 1">
            <a:extLst>
              <a:ext uri="{FF2B5EF4-FFF2-40B4-BE49-F238E27FC236}">
                <a16:creationId xmlns:a16="http://schemas.microsoft.com/office/drawing/2014/main" id="{D2897456-7932-3BF2-D1AE-A373A2690C3A}"/>
              </a:ext>
            </a:extLst>
          </p:cNvPr>
          <p:cNvSpPr txBox="1">
            <a:spLocks/>
          </p:cNvSpPr>
          <p:nvPr/>
        </p:nvSpPr>
        <p:spPr>
          <a:xfrm>
            <a:off x="1611735" y="430629"/>
            <a:ext cx="2698376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StoryScore</a:t>
            </a:r>
            <a:endParaRPr lang="en-GB" sz="4000" dirty="0"/>
          </a:p>
        </p:txBody>
      </p:sp>
      <p:pic>
        <p:nvPicPr>
          <p:cNvPr id="63" name="Immagine 62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FCC0A829-8A82-7AC9-5F4B-6DC78A4AB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43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magine 55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4697C224-F57A-2623-D610-60A021A5A01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p:sp>
        <p:nvSpPr>
          <p:cNvPr id="21" name="Fumetto 2 20">
            <a:extLst>
              <a:ext uri="{FF2B5EF4-FFF2-40B4-BE49-F238E27FC236}">
                <a16:creationId xmlns:a16="http://schemas.microsoft.com/office/drawing/2014/main" id="{0C0CE5DA-FCD6-5580-5BC6-54581CD59612}"/>
              </a:ext>
            </a:extLst>
          </p:cNvPr>
          <p:cNvSpPr/>
          <p:nvPr/>
        </p:nvSpPr>
        <p:spPr>
          <a:xfrm>
            <a:off x="7618393" y="555178"/>
            <a:ext cx="4082143" cy="5531056"/>
          </a:xfrm>
          <a:prstGeom prst="wedgeRoundRectCallout">
            <a:avLst>
              <a:gd name="adj1" fmla="val -91054"/>
              <a:gd name="adj2" fmla="val -4144"/>
              <a:gd name="adj3" fmla="val 16667"/>
            </a:avLst>
          </a:prstGeom>
          <a:solidFill>
            <a:schemeClr val="bg1">
              <a:alpha val="57159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 w="508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FR" dirty="0">
              <a:solidFill>
                <a:schemeClr val="tx1"/>
              </a:solidFill>
              <a:latin typeface="Footlight MT Light" panose="0204060206030A020304" pitchFamily="18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C3655B5-1D74-9874-5922-7D2A7B8AE1C8}"/>
                  </a:ext>
                </a:extLst>
              </p:cNvPr>
              <p:cNvSpPr txBox="1"/>
              <p:nvPr/>
            </p:nvSpPr>
            <p:spPr>
              <a:xfrm>
                <a:off x="-624817" y="2407109"/>
                <a:ext cx="7714384" cy="25853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𝑆𝑡𝑜𝑟𝑦𝑆𝑐𝑜𝑟𝑒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𝐶𝑜𝑛𝑡𝑒𝑥𝑡𝑅𝑒𝑐𝑎𝑙𝑙</m:t>
                          </m:r>
                        </m:e>
                      </m:d>
                      <m:r>
                        <a:rPr lang="it-IT" sz="28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t-IT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                          </m:t>
                      </m:r>
                      <m:d>
                        <m:d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𝐵𝐸𝑅𝑇𝑆𝑐𝑜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</m:t>
                          </m:r>
                          <m:r>
                            <m:rPr>
                              <m:nor/>
                            </m:rPr>
                            <a:rPr lang="it-FR" sz="2800" dirty="0"/>
                            <m:t> </m:t>
                          </m:r>
                        </m:e>
                      </m:d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+ </m:t>
                      </m:r>
                    </m:oMath>
                  </m:oMathPara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b="0" dirty="0"/>
                  <a:t>           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𝑟𝑜𝑚𝑝𝑡𝐶𝑙𝑒𝑎𝑛𝑙𝑖𝑛𝑒𝑠𝑠</m:t>
                        </m:r>
                      </m:e>
                    </m:d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      	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𝑇𝑖𝑡𝑙𝑒𝐶𝑜𝑣𝑒𝑟𝑎𝑔𝑒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	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𝑁𝑜𝑅𝑒𝑑𝑢𝑛𝑑𝑎𝑛𝑐𝑦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it-IT" sz="280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		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𝑁𝑜𝐻𝑎𝑙𝑙𝑢𝑐𝑖𝑛𝑎𝑡𝑖𝑜𝑛</m:t>
                        </m:r>
                      </m:e>
                    </m:d>
                  </m:oMath>
                </a14:m>
                <a:endParaRPr lang="it-FR" sz="28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C3655B5-1D74-9874-5922-7D2A7B8AE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4817" y="2407109"/>
                <a:ext cx="7714384" cy="2585323"/>
              </a:xfrm>
              <a:prstGeom prst="rect">
                <a:avLst/>
              </a:prstGeom>
              <a:blipFill>
                <a:blip r:embed="rId5"/>
                <a:stretch>
                  <a:fillRect r="-1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9E16494-E4AE-A9D1-1393-004AED331F66}"/>
              </a:ext>
            </a:extLst>
          </p:cNvPr>
          <p:cNvSpPr txBox="1"/>
          <p:nvPr/>
        </p:nvSpPr>
        <p:spPr>
          <a:xfrm>
            <a:off x="7897501" y="1053275"/>
            <a:ext cx="359100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0" i="0" u="none" strike="noStrike" dirty="0" err="1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BERTScore</a:t>
            </a:r>
            <a:endParaRPr lang="it-IT" sz="2400" b="0" i="0" u="none" strike="noStrike" dirty="0">
              <a:solidFill>
                <a:srgbClr val="31489F"/>
              </a:solidFill>
              <a:effectLst/>
              <a:latin typeface="Footlight MT Light" panose="0204060206030A020304" pitchFamily="18" charset="77"/>
            </a:endParaRPr>
          </a:p>
          <a:p>
            <a:pPr algn="ctr"/>
            <a:r>
              <a:rPr lang="it-IT" sz="2000" b="0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(semantic </a:t>
            </a:r>
            <a:r>
              <a:rPr lang="it-IT" sz="2000" b="0" i="0" u="none" strike="noStrike" dirty="0" err="1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similarity</a:t>
            </a:r>
            <a:r>
              <a:rPr lang="it-IT" sz="2000" b="0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)</a:t>
            </a:r>
          </a:p>
          <a:p>
            <a:pPr algn="ctr"/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algn="ctr"/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tx1"/>
                </a:solidFill>
                <a:latin typeface="Footlight MT Light" panose="0204060206030A020304" pitchFamily="18" charset="77"/>
              </a:rPr>
              <a:t>Measures</a:t>
            </a:r>
            <a:r>
              <a:rPr lang="it-IT" dirty="0">
                <a:solidFill>
                  <a:schemeClr val="tx1"/>
                </a:solidFill>
                <a:latin typeface="Footlight MT Light" panose="0204060206030A020304" pitchFamily="18" charset="77"/>
              </a:rPr>
              <a:t> semantic </a:t>
            </a:r>
            <a:r>
              <a:rPr lang="it-IT" dirty="0" err="1">
                <a:solidFill>
                  <a:schemeClr val="tx1"/>
                </a:solidFill>
                <a:latin typeface="Footlight MT Light" panose="0204060206030A020304" pitchFamily="18" charset="77"/>
              </a:rPr>
              <a:t>alignment</a:t>
            </a:r>
            <a:r>
              <a:rPr lang="it-IT" dirty="0">
                <a:solidFill>
                  <a:schemeClr val="tx1"/>
                </a:solidFill>
                <a:latin typeface="Footlight MT Light" panose="0204060206030A020304" pitchFamily="18" charset="77"/>
              </a:rPr>
              <a:t> with the source paper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tx1"/>
                </a:solidFill>
                <a:latin typeface="Footlight MT Light" panose="0204060206030A020304" pitchFamily="18" charset="77"/>
              </a:rPr>
              <a:t>BERTScore</a:t>
            </a:r>
            <a:r>
              <a:rPr lang="it-IT" dirty="0">
                <a:solidFill>
                  <a:schemeClr val="tx1"/>
                </a:solidFill>
                <a:latin typeface="Footlight MT Light" panose="0204060206030A020304" pitchFamily="18" charset="77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Footlight MT Light" panose="0204060206030A020304" pitchFamily="18" charset="77"/>
              </a:rPr>
              <a:t>between</a:t>
            </a:r>
            <a:r>
              <a:rPr lang="it-IT" dirty="0">
                <a:solidFill>
                  <a:schemeClr val="tx1"/>
                </a:solidFill>
                <a:latin typeface="Footlight MT Light" panose="0204060206030A020304" pitchFamily="18" charset="77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Footlight MT Light" panose="0204060206030A020304" pitchFamily="18" charset="77"/>
              </a:rPr>
              <a:t>concatenated</a:t>
            </a:r>
            <a:r>
              <a:rPr lang="it-IT" dirty="0">
                <a:solidFill>
                  <a:schemeClr val="tx1"/>
                </a:solidFill>
                <a:latin typeface="Footlight MT Light" panose="0204060206030A020304" pitchFamily="18" charset="77"/>
              </a:rPr>
              <a:t> story </a:t>
            </a:r>
            <a:r>
              <a:rPr lang="it-IT" dirty="0" err="1">
                <a:solidFill>
                  <a:schemeClr val="tx1"/>
                </a:solidFill>
                <a:latin typeface="Footlight MT Light" panose="0204060206030A020304" pitchFamily="18" charset="77"/>
              </a:rPr>
              <a:t>sections</a:t>
            </a:r>
            <a:r>
              <a:rPr lang="it-IT" dirty="0">
                <a:solidFill>
                  <a:schemeClr val="tx1"/>
                </a:solidFill>
                <a:latin typeface="Footlight MT Light" panose="0204060206030A020304" pitchFamily="18" charset="77"/>
              </a:rPr>
              <a:t> and paper </a:t>
            </a:r>
            <a:r>
              <a:rPr lang="it-IT" dirty="0" err="1">
                <a:solidFill>
                  <a:schemeClr val="tx1"/>
                </a:solidFill>
                <a:latin typeface="Footlight MT Light" panose="0204060206030A020304" pitchFamily="18" charset="77"/>
              </a:rPr>
              <a:t>context</a:t>
            </a:r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1"/>
                </a:solidFill>
                <a:latin typeface="Footlight MT Light" panose="0204060206030A020304" pitchFamily="18" charset="77"/>
              </a:rPr>
              <a:t>Model: </a:t>
            </a:r>
            <a:r>
              <a:rPr lang="it-IT" dirty="0" err="1">
                <a:solidFill>
                  <a:schemeClr val="tx1"/>
                </a:solidFill>
                <a:latin typeface="Footlight MT Light" panose="0204060206030A020304" pitchFamily="18" charset="77"/>
              </a:rPr>
              <a:t>roberta</a:t>
            </a:r>
            <a:r>
              <a:rPr lang="it-IT" dirty="0">
                <a:solidFill>
                  <a:schemeClr val="tx1"/>
                </a:solidFill>
                <a:latin typeface="Footlight MT Light" panose="0204060206030A020304" pitchFamily="18" charset="77"/>
              </a:rPr>
              <a:t>-large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algn="ctr"/>
            <a:r>
              <a:rPr lang="it-IT" dirty="0">
                <a:solidFill>
                  <a:srgbClr val="31489F"/>
                </a:solidFill>
                <a:latin typeface="Footlight MT Light" panose="0204060206030A020304" pitchFamily="18" charset="77"/>
              </a:rPr>
              <a:t>Scale: 0–1</a:t>
            </a:r>
          </a:p>
          <a:p>
            <a:pPr algn="ctr"/>
            <a:r>
              <a:rPr lang="it-IT" sz="1200" dirty="0">
                <a:solidFill>
                  <a:srgbClr val="31489F"/>
                </a:solidFill>
                <a:latin typeface="Footlight MT Light" panose="0204060206030A020304" pitchFamily="18" charset="77"/>
              </a:rPr>
              <a:t>High </a:t>
            </a:r>
            <a:r>
              <a:rPr lang="it-IT" sz="1200" dirty="0" err="1">
                <a:solidFill>
                  <a:srgbClr val="31489F"/>
                </a:solidFill>
                <a:latin typeface="Footlight MT Light" panose="0204060206030A020304" pitchFamily="18" charset="77"/>
              </a:rPr>
              <a:t>value</a:t>
            </a:r>
            <a:r>
              <a:rPr lang="it-IT" sz="1200" dirty="0">
                <a:solidFill>
                  <a:srgbClr val="31489F"/>
                </a:solidFill>
                <a:latin typeface="Footlight MT Light" panose="0204060206030A020304" pitchFamily="18" charset="77"/>
              </a:rPr>
              <a:t> = story </a:t>
            </a:r>
            <a:r>
              <a:rPr lang="it-IT" sz="1200" dirty="0" err="1">
                <a:solidFill>
                  <a:srgbClr val="31489F"/>
                </a:solidFill>
                <a:latin typeface="Footlight MT Light" panose="0204060206030A020304" pitchFamily="18" charset="77"/>
              </a:rPr>
              <a:t>semantically</a:t>
            </a:r>
            <a:r>
              <a:rPr lang="it-IT" sz="1200" dirty="0">
                <a:solidFill>
                  <a:srgbClr val="31489F"/>
                </a:solidFill>
                <a:latin typeface="Footlight MT Light" panose="0204060206030A020304" pitchFamily="18" charset="77"/>
              </a:rPr>
              <a:t> close to the paper</a:t>
            </a:r>
          </a:p>
          <a:p>
            <a:pPr algn="ctr"/>
            <a:endParaRPr lang="it-FR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endParaRPr lang="it-FR" dirty="0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0923AC29-30B1-4AF9-294C-3E3EACF6E317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D5624570-053F-A58A-7DD7-B03243DD0385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5" name="Picture 4" descr="ECIR2026">
              <a:extLst>
                <a:ext uri="{FF2B5EF4-FFF2-40B4-BE49-F238E27FC236}">
                  <a16:creationId xmlns:a16="http://schemas.microsoft.com/office/drawing/2014/main" id="{54DF7B87-CAF0-3E05-9987-422397272A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FA41D11E-4D2F-0B24-3DE3-B1845E6F97A8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D6E75E9E-140D-41EB-451F-C219040D2C05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29" name="Picture 2" descr="Espace presse | EURECOM">
                <a:extLst>
                  <a:ext uri="{FF2B5EF4-FFF2-40B4-BE49-F238E27FC236}">
                    <a16:creationId xmlns:a16="http://schemas.microsoft.com/office/drawing/2014/main" id="{617A6621-65C1-8899-F1AC-76EA67708E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0FD87A30-1E0F-DA7D-7C9C-B4F6CE4652AF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31" name="Segnaposto numero diapositiva 4">
            <a:extLst>
              <a:ext uri="{FF2B5EF4-FFF2-40B4-BE49-F238E27FC236}">
                <a16:creationId xmlns:a16="http://schemas.microsoft.com/office/drawing/2014/main" id="{8076FC13-B48D-6058-F019-C8C8CABB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8721" y="6408925"/>
            <a:ext cx="341276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6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sp>
        <p:nvSpPr>
          <p:cNvPr id="32" name="Segnaposto contenuto 2">
            <a:extLst>
              <a:ext uri="{FF2B5EF4-FFF2-40B4-BE49-F238E27FC236}">
                <a16:creationId xmlns:a16="http://schemas.microsoft.com/office/drawing/2014/main" id="{F42EB39E-21BA-623A-B202-CF33F41AB7EC}"/>
              </a:ext>
            </a:extLst>
          </p:cNvPr>
          <p:cNvSpPr txBox="1">
            <a:spLocks/>
          </p:cNvSpPr>
          <p:nvPr/>
        </p:nvSpPr>
        <p:spPr>
          <a:xfrm>
            <a:off x="762000" y="1318459"/>
            <a:ext cx="3931920" cy="4234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latin typeface="Footlight MT Light" panose="0204060206030A020304" pitchFamily="18" charset="77"/>
              </a:rPr>
              <a:t>Composite evaluation metric</a:t>
            </a: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A80DA39B-9469-E9DF-BD33-2E6EBA042CB5}"/>
              </a:ext>
            </a:extLst>
          </p:cNvPr>
          <p:cNvGrpSpPr/>
          <p:nvPr/>
        </p:nvGrpSpPr>
        <p:grpSpPr>
          <a:xfrm>
            <a:off x="7889545" y="907132"/>
            <a:ext cx="3573378" cy="4854089"/>
            <a:chOff x="7889545" y="907132"/>
            <a:chExt cx="3573378" cy="4854089"/>
          </a:xfrm>
        </p:grpSpPr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EADFC1A8-BE07-6F36-E23C-4A8764714D95}"/>
                </a:ext>
              </a:extLst>
            </p:cNvPr>
            <p:cNvGrpSpPr/>
            <p:nvPr/>
          </p:nvGrpSpPr>
          <p:grpSpPr>
            <a:xfrm>
              <a:off x="7923087" y="907132"/>
              <a:ext cx="3539836" cy="2521868"/>
              <a:chOff x="-529588" y="458896"/>
              <a:chExt cx="13493224" cy="4421730"/>
            </a:xfrm>
          </p:grpSpPr>
          <p:grpSp>
            <p:nvGrpSpPr>
              <p:cNvPr id="45" name="Gruppo 44">
                <a:extLst>
                  <a:ext uri="{FF2B5EF4-FFF2-40B4-BE49-F238E27FC236}">
                    <a16:creationId xmlns:a16="http://schemas.microsoft.com/office/drawing/2014/main" id="{54EAC7AB-5376-736E-52C1-BEF41587E51C}"/>
                  </a:ext>
                </a:extLst>
              </p:cNvPr>
              <p:cNvGrpSpPr/>
              <p:nvPr/>
            </p:nvGrpSpPr>
            <p:grpSpPr>
              <a:xfrm>
                <a:off x="-529588" y="458896"/>
                <a:ext cx="13493224" cy="3866125"/>
                <a:chOff x="3036795" y="2028495"/>
                <a:chExt cx="6360458" cy="2507921"/>
              </a:xfrm>
            </p:grpSpPr>
            <p:cxnSp>
              <p:nvCxnSpPr>
                <p:cNvPr id="47" name="Connettore 1 46">
                  <a:extLst>
                    <a:ext uri="{FF2B5EF4-FFF2-40B4-BE49-F238E27FC236}">
                      <a16:creationId xmlns:a16="http://schemas.microsoft.com/office/drawing/2014/main" id="{887C7126-EC8B-7457-8F3B-C44E788153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456363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Connettore 1 47">
                  <a:extLst>
                    <a:ext uri="{FF2B5EF4-FFF2-40B4-BE49-F238E27FC236}">
                      <a16:creationId xmlns:a16="http://schemas.microsoft.com/office/drawing/2014/main" id="{F2CEC826-CE84-C118-59B8-7E14A128B3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028495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Connettore 1 48">
                  <a:extLst>
                    <a:ext uri="{FF2B5EF4-FFF2-40B4-BE49-F238E27FC236}">
                      <a16:creationId xmlns:a16="http://schemas.microsoft.com/office/drawing/2014/main" id="{7C8D3CDE-282B-21A1-56B2-95773394FD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383926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ttore 1 50">
                  <a:extLst>
                    <a:ext uri="{FF2B5EF4-FFF2-40B4-BE49-F238E27FC236}">
                      <a16:creationId xmlns:a16="http://schemas.microsoft.com/office/drawing/2014/main" id="{817BA753-7987-A9E5-53BE-305EEAB638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735533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nettore 1 51">
                  <a:extLst>
                    <a:ext uri="{FF2B5EF4-FFF2-40B4-BE49-F238E27FC236}">
                      <a16:creationId xmlns:a16="http://schemas.microsoft.com/office/drawing/2014/main" id="{21D008CB-705F-74F9-8B79-43C180832C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095948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nettore 1 52">
                  <a:extLst>
                    <a:ext uri="{FF2B5EF4-FFF2-40B4-BE49-F238E27FC236}">
                      <a16:creationId xmlns:a16="http://schemas.microsoft.com/office/drawing/2014/main" id="{04ED8F06-C9F6-F787-C703-E89F732B9D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811794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nettore 1 53">
                  <a:extLst>
                    <a:ext uri="{FF2B5EF4-FFF2-40B4-BE49-F238E27FC236}">
                      <a16:creationId xmlns:a16="http://schemas.microsoft.com/office/drawing/2014/main" id="{5D2BF867-F424-B6A3-6FBA-1C314F4A33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4163401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nettore 1 54">
                  <a:extLst>
                    <a:ext uri="{FF2B5EF4-FFF2-40B4-BE49-F238E27FC236}">
                      <a16:creationId xmlns:a16="http://schemas.microsoft.com/office/drawing/2014/main" id="{564547B5-30D5-3822-DF6A-4B3C288CD0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4523816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Connettore 1 45">
                <a:extLst>
                  <a:ext uri="{FF2B5EF4-FFF2-40B4-BE49-F238E27FC236}">
                    <a16:creationId xmlns:a16="http://schemas.microsoft.com/office/drawing/2014/main" id="{140AB235-AC6D-EBF3-0DDA-8EB322AF6F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529588" y="4861202"/>
                <a:ext cx="13493224" cy="19424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uppo 35">
              <a:extLst>
                <a:ext uri="{FF2B5EF4-FFF2-40B4-BE49-F238E27FC236}">
                  <a16:creationId xmlns:a16="http://schemas.microsoft.com/office/drawing/2014/main" id="{FE4F77CE-D666-E787-D37F-02DB7B8141ED}"/>
                </a:ext>
              </a:extLst>
            </p:cNvPr>
            <p:cNvGrpSpPr/>
            <p:nvPr/>
          </p:nvGrpSpPr>
          <p:grpSpPr>
            <a:xfrm>
              <a:off x="7889545" y="3413416"/>
              <a:ext cx="3539836" cy="2347805"/>
              <a:chOff x="3036795" y="2028495"/>
              <a:chExt cx="6360458" cy="2507921"/>
            </a:xfrm>
          </p:grpSpPr>
          <p:cxnSp>
            <p:nvCxnSpPr>
              <p:cNvPr id="37" name="Connettore 1 36">
                <a:extLst>
                  <a:ext uri="{FF2B5EF4-FFF2-40B4-BE49-F238E27FC236}">
                    <a16:creationId xmlns:a16="http://schemas.microsoft.com/office/drawing/2014/main" id="{5E129CC4-32AF-6194-54BC-373C577D27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45636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ttore 1 37">
                <a:extLst>
                  <a:ext uri="{FF2B5EF4-FFF2-40B4-BE49-F238E27FC236}">
                    <a16:creationId xmlns:a16="http://schemas.microsoft.com/office/drawing/2014/main" id="{06B68934-E10E-2008-8E79-4FC3F9A28C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028495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ttore 1 38">
                <a:extLst>
                  <a:ext uri="{FF2B5EF4-FFF2-40B4-BE49-F238E27FC236}">
                    <a16:creationId xmlns:a16="http://schemas.microsoft.com/office/drawing/2014/main" id="{9FE83D8F-A4F5-74C3-DBEA-D8939A5368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38392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ttore 1 39">
                <a:extLst>
                  <a:ext uri="{FF2B5EF4-FFF2-40B4-BE49-F238E27FC236}">
                    <a16:creationId xmlns:a16="http://schemas.microsoft.com/office/drawing/2014/main" id="{588F5316-AA52-A26C-415C-192D43F7AC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73553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nettore 1 40">
                <a:extLst>
                  <a:ext uri="{FF2B5EF4-FFF2-40B4-BE49-F238E27FC236}">
                    <a16:creationId xmlns:a16="http://schemas.microsoft.com/office/drawing/2014/main" id="{1C02A3FD-BFE3-0724-A060-F9AFE13A6C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095948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nettore 1 41">
                <a:extLst>
                  <a:ext uri="{FF2B5EF4-FFF2-40B4-BE49-F238E27FC236}">
                    <a16:creationId xmlns:a16="http://schemas.microsoft.com/office/drawing/2014/main" id="{ECEFFCA0-6751-1786-4752-4E5D8B57E4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811794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ttore 1 42">
                <a:extLst>
                  <a:ext uri="{FF2B5EF4-FFF2-40B4-BE49-F238E27FC236}">
                    <a16:creationId xmlns:a16="http://schemas.microsoft.com/office/drawing/2014/main" id="{CDA0760E-35FA-E94E-0CC8-4502C9A6C1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163401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ttore 1 43">
                <a:extLst>
                  <a:ext uri="{FF2B5EF4-FFF2-40B4-BE49-F238E27FC236}">
                    <a16:creationId xmlns:a16="http://schemas.microsoft.com/office/drawing/2014/main" id="{AC558DA9-0FA4-3317-A8B6-C5BBFF23AF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52381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itolo 1">
            <a:extLst>
              <a:ext uri="{FF2B5EF4-FFF2-40B4-BE49-F238E27FC236}">
                <a16:creationId xmlns:a16="http://schemas.microsoft.com/office/drawing/2014/main" id="{96DC52E2-3E70-B1A3-8BA6-C15BB9412A17}"/>
              </a:ext>
            </a:extLst>
          </p:cNvPr>
          <p:cNvSpPr txBox="1">
            <a:spLocks/>
          </p:cNvSpPr>
          <p:nvPr/>
        </p:nvSpPr>
        <p:spPr>
          <a:xfrm>
            <a:off x="1611735" y="430629"/>
            <a:ext cx="2698376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StoryScore</a:t>
            </a:r>
            <a:endParaRPr lang="en-GB" sz="4000" dirty="0"/>
          </a:p>
        </p:txBody>
      </p:sp>
      <p:pic>
        <p:nvPicPr>
          <p:cNvPr id="58" name="Immagine 57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C75C432C-E1D1-B1F8-2ED0-E13780A63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3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magine 55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CE5B05D5-F190-192F-BEF2-57BC531BB6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p:sp>
        <p:nvSpPr>
          <p:cNvPr id="21" name="Fumetto 2 20">
            <a:extLst>
              <a:ext uri="{FF2B5EF4-FFF2-40B4-BE49-F238E27FC236}">
                <a16:creationId xmlns:a16="http://schemas.microsoft.com/office/drawing/2014/main" id="{0C0CE5DA-FCD6-5580-5BC6-54581CD59612}"/>
              </a:ext>
            </a:extLst>
          </p:cNvPr>
          <p:cNvSpPr/>
          <p:nvPr/>
        </p:nvSpPr>
        <p:spPr>
          <a:xfrm>
            <a:off x="7618393" y="555178"/>
            <a:ext cx="4082143" cy="5531056"/>
          </a:xfrm>
          <a:prstGeom prst="wedgeRoundRectCallout">
            <a:avLst>
              <a:gd name="adj1" fmla="val -63513"/>
              <a:gd name="adj2" fmla="val 2902"/>
              <a:gd name="adj3" fmla="val 16667"/>
            </a:avLst>
          </a:prstGeom>
          <a:solidFill>
            <a:schemeClr val="bg1">
              <a:alpha val="57159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 w="508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FR" dirty="0">
              <a:solidFill>
                <a:schemeClr val="tx1"/>
              </a:solidFill>
              <a:latin typeface="Footlight MT Light" panose="0204060206030A020304" pitchFamily="18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C3655B5-1D74-9874-5922-7D2A7B8AE1C8}"/>
                  </a:ext>
                </a:extLst>
              </p:cNvPr>
              <p:cNvSpPr txBox="1"/>
              <p:nvPr/>
            </p:nvSpPr>
            <p:spPr>
              <a:xfrm>
                <a:off x="-624817" y="2407109"/>
                <a:ext cx="7714384" cy="25853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𝑆𝑡𝑜𝑟𝑦𝑆𝑐𝑜𝑟𝑒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𝐶𝑜𝑛𝑡𝑒𝑥𝑡𝑅𝑒𝑐𝑎𝑙𝑙</m:t>
                          </m:r>
                        </m:e>
                      </m:d>
                      <m:r>
                        <a:rPr lang="it-IT" sz="28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t-IT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                          </m:t>
                      </m:r>
                      <m:d>
                        <m:d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𝐵𝐸𝑅𝑇𝑆𝑐𝑜𝑟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m:rPr>
                              <m:nor/>
                            </m:rPr>
                            <a:rPr lang="it-FR" sz="2800" dirty="0"/>
                            <m:t> </m:t>
                          </m:r>
                        </m:e>
                      </m:d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+ </m:t>
                      </m:r>
                    </m:oMath>
                  </m:oMathPara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b="0" dirty="0"/>
                  <a:t>           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𝑟𝑜𝑚𝑝𝑡𝐶𝑙𝑒𝑎𝑛𝑙𝑖𝑛𝑒𝑠𝑠</m:t>
                        </m:r>
                      </m:e>
                    </m:d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      	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𝑇𝑖𝑡𝑙𝑒𝐶𝑜𝑣𝑒𝑟𝑎𝑔𝑒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	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𝑁𝑜𝑅𝑒𝑑𝑢𝑛𝑑𝑎𝑛𝑐𝑦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it-IT" sz="280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		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𝑁𝑜𝐻𝑎𝑙𝑙𝑢𝑐𝑖𝑛𝑎𝑡𝑖𝑜𝑛</m:t>
                        </m:r>
                      </m:e>
                    </m:d>
                  </m:oMath>
                </a14:m>
                <a:endParaRPr lang="it-FR" sz="28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C3655B5-1D74-9874-5922-7D2A7B8AE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4817" y="2407109"/>
                <a:ext cx="7714384" cy="2585323"/>
              </a:xfrm>
              <a:prstGeom prst="rect">
                <a:avLst/>
              </a:prstGeom>
              <a:blipFill>
                <a:blip r:embed="rId5"/>
                <a:stretch>
                  <a:fillRect r="-1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9E16494-E4AE-A9D1-1393-004AED331F66}"/>
              </a:ext>
            </a:extLst>
          </p:cNvPr>
          <p:cNvSpPr txBox="1"/>
          <p:nvPr/>
        </p:nvSpPr>
        <p:spPr>
          <a:xfrm>
            <a:off x="7930289" y="1104646"/>
            <a:ext cx="359100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0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Prompt </a:t>
            </a:r>
            <a:r>
              <a:rPr lang="it-IT" sz="2400" b="0" i="0" u="none" strike="noStrike" dirty="0" err="1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Cleanliness</a:t>
            </a:r>
            <a:endParaRPr lang="it-IT" sz="2400" b="0" i="0" u="none" strike="noStrike" dirty="0">
              <a:solidFill>
                <a:srgbClr val="31489F"/>
              </a:solidFill>
              <a:effectLst/>
              <a:latin typeface="Footlight MT Light" panose="0204060206030A020304" pitchFamily="18" charset="77"/>
            </a:endParaRPr>
          </a:p>
          <a:p>
            <a:pPr algn="ctr"/>
            <a:r>
              <a:rPr lang="it-IT" sz="2000" b="0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(Prompt Leakage Control)</a:t>
            </a:r>
          </a:p>
          <a:p>
            <a:pPr algn="ctr"/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algn="ctr"/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Footlight MT Light" panose="0204060206030A020304" pitchFamily="18" charset="77"/>
              </a:rPr>
              <a:t>Verifies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absence</a:t>
            </a:r>
            <a:r>
              <a:rPr lang="it-IT" dirty="0">
                <a:latin typeface="Footlight MT Light" panose="0204060206030A020304" pitchFamily="18" charset="77"/>
              </a:rPr>
              <a:t> of prompt or control </a:t>
            </a:r>
            <a:r>
              <a:rPr lang="it-IT" dirty="0" err="1">
                <a:latin typeface="Footlight MT Light" panose="0204060206030A020304" pitchFamily="18" charset="77"/>
              </a:rPr>
              <a:t>artefacts</a:t>
            </a:r>
            <a:r>
              <a:rPr lang="it-IT" dirty="0">
                <a:latin typeface="Footlight MT Light" panose="0204060206030A020304" pitchFamily="18" charset="77"/>
              </a:rPr>
              <a:t> in the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Footlight MT Light" panose="0204060206030A020304" pitchFamily="18" charset="77"/>
              </a:rPr>
              <a:t>Flags </a:t>
            </a:r>
            <a:r>
              <a:rPr lang="it-IT" dirty="0" err="1">
                <a:latin typeface="Footlight MT Light" panose="0204060206030A020304" pitchFamily="18" charset="77"/>
              </a:rPr>
              <a:t>residual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instructions</a:t>
            </a:r>
            <a:r>
              <a:rPr lang="it-IT" dirty="0">
                <a:latin typeface="Footlight MT Light" panose="0204060206030A020304" pitchFamily="18" charset="77"/>
              </a:rPr>
              <a:t>, schema markers, or </a:t>
            </a:r>
            <a:r>
              <a:rPr lang="it-IT" dirty="0" err="1">
                <a:latin typeface="Footlight MT Light" panose="0204060206030A020304" pitchFamily="18" charset="77"/>
              </a:rPr>
              <a:t>malformed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structure</a:t>
            </a:r>
            <a:endParaRPr lang="it-IT" dirty="0"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algn="ctr"/>
            <a:r>
              <a:rPr lang="it-IT" dirty="0">
                <a:solidFill>
                  <a:srgbClr val="31489F"/>
                </a:solidFill>
                <a:latin typeface="Footlight MT Light" panose="0204060206030A020304" pitchFamily="18" charset="77"/>
              </a:rPr>
              <a:t>Scale: 0–1</a:t>
            </a:r>
          </a:p>
          <a:p>
            <a:pPr algn="ctr"/>
            <a:r>
              <a:rPr lang="it-IT" sz="1200" dirty="0">
                <a:solidFill>
                  <a:srgbClr val="31489F"/>
                </a:solidFill>
                <a:latin typeface="Footlight MT Light" panose="0204060206030A020304" pitchFamily="18" charset="77"/>
              </a:rPr>
              <a:t>High </a:t>
            </a:r>
            <a:r>
              <a:rPr lang="it-IT" sz="1200" dirty="0" err="1">
                <a:solidFill>
                  <a:srgbClr val="31489F"/>
                </a:solidFill>
                <a:latin typeface="Footlight MT Light" panose="0204060206030A020304" pitchFamily="18" charset="77"/>
              </a:rPr>
              <a:t>value</a:t>
            </a:r>
            <a:r>
              <a:rPr lang="it-IT" sz="1200" dirty="0">
                <a:solidFill>
                  <a:srgbClr val="31489F"/>
                </a:solidFill>
                <a:latin typeface="Footlight MT Light" panose="0204060206030A020304" pitchFamily="18" charset="77"/>
              </a:rPr>
              <a:t> = </a:t>
            </a:r>
            <a:r>
              <a:rPr lang="it-IT" sz="1200" b="0" i="0" u="none" strike="noStrike" dirty="0" err="1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correct</a:t>
            </a:r>
            <a:r>
              <a:rPr lang="it-IT" sz="1200" b="0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1200" b="0" i="0" u="none" strike="noStrike" dirty="0" err="1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constraint</a:t>
            </a:r>
            <a:r>
              <a:rPr lang="it-IT" sz="1200" b="0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 following</a:t>
            </a:r>
            <a:endParaRPr lang="it-IT" sz="1200" dirty="0">
              <a:solidFill>
                <a:srgbClr val="31489F"/>
              </a:solidFill>
              <a:latin typeface="Footlight MT Light" panose="0204060206030A020304" pitchFamily="18" charset="77"/>
            </a:endParaRPr>
          </a:p>
          <a:p>
            <a:pPr algn="ctr"/>
            <a:endParaRPr lang="it-FR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endParaRPr lang="it-FR" dirty="0">
              <a:latin typeface="Footlight MT Light" panose="0204060206030A020304" pitchFamily="18" charset="77"/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B16807F7-9A04-41D7-D35E-C787227D209E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CBF5C44F-6547-E1F0-C43B-56B19A8BBC53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5" name="Picture 4" descr="ECIR2026">
              <a:extLst>
                <a:ext uri="{FF2B5EF4-FFF2-40B4-BE49-F238E27FC236}">
                  <a16:creationId xmlns:a16="http://schemas.microsoft.com/office/drawing/2014/main" id="{E9DFEF6F-0810-0114-B7DD-E72AF592AC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4435B125-5B1C-65E6-B02F-797D0EAC43FF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05750AE5-BFDA-FE64-1996-5780A3B44112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29" name="Picture 2" descr="Espace presse | EURECOM">
                <a:extLst>
                  <a:ext uri="{FF2B5EF4-FFF2-40B4-BE49-F238E27FC236}">
                    <a16:creationId xmlns:a16="http://schemas.microsoft.com/office/drawing/2014/main" id="{51163C95-3558-2DBB-EF8D-717BC19EF8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D93A79F6-FCD0-86DF-051E-2654B23D3499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31" name="Segnaposto numero diapositiva 4">
            <a:extLst>
              <a:ext uri="{FF2B5EF4-FFF2-40B4-BE49-F238E27FC236}">
                <a16:creationId xmlns:a16="http://schemas.microsoft.com/office/drawing/2014/main" id="{C18AEB01-7F79-56BE-8A86-0C006F1D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8721" y="6408925"/>
            <a:ext cx="341276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7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sp>
        <p:nvSpPr>
          <p:cNvPr id="32" name="Segnaposto contenuto 2">
            <a:extLst>
              <a:ext uri="{FF2B5EF4-FFF2-40B4-BE49-F238E27FC236}">
                <a16:creationId xmlns:a16="http://schemas.microsoft.com/office/drawing/2014/main" id="{F3CF32E8-7086-C368-6ED6-CD1115EA1548}"/>
              </a:ext>
            </a:extLst>
          </p:cNvPr>
          <p:cNvSpPr txBox="1">
            <a:spLocks/>
          </p:cNvSpPr>
          <p:nvPr/>
        </p:nvSpPr>
        <p:spPr>
          <a:xfrm>
            <a:off x="762000" y="1318459"/>
            <a:ext cx="3931920" cy="4234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latin typeface="Footlight MT Light" panose="0204060206030A020304" pitchFamily="18" charset="77"/>
              </a:rPr>
              <a:t>Composite evaluation metric</a:t>
            </a: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6B64F4F5-B234-60C4-187E-3891535A40DF}"/>
              </a:ext>
            </a:extLst>
          </p:cNvPr>
          <p:cNvGrpSpPr/>
          <p:nvPr/>
        </p:nvGrpSpPr>
        <p:grpSpPr>
          <a:xfrm>
            <a:off x="7889545" y="907132"/>
            <a:ext cx="3573378" cy="4854089"/>
            <a:chOff x="7889545" y="907132"/>
            <a:chExt cx="3573378" cy="4854089"/>
          </a:xfrm>
        </p:grpSpPr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5C1F7FAE-75FF-796D-A39E-B5961D45988A}"/>
                </a:ext>
              </a:extLst>
            </p:cNvPr>
            <p:cNvGrpSpPr/>
            <p:nvPr/>
          </p:nvGrpSpPr>
          <p:grpSpPr>
            <a:xfrm>
              <a:off x="7923087" y="907132"/>
              <a:ext cx="3539836" cy="2521868"/>
              <a:chOff x="-529588" y="458896"/>
              <a:chExt cx="13493224" cy="4421730"/>
            </a:xfrm>
          </p:grpSpPr>
          <p:grpSp>
            <p:nvGrpSpPr>
              <p:cNvPr id="45" name="Gruppo 44">
                <a:extLst>
                  <a:ext uri="{FF2B5EF4-FFF2-40B4-BE49-F238E27FC236}">
                    <a16:creationId xmlns:a16="http://schemas.microsoft.com/office/drawing/2014/main" id="{90A9C838-B01A-217C-F7E3-3FC10E3D8723}"/>
                  </a:ext>
                </a:extLst>
              </p:cNvPr>
              <p:cNvGrpSpPr/>
              <p:nvPr/>
            </p:nvGrpSpPr>
            <p:grpSpPr>
              <a:xfrm>
                <a:off x="-529588" y="458896"/>
                <a:ext cx="13493224" cy="3866125"/>
                <a:chOff x="3036795" y="2028495"/>
                <a:chExt cx="6360458" cy="2507921"/>
              </a:xfrm>
            </p:grpSpPr>
            <p:cxnSp>
              <p:nvCxnSpPr>
                <p:cNvPr id="47" name="Connettore 1 46">
                  <a:extLst>
                    <a:ext uri="{FF2B5EF4-FFF2-40B4-BE49-F238E27FC236}">
                      <a16:creationId xmlns:a16="http://schemas.microsoft.com/office/drawing/2014/main" id="{A2E3A1F9-2481-2425-22B6-98FC619B98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456363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Connettore 1 47">
                  <a:extLst>
                    <a:ext uri="{FF2B5EF4-FFF2-40B4-BE49-F238E27FC236}">
                      <a16:creationId xmlns:a16="http://schemas.microsoft.com/office/drawing/2014/main" id="{112C48A3-60B3-8386-88F5-C6339A5176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028495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Connettore 1 48">
                  <a:extLst>
                    <a:ext uri="{FF2B5EF4-FFF2-40B4-BE49-F238E27FC236}">
                      <a16:creationId xmlns:a16="http://schemas.microsoft.com/office/drawing/2014/main" id="{2F7D5F6A-1E02-2979-AFC0-8E2E673CCD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383926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ttore 1 50">
                  <a:extLst>
                    <a:ext uri="{FF2B5EF4-FFF2-40B4-BE49-F238E27FC236}">
                      <a16:creationId xmlns:a16="http://schemas.microsoft.com/office/drawing/2014/main" id="{C5328F4F-98C5-92D0-2543-A5D65BB5C6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735533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nettore 1 51">
                  <a:extLst>
                    <a:ext uri="{FF2B5EF4-FFF2-40B4-BE49-F238E27FC236}">
                      <a16:creationId xmlns:a16="http://schemas.microsoft.com/office/drawing/2014/main" id="{0924AD41-2918-6466-B690-156B952650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095948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nettore 1 52">
                  <a:extLst>
                    <a:ext uri="{FF2B5EF4-FFF2-40B4-BE49-F238E27FC236}">
                      <a16:creationId xmlns:a16="http://schemas.microsoft.com/office/drawing/2014/main" id="{2D74F1E2-0E3E-BCD5-6BA4-9552598A1F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811794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nettore 1 53">
                  <a:extLst>
                    <a:ext uri="{FF2B5EF4-FFF2-40B4-BE49-F238E27FC236}">
                      <a16:creationId xmlns:a16="http://schemas.microsoft.com/office/drawing/2014/main" id="{81E24DD4-0144-175B-9DE5-C837C6A38A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4163401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nettore 1 54">
                  <a:extLst>
                    <a:ext uri="{FF2B5EF4-FFF2-40B4-BE49-F238E27FC236}">
                      <a16:creationId xmlns:a16="http://schemas.microsoft.com/office/drawing/2014/main" id="{275E5648-6B5E-96DB-69FA-5A9DD54AF8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4523816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Connettore 1 45">
                <a:extLst>
                  <a:ext uri="{FF2B5EF4-FFF2-40B4-BE49-F238E27FC236}">
                    <a16:creationId xmlns:a16="http://schemas.microsoft.com/office/drawing/2014/main" id="{EC096847-D02E-E17E-C679-B3B6E49715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529588" y="4861202"/>
                <a:ext cx="13493224" cy="19424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uppo 35">
              <a:extLst>
                <a:ext uri="{FF2B5EF4-FFF2-40B4-BE49-F238E27FC236}">
                  <a16:creationId xmlns:a16="http://schemas.microsoft.com/office/drawing/2014/main" id="{337BB9A8-6AF6-79E1-F521-90348A4F3F3C}"/>
                </a:ext>
              </a:extLst>
            </p:cNvPr>
            <p:cNvGrpSpPr/>
            <p:nvPr/>
          </p:nvGrpSpPr>
          <p:grpSpPr>
            <a:xfrm>
              <a:off x="7889545" y="3413416"/>
              <a:ext cx="3539836" cy="2347805"/>
              <a:chOff x="3036795" y="2028495"/>
              <a:chExt cx="6360458" cy="2507921"/>
            </a:xfrm>
          </p:grpSpPr>
          <p:cxnSp>
            <p:nvCxnSpPr>
              <p:cNvPr id="37" name="Connettore 1 36">
                <a:extLst>
                  <a:ext uri="{FF2B5EF4-FFF2-40B4-BE49-F238E27FC236}">
                    <a16:creationId xmlns:a16="http://schemas.microsoft.com/office/drawing/2014/main" id="{6AC9C8AC-0F40-F36E-F216-AD9BD20E5E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45636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ttore 1 37">
                <a:extLst>
                  <a:ext uri="{FF2B5EF4-FFF2-40B4-BE49-F238E27FC236}">
                    <a16:creationId xmlns:a16="http://schemas.microsoft.com/office/drawing/2014/main" id="{A77C0944-0C5E-3F73-DB9C-BF40E9D51E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028495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ttore 1 38">
                <a:extLst>
                  <a:ext uri="{FF2B5EF4-FFF2-40B4-BE49-F238E27FC236}">
                    <a16:creationId xmlns:a16="http://schemas.microsoft.com/office/drawing/2014/main" id="{5217B34F-D636-9ED0-08FA-A04133596E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38392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ttore 1 39">
                <a:extLst>
                  <a:ext uri="{FF2B5EF4-FFF2-40B4-BE49-F238E27FC236}">
                    <a16:creationId xmlns:a16="http://schemas.microsoft.com/office/drawing/2014/main" id="{46EDDED4-C6AD-2421-2A65-1639112467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73553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nettore 1 40">
                <a:extLst>
                  <a:ext uri="{FF2B5EF4-FFF2-40B4-BE49-F238E27FC236}">
                    <a16:creationId xmlns:a16="http://schemas.microsoft.com/office/drawing/2014/main" id="{040E47E7-70AB-1477-1314-3569A66E3C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095948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nettore 1 41">
                <a:extLst>
                  <a:ext uri="{FF2B5EF4-FFF2-40B4-BE49-F238E27FC236}">
                    <a16:creationId xmlns:a16="http://schemas.microsoft.com/office/drawing/2014/main" id="{D7942116-24A3-5894-3706-EE2836477D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811794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ttore 1 42">
                <a:extLst>
                  <a:ext uri="{FF2B5EF4-FFF2-40B4-BE49-F238E27FC236}">
                    <a16:creationId xmlns:a16="http://schemas.microsoft.com/office/drawing/2014/main" id="{7FE11654-3F81-997F-9292-35690C8A73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163401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ttore 1 43">
                <a:extLst>
                  <a:ext uri="{FF2B5EF4-FFF2-40B4-BE49-F238E27FC236}">
                    <a16:creationId xmlns:a16="http://schemas.microsoft.com/office/drawing/2014/main" id="{43C5DAF7-F9B9-7B17-EFE3-73D34726CD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52381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itolo 1">
            <a:extLst>
              <a:ext uri="{FF2B5EF4-FFF2-40B4-BE49-F238E27FC236}">
                <a16:creationId xmlns:a16="http://schemas.microsoft.com/office/drawing/2014/main" id="{6C3CD08A-8289-8D2E-0CF4-4A3E8A100E4F}"/>
              </a:ext>
            </a:extLst>
          </p:cNvPr>
          <p:cNvSpPr txBox="1">
            <a:spLocks/>
          </p:cNvSpPr>
          <p:nvPr/>
        </p:nvSpPr>
        <p:spPr>
          <a:xfrm>
            <a:off x="1611735" y="430629"/>
            <a:ext cx="2698376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StoryScore</a:t>
            </a:r>
            <a:endParaRPr lang="en-GB" sz="4000" dirty="0"/>
          </a:p>
        </p:txBody>
      </p:sp>
      <p:pic>
        <p:nvPicPr>
          <p:cNvPr id="58" name="Immagine 57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810B886F-D863-6D47-3AA0-54669253E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08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magine 55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F74634A9-4CA0-3462-5D09-A3B8FB3D115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p:sp>
        <p:nvSpPr>
          <p:cNvPr id="21" name="Fumetto 2 20">
            <a:extLst>
              <a:ext uri="{FF2B5EF4-FFF2-40B4-BE49-F238E27FC236}">
                <a16:creationId xmlns:a16="http://schemas.microsoft.com/office/drawing/2014/main" id="{0C0CE5DA-FCD6-5580-5BC6-54581CD59612}"/>
              </a:ext>
            </a:extLst>
          </p:cNvPr>
          <p:cNvSpPr/>
          <p:nvPr/>
        </p:nvSpPr>
        <p:spPr>
          <a:xfrm>
            <a:off x="7618393" y="555178"/>
            <a:ext cx="4082143" cy="5531056"/>
          </a:xfrm>
          <a:prstGeom prst="wedgeRoundRectCallout">
            <a:avLst>
              <a:gd name="adj1" fmla="val -81397"/>
              <a:gd name="adj2" fmla="val 11278"/>
              <a:gd name="adj3" fmla="val 16667"/>
            </a:avLst>
          </a:prstGeom>
          <a:solidFill>
            <a:schemeClr val="bg1">
              <a:alpha val="57159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 w="508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FR" dirty="0">
              <a:solidFill>
                <a:schemeClr val="tx1"/>
              </a:solidFill>
              <a:latin typeface="Footlight MT Light" panose="0204060206030A020304" pitchFamily="18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7E3AD60D-38FB-96A9-AB2B-38CB707758AA}"/>
                  </a:ext>
                </a:extLst>
              </p:cNvPr>
              <p:cNvSpPr txBox="1"/>
              <p:nvPr/>
            </p:nvSpPr>
            <p:spPr>
              <a:xfrm>
                <a:off x="-624817" y="2407109"/>
                <a:ext cx="7714384" cy="25853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𝑆𝑡𝑜𝑟𝑦𝑆𝑐𝑜𝑟𝑒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𝐶𝑜𝑛𝑡𝑒𝑥𝑡𝑅𝑒𝑐𝑎𝑙𝑙</m:t>
                          </m:r>
                        </m:e>
                      </m:d>
                      <m:r>
                        <a:rPr lang="it-IT" sz="28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t-IT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                          </m:t>
                      </m:r>
                      <m:d>
                        <m:d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𝐵𝐸𝑅𝑇𝑆𝑐𝑜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</m:t>
                          </m:r>
                          <m:r>
                            <m:rPr>
                              <m:nor/>
                            </m:rPr>
                            <a:rPr lang="it-FR" sz="2800" dirty="0"/>
                            <m:t> </m:t>
                          </m:r>
                        </m:e>
                      </m:d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+ </m:t>
                      </m:r>
                    </m:oMath>
                  </m:oMathPara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b="0" dirty="0"/>
                  <a:t>           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𝑟𝑜𝑚𝑝𝑡𝐶𝑙𝑒𝑎𝑛𝑙𝑖𝑛𝑒𝑠𝑠</m:t>
                        </m:r>
                      </m:e>
                    </m:d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      	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𝑇𝑖𝑡𝑙𝑒𝐶𝑜𝑣𝑒𝑟𝑎𝑔𝑒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	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𝑁𝑜𝑅𝑒𝑑𝑢𝑛𝑑𝑎𝑛𝑐𝑦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it-IT" sz="280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		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𝑁𝑜𝐻𝑎𝑙𝑙𝑢𝑐𝑖𝑛𝑎𝑡𝑖𝑜𝑛</m:t>
                        </m:r>
                      </m:e>
                    </m:d>
                  </m:oMath>
                </a14:m>
                <a:endParaRPr lang="it-FR" sz="2800" dirty="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7E3AD60D-38FB-96A9-AB2B-38CB70775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4817" y="2407109"/>
                <a:ext cx="7714384" cy="2585323"/>
              </a:xfrm>
              <a:prstGeom prst="rect">
                <a:avLst/>
              </a:prstGeom>
              <a:blipFill>
                <a:blip r:embed="rId5"/>
                <a:stretch>
                  <a:fillRect r="-1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po 2">
            <a:extLst>
              <a:ext uri="{FF2B5EF4-FFF2-40B4-BE49-F238E27FC236}">
                <a16:creationId xmlns:a16="http://schemas.microsoft.com/office/drawing/2014/main" id="{5F5EBFB6-D5C4-EF3D-0FC9-D6B062D8C13F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96B43A56-222A-58AF-1EB6-1F563FC73616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6" name="Picture 4" descr="ECIR2026">
              <a:extLst>
                <a:ext uri="{FF2B5EF4-FFF2-40B4-BE49-F238E27FC236}">
                  <a16:creationId xmlns:a16="http://schemas.microsoft.com/office/drawing/2014/main" id="{F9E29297-9FA9-AB4F-27D3-CFF81993CF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25166B7B-CF1A-52B0-8E0D-51C1F05F57FE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F047CB58-4299-5E3D-356B-EBEC4091C604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29" name="Picture 2" descr="Espace presse | EURECOM">
                <a:extLst>
                  <a:ext uri="{FF2B5EF4-FFF2-40B4-BE49-F238E27FC236}">
                    <a16:creationId xmlns:a16="http://schemas.microsoft.com/office/drawing/2014/main" id="{4C7C7D4B-03E8-1860-C668-5F53FB23E6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DE68E431-71A5-B4E3-ADB8-87F070732713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31" name="Segnaposto numero diapositiva 4">
            <a:extLst>
              <a:ext uri="{FF2B5EF4-FFF2-40B4-BE49-F238E27FC236}">
                <a16:creationId xmlns:a16="http://schemas.microsoft.com/office/drawing/2014/main" id="{6446FEE9-84D6-A750-E066-E60A663F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8721" y="6408925"/>
            <a:ext cx="341276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8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sp>
        <p:nvSpPr>
          <p:cNvPr id="32" name="Segnaposto contenuto 2">
            <a:extLst>
              <a:ext uri="{FF2B5EF4-FFF2-40B4-BE49-F238E27FC236}">
                <a16:creationId xmlns:a16="http://schemas.microsoft.com/office/drawing/2014/main" id="{AC16D006-A613-F0D3-59B4-13FC830A9EC7}"/>
              </a:ext>
            </a:extLst>
          </p:cNvPr>
          <p:cNvSpPr txBox="1">
            <a:spLocks/>
          </p:cNvSpPr>
          <p:nvPr/>
        </p:nvSpPr>
        <p:spPr>
          <a:xfrm>
            <a:off x="762000" y="1318459"/>
            <a:ext cx="3931920" cy="4234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latin typeface="Footlight MT Light" panose="0204060206030A020304" pitchFamily="18" charset="77"/>
              </a:rPr>
              <a:t>Composite evaluation metric</a:t>
            </a: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D9EBC840-717D-5E55-40EC-73E8A0680D5C}"/>
              </a:ext>
            </a:extLst>
          </p:cNvPr>
          <p:cNvGrpSpPr/>
          <p:nvPr/>
        </p:nvGrpSpPr>
        <p:grpSpPr>
          <a:xfrm>
            <a:off x="7889545" y="907132"/>
            <a:ext cx="3573378" cy="4854089"/>
            <a:chOff x="7889545" y="907132"/>
            <a:chExt cx="3573378" cy="4854089"/>
          </a:xfrm>
        </p:grpSpPr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012454AC-0D9C-18E7-5B92-FA99E768C7BC}"/>
                </a:ext>
              </a:extLst>
            </p:cNvPr>
            <p:cNvGrpSpPr/>
            <p:nvPr/>
          </p:nvGrpSpPr>
          <p:grpSpPr>
            <a:xfrm>
              <a:off x="7923087" y="907132"/>
              <a:ext cx="3539836" cy="2521868"/>
              <a:chOff x="-529588" y="458896"/>
              <a:chExt cx="13493224" cy="4421730"/>
            </a:xfrm>
          </p:grpSpPr>
          <p:grpSp>
            <p:nvGrpSpPr>
              <p:cNvPr id="45" name="Gruppo 44">
                <a:extLst>
                  <a:ext uri="{FF2B5EF4-FFF2-40B4-BE49-F238E27FC236}">
                    <a16:creationId xmlns:a16="http://schemas.microsoft.com/office/drawing/2014/main" id="{C0553415-5B11-CAF8-6A95-5D3F7FECC18E}"/>
                  </a:ext>
                </a:extLst>
              </p:cNvPr>
              <p:cNvGrpSpPr/>
              <p:nvPr/>
            </p:nvGrpSpPr>
            <p:grpSpPr>
              <a:xfrm>
                <a:off x="-529588" y="458896"/>
                <a:ext cx="13493224" cy="3866125"/>
                <a:chOff x="3036795" y="2028495"/>
                <a:chExt cx="6360458" cy="2507921"/>
              </a:xfrm>
            </p:grpSpPr>
            <p:cxnSp>
              <p:nvCxnSpPr>
                <p:cNvPr id="47" name="Connettore 1 46">
                  <a:extLst>
                    <a:ext uri="{FF2B5EF4-FFF2-40B4-BE49-F238E27FC236}">
                      <a16:creationId xmlns:a16="http://schemas.microsoft.com/office/drawing/2014/main" id="{8D33234B-93B2-324B-6A4E-EF6BF138A7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456363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Connettore 1 47">
                  <a:extLst>
                    <a:ext uri="{FF2B5EF4-FFF2-40B4-BE49-F238E27FC236}">
                      <a16:creationId xmlns:a16="http://schemas.microsoft.com/office/drawing/2014/main" id="{F709FF80-78BD-6038-E4C5-CC07FE09A6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028495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Connettore 1 48">
                  <a:extLst>
                    <a:ext uri="{FF2B5EF4-FFF2-40B4-BE49-F238E27FC236}">
                      <a16:creationId xmlns:a16="http://schemas.microsoft.com/office/drawing/2014/main" id="{41BEF2D0-4C66-17F6-DDEE-30D453D08B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383926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ttore 1 50">
                  <a:extLst>
                    <a:ext uri="{FF2B5EF4-FFF2-40B4-BE49-F238E27FC236}">
                      <a16:creationId xmlns:a16="http://schemas.microsoft.com/office/drawing/2014/main" id="{035F5D48-BC89-1540-6C28-3D16D1BB26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735533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nettore 1 51">
                  <a:extLst>
                    <a:ext uri="{FF2B5EF4-FFF2-40B4-BE49-F238E27FC236}">
                      <a16:creationId xmlns:a16="http://schemas.microsoft.com/office/drawing/2014/main" id="{1AE642B9-08F1-5DB6-02DE-52B9177F2A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095948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nettore 1 52">
                  <a:extLst>
                    <a:ext uri="{FF2B5EF4-FFF2-40B4-BE49-F238E27FC236}">
                      <a16:creationId xmlns:a16="http://schemas.microsoft.com/office/drawing/2014/main" id="{13674614-437E-421F-5B4B-B5C110F4AE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811794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nettore 1 53">
                  <a:extLst>
                    <a:ext uri="{FF2B5EF4-FFF2-40B4-BE49-F238E27FC236}">
                      <a16:creationId xmlns:a16="http://schemas.microsoft.com/office/drawing/2014/main" id="{8F34628B-6C23-98CA-B7E4-54722E59DF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4163401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nettore 1 54">
                  <a:extLst>
                    <a:ext uri="{FF2B5EF4-FFF2-40B4-BE49-F238E27FC236}">
                      <a16:creationId xmlns:a16="http://schemas.microsoft.com/office/drawing/2014/main" id="{716588C8-0D34-696C-94FA-304FC2D788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4523816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Connettore 1 45">
                <a:extLst>
                  <a:ext uri="{FF2B5EF4-FFF2-40B4-BE49-F238E27FC236}">
                    <a16:creationId xmlns:a16="http://schemas.microsoft.com/office/drawing/2014/main" id="{524B0867-E007-0885-C95E-444976BF10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529588" y="4861202"/>
                <a:ext cx="13493224" cy="19424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uppo 35">
              <a:extLst>
                <a:ext uri="{FF2B5EF4-FFF2-40B4-BE49-F238E27FC236}">
                  <a16:creationId xmlns:a16="http://schemas.microsoft.com/office/drawing/2014/main" id="{0DBAE9B4-C8FA-5F8A-043D-F676F9A5E98F}"/>
                </a:ext>
              </a:extLst>
            </p:cNvPr>
            <p:cNvGrpSpPr/>
            <p:nvPr/>
          </p:nvGrpSpPr>
          <p:grpSpPr>
            <a:xfrm>
              <a:off x="7889545" y="3413416"/>
              <a:ext cx="3539836" cy="2347805"/>
              <a:chOff x="3036795" y="2028495"/>
              <a:chExt cx="6360458" cy="2507921"/>
            </a:xfrm>
          </p:grpSpPr>
          <p:cxnSp>
            <p:nvCxnSpPr>
              <p:cNvPr id="37" name="Connettore 1 36">
                <a:extLst>
                  <a:ext uri="{FF2B5EF4-FFF2-40B4-BE49-F238E27FC236}">
                    <a16:creationId xmlns:a16="http://schemas.microsoft.com/office/drawing/2014/main" id="{D0C57B0B-8F04-06B2-8926-862A101F90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45636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ttore 1 37">
                <a:extLst>
                  <a:ext uri="{FF2B5EF4-FFF2-40B4-BE49-F238E27FC236}">
                    <a16:creationId xmlns:a16="http://schemas.microsoft.com/office/drawing/2014/main" id="{C9B81E24-087B-70A0-A920-96D0AACC03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028495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ttore 1 38">
                <a:extLst>
                  <a:ext uri="{FF2B5EF4-FFF2-40B4-BE49-F238E27FC236}">
                    <a16:creationId xmlns:a16="http://schemas.microsoft.com/office/drawing/2014/main" id="{CA69FD78-8C28-2C2F-628C-6652A28E38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38392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ttore 1 39">
                <a:extLst>
                  <a:ext uri="{FF2B5EF4-FFF2-40B4-BE49-F238E27FC236}">
                    <a16:creationId xmlns:a16="http://schemas.microsoft.com/office/drawing/2014/main" id="{5935AA9A-8D47-41CB-47FC-BD8D05DB3E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73553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nettore 1 40">
                <a:extLst>
                  <a:ext uri="{FF2B5EF4-FFF2-40B4-BE49-F238E27FC236}">
                    <a16:creationId xmlns:a16="http://schemas.microsoft.com/office/drawing/2014/main" id="{F5A73BEE-9E60-5A04-E670-B257D8A4FC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095948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nettore 1 41">
                <a:extLst>
                  <a:ext uri="{FF2B5EF4-FFF2-40B4-BE49-F238E27FC236}">
                    <a16:creationId xmlns:a16="http://schemas.microsoft.com/office/drawing/2014/main" id="{D618BFB3-6862-3E49-03E1-DAE9A1D396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811794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ttore 1 42">
                <a:extLst>
                  <a:ext uri="{FF2B5EF4-FFF2-40B4-BE49-F238E27FC236}">
                    <a16:creationId xmlns:a16="http://schemas.microsoft.com/office/drawing/2014/main" id="{DD4DE68F-D060-E112-60E6-481D36989D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163401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ttore 1 43">
                <a:extLst>
                  <a:ext uri="{FF2B5EF4-FFF2-40B4-BE49-F238E27FC236}">
                    <a16:creationId xmlns:a16="http://schemas.microsoft.com/office/drawing/2014/main" id="{D1E6C96F-17EA-6BE3-29D4-01BE93A095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52381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itolo 1">
            <a:extLst>
              <a:ext uri="{FF2B5EF4-FFF2-40B4-BE49-F238E27FC236}">
                <a16:creationId xmlns:a16="http://schemas.microsoft.com/office/drawing/2014/main" id="{53C0051F-C4D8-A2E2-99E0-84167100DD01}"/>
              </a:ext>
            </a:extLst>
          </p:cNvPr>
          <p:cNvSpPr txBox="1">
            <a:spLocks/>
          </p:cNvSpPr>
          <p:nvPr/>
        </p:nvSpPr>
        <p:spPr>
          <a:xfrm>
            <a:off x="1611735" y="430629"/>
            <a:ext cx="2698376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StoryScore</a:t>
            </a:r>
            <a:endParaRPr lang="en-GB" sz="4000" dirty="0"/>
          </a:p>
        </p:txBody>
      </p:sp>
      <p:pic>
        <p:nvPicPr>
          <p:cNvPr id="58" name="Immagine 57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C013B3C9-A0F7-0652-3ECE-1FB4B69B8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6D58870-E4E9-061E-C3D0-CBD10167432E}"/>
              </a:ext>
            </a:extLst>
          </p:cNvPr>
          <p:cNvSpPr txBox="1"/>
          <p:nvPr/>
        </p:nvSpPr>
        <p:spPr>
          <a:xfrm>
            <a:off x="7852689" y="897690"/>
            <a:ext cx="3510549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solidFill>
                  <a:srgbClr val="31489F"/>
                </a:solidFill>
                <a:latin typeface="Footlight MT Light" panose="0204060206030A020304" pitchFamily="18" charset="77"/>
              </a:rPr>
              <a:t>Title Coverage</a:t>
            </a:r>
            <a:endParaRPr lang="it-IT" sz="2400" b="0" i="0" u="none" strike="noStrike" dirty="0">
              <a:solidFill>
                <a:srgbClr val="31489F"/>
              </a:solidFill>
              <a:effectLst/>
              <a:latin typeface="Footlight MT Light" panose="0204060206030A020304" pitchFamily="18" charset="77"/>
            </a:endParaRPr>
          </a:p>
          <a:p>
            <a:pPr algn="ctr"/>
            <a:r>
              <a:rPr lang="it-IT" sz="2000" b="0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(</a:t>
            </a:r>
            <a:r>
              <a:rPr lang="it-IT" sz="2000" dirty="0" err="1">
                <a:solidFill>
                  <a:srgbClr val="31489F"/>
                </a:solidFill>
                <a:latin typeface="Footlight MT Light" panose="0204060206030A020304" pitchFamily="18" charset="77"/>
              </a:rPr>
              <a:t>s</a:t>
            </a:r>
            <a:r>
              <a:rPr lang="it-IT" sz="2000" b="0" i="0" u="none" strike="noStrike" dirty="0" err="1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tructural</a:t>
            </a:r>
            <a:r>
              <a:rPr lang="it-IT" sz="2000" b="0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2000" b="0" i="0" u="none" strike="noStrike" dirty="0" err="1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consistency</a:t>
            </a:r>
            <a:r>
              <a:rPr lang="it-IT" sz="2000" b="0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)</a:t>
            </a:r>
          </a:p>
          <a:p>
            <a:pPr algn="ctr"/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algn="ctr"/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algn="ctr"/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Footlight MT Light" panose="0204060206030A020304" pitchFamily="18" charset="77"/>
              </a:rPr>
              <a:t>Comparison</a:t>
            </a:r>
            <a:r>
              <a:rPr lang="it-IT" dirty="0">
                <a:latin typeface="Footlight MT Light" panose="0204060206030A020304" pitchFamily="18" charset="77"/>
              </a:rPr>
              <a:t> after </a:t>
            </a:r>
            <a:r>
              <a:rPr lang="it-IT" dirty="0" err="1">
                <a:latin typeface="Footlight MT Light" panose="0204060206030A020304" pitchFamily="18" charset="77"/>
              </a:rPr>
              <a:t>normalisation</a:t>
            </a:r>
            <a:br>
              <a:rPr lang="it-IT" dirty="0">
                <a:latin typeface="Footlight MT Light" panose="0204060206030A020304" pitchFamily="18" charset="77"/>
              </a:rPr>
            </a:br>
            <a:r>
              <a:rPr lang="it-IT" dirty="0">
                <a:latin typeface="Footlight MT Light" panose="0204060206030A020304" pitchFamily="18" charset="77"/>
              </a:rPr>
              <a:t>of the Storyteller </a:t>
            </a:r>
            <a:r>
              <a:rPr lang="it-IT" dirty="0" err="1">
                <a:latin typeface="Footlight MT Light" panose="0204060206030A020304" pitchFamily="18" charset="77"/>
              </a:rPr>
              <a:t>titles</a:t>
            </a:r>
            <a:r>
              <a:rPr lang="it-IT" dirty="0">
                <a:latin typeface="Footlight MT Light" panose="0204060206030A020304" pitchFamily="18" charset="77"/>
              </a:rPr>
              <a:t> and Splitter </a:t>
            </a:r>
            <a:r>
              <a:rPr lang="it-IT" dirty="0" err="1">
                <a:latin typeface="Footlight MT Light" panose="0204060206030A020304" pitchFamily="18" charset="77"/>
              </a:rPr>
              <a:t>titles</a:t>
            </a:r>
            <a:r>
              <a:rPr lang="it-IT" dirty="0">
                <a:latin typeface="Footlight MT Light" panose="0204060206030A020304" pitchFamily="18" charset="7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Footlight MT Light" panose="0204060206030A020304" pitchFamily="18" charset="77"/>
              </a:rPr>
              <a:t>Necessary</a:t>
            </a:r>
            <a:r>
              <a:rPr lang="it-IT" dirty="0">
                <a:latin typeface="Footlight MT Light" panose="0204060206030A020304" pitchFamily="18" charset="77"/>
              </a:rPr>
              <a:t> to check the </a:t>
            </a:r>
            <a:r>
              <a:rPr lang="it-IT" dirty="0" err="1">
                <a:latin typeface="Footlight MT Light" panose="0204060206030A020304" pitchFamily="18" charset="77"/>
              </a:rPr>
              <a:t>consistency</a:t>
            </a:r>
            <a:r>
              <a:rPr lang="it-IT" dirty="0">
                <a:latin typeface="Footlight MT Light" panose="0204060206030A020304" pitchFamily="18" charset="77"/>
              </a:rPr>
              <a:t> of the </a:t>
            </a:r>
            <a:r>
              <a:rPr lang="it-IT" dirty="0" err="1">
                <a:latin typeface="Footlight MT Light" panose="0204060206030A020304" pitchFamily="18" charset="77"/>
              </a:rPr>
              <a:t>structure</a:t>
            </a:r>
            <a:r>
              <a:rPr lang="it-IT" dirty="0">
                <a:latin typeface="Footlight MT Light" panose="0204060206030A020304" pitchFamily="18" charset="77"/>
              </a:rPr>
              <a:t>   </a:t>
            </a:r>
          </a:p>
          <a:p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algn="ctr"/>
            <a:r>
              <a:rPr lang="it-IT" dirty="0" err="1">
                <a:solidFill>
                  <a:srgbClr val="31489F"/>
                </a:solidFill>
                <a:latin typeface="Footlight MT Light" panose="0204060206030A020304" pitchFamily="18" charset="77"/>
              </a:rPr>
              <a:t>Binary</a:t>
            </a:r>
            <a:r>
              <a:rPr lang="it-IT" dirty="0">
                <a:solidFill>
                  <a:srgbClr val="31489F"/>
                </a:solidFill>
                <a:latin typeface="Footlight MT Light" panose="0204060206030A020304" pitchFamily="18" charset="77"/>
              </a:rPr>
              <a:t> scale: 0 or1</a:t>
            </a:r>
          </a:p>
          <a:p>
            <a:pPr algn="ctr"/>
            <a:r>
              <a:rPr lang="it-IT" sz="1100" dirty="0">
                <a:solidFill>
                  <a:srgbClr val="31489F"/>
                </a:solidFill>
                <a:latin typeface="Footlight MT Light" panose="0204060206030A020304" pitchFamily="18" charset="77"/>
              </a:rPr>
              <a:t>Score = 1 </a:t>
            </a:r>
            <a:r>
              <a:rPr lang="it-IT" sz="1100" dirty="0" err="1">
                <a:solidFill>
                  <a:srgbClr val="31489F"/>
                </a:solidFill>
                <a:latin typeface="Footlight MT Light" panose="0204060206030A020304" pitchFamily="18" charset="77"/>
              </a:rPr>
              <a:t>if</a:t>
            </a:r>
            <a:r>
              <a:rPr lang="it-IT" sz="1100" dirty="0">
                <a:solidFill>
                  <a:srgbClr val="31489F"/>
                </a:solidFill>
                <a:latin typeface="Footlight MT Light" panose="0204060206030A020304" pitchFamily="18" charset="77"/>
              </a:rPr>
              <a:t> </a:t>
            </a:r>
            <a:r>
              <a:rPr lang="it-IT" sz="1100" dirty="0" err="1">
                <a:solidFill>
                  <a:srgbClr val="31489F"/>
                </a:solidFill>
                <a:latin typeface="Footlight MT Light" panose="0204060206030A020304" pitchFamily="18" charset="77"/>
              </a:rPr>
              <a:t>all</a:t>
            </a:r>
            <a:r>
              <a:rPr lang="it-IT" sz="1100" dirty="0">
                <a:solidFill>
                  <a:srgbClr val="31489F"/>
                </a:solidFill>
                <a:latin typeface="Footlight MT Light" panose="0204060206030A020304" pitchFamily="18" charset="77"/>
              </a:rPr>
              <a:t> 5 match </a:t>
            </a:r>
            <a:r>
              <a:rPr lang="it-IT" sz="1100" dirty="0" err="1">
                <a:solidFill>
                  <a:srgbClr val="31489F"/>
                </a:solidFill>
                <a:latin typeface="Footlight MT Light" panose="0204060206030A020304" pitchFamily="18" charset="77"/>
              </a:rPr>
              <a:t>exactly</a:t>
            </a:r>
            <a:r>
              <a:rPr lang="it-IT" sz="1100" dirty="0">
                <a:solidFill>
                  <a:srgbClr val="31489F"/>
                </a:solidFill>
                <a:latin typeface="Footlight MT Light" panose="0204060206030A020304" pitchFamily="18" charset="77"/>
              </a:rPr>
              <a:t> → 0 </a:t>
            </a:r>
            <a:r>
              <a:rPr lang="it-IT" sz="1100" dirty="0" err="1">
                <a:solidFill>
                  <a:srgbClr val="31489F"/>
                </a:solidFill>
                <a:latin typeface="Footlight MT Light" panose="0204060206030A020304" pitchFamily="18" charset="77"/>
              </a:rPr>
              <a:t>otherwise</a:t>
            </a:r>
            <a:endParaRPr lang="it-IT" sz="1100" dirty="0">
              <a:solidFill>
                <a:srgbClr val="31489F"/>
              </a:solidFill>
              <a:latin typeface="Footlight MT Light" panose="0204060206030A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44416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magine 55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B96E5B53-375A-F92C-A32A-65EDE0208D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p:sp>
        <p:nvSpPr>
          <p:cNvPr id="21" name="Fumetto 2 20">
            <a:extLst>
              <a:ext uri="{FF2B5EF4-FFF2-40B4-BE49-F238E27FC236}">
                <a16:creationId xmlns:a16="http://schemas.microsoft.com/office/drawing/2014/main" id="{0C0CE5DA-FCD6-5580-5BC6-54581CD59612}"/>
              </a:ext>
            </a:extLst>
          </p:cNvPr>
          <p:cNvSpPr/>
          <p:nvPr/>
        </p:nvSpPr>
        <p:spPr>
          <a:xfrm>
            <a:off x="7618393" y="555178"/>
            <a:ext cx="4082143" cy="5531056"/>
          </a:xfrm>
          <a:prstGeom prst="wedgeRoundRectCallout">
            <a:avLst>
              <a:gd name="adj1" fmla="val -78215"/>
              <a:gd name="adj2" fmla="val 18220"/>
              <a:gd name="adj3" fmla="val 16667"/>
            </a:avLst>
          </a:prstGeom>
          <a:solidFill>
            <a:schemeClr val="bg1">
              <a:alpha val="57159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 w="508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FR" dirty="0">
              <a:solidFill>
                <a:schemeClr val="tx1"/>
              </a:solidFill>
              <a:latin typeface="Footlight MT Light" panose="0204060206030A020304" pitchFamily="18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9E823FD1-76AB-6745-8F3D-2614A830C7D6}"/>
                  </a:ext>
                </a:extLst>
              </p:cNvPr>
              <p:cNvSpPr txBox="1"/>
              <p:nvPr/>
            </p:nvSpPr>
            <p:spPr>
              <a:xfrm>
                <a:off x="-624817" y="2407109"/>
                <a:ext cx="7714384" cy="25853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𝑆𝑡𝑜𝑟𝑦𝑆𝑐𝑜𝑟𝑒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𝐶𝑜𝑛𝑡𝑒𝑥𝑡𝑅𝑒𝑐𝑎𝑙𝑙</m:t>
                          </m:r>
                        </m:e>
                      </m:d>
                      <m:r>
                        <a:rPr lang="it-IT" sz="28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t-IT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                          </m:t>
                      </m:r>
                      <m:d>
                        <m:d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𝐵𝐸𝑅𝑇𝑆𝑐𝑜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</m:t>
                          </m:r>
                          <m:r>
                            <m:rPr>
                              <m:nor/>
                            </m:rPr>
                            <a:rPr lang="it-FR" sz="2800" dirty="0"/>
                            <m:t> </m:t>
                          </m:r>
                        </m:e>
                      </m:d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+ </m:t>
                      </m:r>
                    </m:oMath>
                  </m:oMathPara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b="0" dirty="0"/>
                  <a:t>           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𝑟𝑜𝑚𝑝𝑡𝐶𝑙𝑒𝑎𝑛𝑙𝑖𝑛𝑒𝑠𝑠</m:t>
                        </m:r>
                      </m:e>
                    </m:d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      	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𝑇𝑖𝑡𝑙𝑒𝐶𝑜𝑣𝑒𝑟𝑎𝑔𝑒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	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𝑁𝑜𝑅𝑒𝑑𝑢𝑛𝑑𝑎𝑛𝑐𝑦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it-IT" sz="280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		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𝑁𝑜𝐻𝑎𝑙𝑙𝑢𝑐𝑖𝑛𝑎𝑡𝑖𝑜𝑛</m:t>
                        </m:r>
                      </m:e>
                    </m:d>
                  </m:oMath>
                </a14:m>
                <a:endParaRPr lang="it-FR" sz="2800" dirty="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9E823FD1-76AB-6745-8F3D-2614A830C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4817" y="2407109"/>
                <a:ext cx="7714384" cy="2585323"/>
              </a:xfrm>
              <a:prstGeom prst="rect">
                <a:avLst/>
              </a:prstGeom>
              <a:blipFill>
                <a:blip r:embed="rId6"/>
                <a:stretch>
                  <a:fillRect r="-1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po 2">
            <a:extLst>
              <a:ext uri="{FF2B5EF4-FFF2-40B4-BE49-F238E27FC236}">
                <a16:creationId xmlns:a16="http://schemas.microsoft.com/office/drawing/2014/main" id="{502414C6-82FD-4446-349F-C8CDDDF72D4A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BF5BDEB6-B8CD-1DAA-BCCF-55219B65E052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6" name="Picture 4" descr="ECIR2026">
              <a:extLst>
                <a:ext uri="{FF2B5EF4-FFF2-40B4-BE49-F238E27FC236}">
                  <a16:creationId xmlns:a16="http://schemas.microsoft.com/office/drawing/2014/main" id="{D8192D01-7E67-A596-9A5C-EDCFE4D8CD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DB2FDE9F-B3C0-3732-B3C0-FEA0754331EA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C1CB940E-3716-EDEC-EF0E-355D984D2067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29" name="Picture 2" descr="Espace presse | EURECOM">
                <a:extLst>
                  <a:ext uri="{FF2B5EF4-FFF2-40B4-BE49-F238E27FC236}">
                    <a16:creationId xmlns:a16="http://schemas.microsoft.com/office/drawing/2014/main" id="{D9DAB50E-F176-809C-0DC9-EAEC2E0CB5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F033C84F-0C26-D571-C907-0FAFB8970CD6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31" name="Segnaposto numero diapositiva 4">
            <a:extLst>
              <a:ext uri="{FF2B5EF4-FFF2-40B4-BE49-F238E27FC236}">
                <a16:creationId xmlns:a16="http://schemas.microsoft.com/office/drawing/2014/main" id="{81757BBE-F0AA-7FDA-2C6E-5B3338E9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8721" y="6408925"/>
            <a:ext cx="341276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9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sp>
        <p:nvSpPr>
          <p:cNvPr id="32" name="Segnaposto contenuto 2">
            <a:extLst>
              <a:ext uri="{FF2B5EF4-FFF2-40B4-BE49-F238E27FC236}">
                <a16:creationId xmlns:a16="http://schemas.microsoft.com/office/drawing/2014/main" id="{67682F0B-9F25-90A0-0C82-53FA74BAA2E6}"/>
              </a:ext>
            </a:extLst>
          </p:cNvPr>
          <p:cNvSpPr txBox="1">
            <a:spLocks/>
          </p:cNvSpPr>
          <p:nvPr/>
        </p:nvSpPr>
        <p:spPr>
          <a:xfrm>
            <a:off x="762000" y="1318459"/>
            <a:ext cx="3931920" cy="4234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latin typeface="Footlight MT Light" panose="0204060206030A020304" pitchFamily="18" charset="77"/>
              </a:rPr>
              <a:t>Composite evaluation metric</a:t>
            </a: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0C052820-A0CB-6E26-4F56-214EC10F5DC8}"/>
              </a:ext>
            </a:extLst>
          </p:cNvPr>
          <p:cNvGrpSpPr/>
          <p:nvPr/>
        </p:nvGrpSpPr>
        <p:grpSpPr>
          <a:xfrm>
            <a:off x="7889545" y="907132"/>
            <a:ext cx="3573378" cy="4854089"/>
            <a:chOff x="7889545" y="907132"/>
            <a:chExt cx="3573378" cy="4854089"/>
          </a:xfrm>
        </p:grpSpPr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1ADCEDFA-1E05-C052-EF40-0B766C9EE2BA}"/>
                </a:ext>
              </a:extLst>
            </p:cNvPr>
            <p:cNvGrpSpPr/>
            <p:nvPr/>
          </p:nvGrpSpPr>
          <p:grpSpPr>
            <a:xfrm>
              <a:off x="7923087" y="907132"/>
              <a:ext cx="3539836" cy="2521868"/>
              <a:chOff x="-529588" y="458896"/>
              <a:chExt cx="13493224" cy="4421730"/>
            </a:xfrm>
          </p:grpSpPr>
          <p:grpSp>
            <p:nvGrpSpPr>
              <p:cNvPr id="45" name="Gruppo 44">
                <a:extLst>
                  <a:ext uri="{FF2B5EF4-FFF2-40B4-BE49-F238E27FC236}">
                    <a16:creationId xmlns:a16="http://schemas.microsoft.com/office/drawing/2014/main" id="{DA7ED416-4680-A581-7488-C5E239A81521}"/>
                  </a:ext>
                </a:extLst>
              </p:cNvPr>
              <p:cNvGrpSpPr/>
              <p:nvPr/>
            </p:nvGrpSpPr>
            <p:grpSpPr>
              <a:xfrm>
                <a:off x="-529588" y="458896"/>
                <a:ext cx="13493224" cy="3866125"/>
                <a:chOff x="3036795" y="2028495"/>
                <a:chExt cx="6360458" cy="2507921"/>
              </a:xfrm>
            </p:grpSpPr>
            <p:cxnSp>
              <p:nvCxnSpPr>
                <p:cNvPr id="47" name="Connettore 1 46">
                  <a:extLst>
                    <a:ext uri="{FF2B5EF4-FFF2-40B4-BE49-F238E27FC236}">
                      <a16:creationId xmlns:a16="http://schemas.microsoft.com/office/drawing/2014/main" id="{B89049E2-98C7-2B14-16B5-0EE84F4BA2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456363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Connettore 1 47">
                  <a:extLst>
                    <a:ext uri="{FF2B5EF4-FFF2-40B4-BE49-F238E27FC236}">
                      <a16:creationId xmlns:a16="http://schemas.microsoft.com/office/drawing/2014/main" id="{3A27285A-55EF-2D59-7A01-B0B5A25BC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028495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Connettore 1 48">
                  <a:extLst>
                    <a:ext uri="{FF2B5EF4-FFF2-40B4-BE49-F238E27FC236}">
                      <a16:creationId xmlns:a16="http://schemas.microsoft.com/office/drawing/2014/main" id="{1B7FEE6A-2163-ED40-6481-F741172F12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383926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ttore 1 50">
                  <a:extLst>
                    <a:ext uri="{FF2B5EF4-FFF2-40B4-BE49-F238E27FC236}">
                      <a16:creationId xmlns:a16="http://schemas.microsoft.com/office/drawing/2014/main" id="{CB8415BB-617E-F9DD-FA47-C038158F3E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735533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nettore 1 51">
                  <a:extLst>
                    <a:ext uri="{FF2B5EF4-FFF2-40B4-BE49-F238E27FC236}">
                      <a16:creationId xmlns:a16="http://schemas.microsoft.com/office/drawing/2014/main" id="{2E1045AE-E84D-3CF8-9B2C-D43EA92C27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095948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nettore 1 52">
                  <a:extLst>
                    <a:ext uri="{FF2B5EF4-FFF2-40B4-BE49-F238E27FC236}">
                      <a16:creationId xmlns:a16="http://schemas.microsoft.com/office/drawing/2014/main" id="{156E189A-A43C-43EB-B2A4-20E3EA23A4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811794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nettore 1 53">
                  <a:extLst>
                    <a:ext uri="{FF2B5EF4-FFF2-40B4-BE49-F238E27FC236}">
                      <a16:creationId xmlns:a16="http://schemas.microsoft.com/office/drawing/2014/main" id="{5E551A1E-60F4-FCB7-39C2-812C70DC34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4163401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nettore 1 54">
                  <a:extLst>
                    <a:ext uri="{FF2B5EF4-FFF2-40B4-BE49-F238E27FC236}">
                      <a16:creationId xmlns:a16="http://schemas.microsoft.com/office/drawing/2014/main" id="{9D939922-4BB5-07D9-E676-5459D77898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4523816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Connettore 1 45">
                <a:extLst>
                  <a:ext uri="{FF2B5EF4-FFF2-40B4-BE49-F238E27FC236}">
                    <a16:creationId xmlns:a16="http://schemas.microsoft.com/office/drawing/2014/main" id="{0BE92803-26CC-B01E-79F5-684EB95E13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529588" y="4861202"/>
                <a:ext cx="13493224" cy="19424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uppo 35">
              <a:extLst>
                <a:ext uri="{FF2B5EF4-FFF2-40B4-BE49-F238E27FC236}">
                  <a16:creationId xmlns:a16="http://schemas.microsoft.com/office/drawing/2014/main" id="{A33934BD-E64D-DA13-C7B1-1F1DCFA313AB}"/>
                </a:ext>
              </a:extLst>
            </p:cNvPr>
            <p:cNvGrpSpPr/>
            <p:nvPr/>
          </p:nvGrpSpPr>
          <p:grpSpPr>
            <a:xfrm>
              <a:off x="7889545" y="3413416"/>
              <a:ext cx="3539836" cy="2347805"/>
              <a:chOff x="3036795" y="2028495"/>
              <a:chExt cx="6360458" cy="2507921"/>
            </a:xfrm>
          </p:grpSpPr>
          <p:cxnSp>
            <p:nvCxnSpPr>
              <p:cNvPr id="37" name="Connettore 1 36">
                <a:extLst>
                  <a:ext uri="{FF2B5EF4-FFF2-40B4-BE49-F238E27FC236}">
                    <a16:creationId xmlns:a16="http://schemas.microsoft.com/office/drawing/2014/main" id="{D7093C2D-177C-B362-BEDC-D81CDCC859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45636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ttore 1 37">
                <a:extLst>
                  <a:ext uri="{FF2B5EF4-FFF2-40B4-BE49-F238E27FC236}">
                    <a16:creationId xmlns:a16="http://schemas.microsoft.com/office/drawing/2014/main" id="{7276760A-4695-1E25-12BB-23AFBB477A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028495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ttore 1 38">
                <a:extLst>
                  <a:ext uri="{FF2B5EF4-FFF2-40B4-BE49-F238E27FC236}">
                    <a16:creationId xmlns:a16="http://schemas.microsoft.com/office/drawing/2014/main" id="{FB43DCB9-5391-34E4-FE46-CC6385832C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38392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ttore 1 39">
                <a:extLst>
                  <a:ext uri="{FF2B5EF4-FFF2-40B4-BE49-F238E27FC236}">
                    <a16:creationId xmlns:a16="http://schemas.microsoft.com/office/drawing/2014/main" id="{57C6B4BE-01E4-3205-273B-5A3ACEEBDB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73553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nettore 1 40">
                <a:extLst>
                  <a:ext uri="{FF2B5EF4-FFF2-40B4-BE49-F238E27FC236}">
                    <a16:creationId xmlns:a16="http://schemas.microsoft.com/office/drawing/2014/main" id="{A8E15C6F-6A54-3356-8B22-C06C755476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095948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nettore 1 41">
                <a:extLst>
                  <a:ext uri="{FF2B5EF4-FFF2-40B4-BE49-F238E27FC236}">
                    <a16:creationId xmlns:a16="http://schemas.microsoft.com/office/drawing/2014/main" id="{C7B25858-C77A-81B4-08CE-50A7BEAD3A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811794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ttore 1 42">
                <a:extLst>
                  <a:ext uri="{FF2B5EF4-FFF2-40B4-BE49-F238E27FC236}">
                    <a16:creationId xmlns:a16="http://schemas.microsoft.com/office/drawing/2014/main" id="{5D3694E0-805D-1913-3328-2B10BDE8FA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163401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ttore 1 43">
                <a:extLst>
                  <a:ext uri="{FF2B5EF4-FFF2-40B4-BE49-F238E27FC236}">
                    <a16:creationId xmlns:a16="http://schemas.microsoft.com/office/drawing/2014/main" id="{C3E23654-D7CA-BDF0-900A-53FD8AFB2F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52381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itolo 1">
            <a:extLst>
              <a:ext uri="{FF2B5EF4-FFF2-40B4-BE49-F238E27FC236}">
                <a16:creationId xmlns:a16="http://schemas.microsoft.com/office/drawing/2014/main" id="{5AC488EF-1543-7D2E-DE86-8B875F257532}"/>
              </a:ext>
            </a:extLst>
          </p:cNvPr>
          <p:cNvSpPr txBox="1">
            <a:spLocks/>
          </p:cNvSpPr>
          <p:nvPr/>
        </p:nvSpPr>
        <p:spPr>
          <a:xfrm>
            <a:off x="1611735" y="430629"/>
            <a:ext cx="2698376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StoryScore</a:t>
            </a:r>
            <a:endParaRPr lang="en-GB" sz="4000" dirty="0"/>
          </a:p>
        </p:txBody>
      </p:sp>
      <p:pic>
        <p:nvPicPr>
          <p:cNvPr id="58" name="Immagine 57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319AEDA9-3A5D-F1A2-E5D9-E9C6C196D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D1529A51-3FC5-56F6-25BD-C9CA29ADCAC4}"/>
                  </a:ext>
                </a:extLst>
              </p:cNvPr>
              <p:cNvSpPr txBox="1"/>
              <p:nvPr/>
            </p:nvSpPr>
            <p:spPr>
              <a:xfrm>
                <a:off x="7835284" y="1009507"/>
                <a:ext cx="3648357" cy="4583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4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No </a:t>
                </a:r>
                <a:r>
                  <a:rPr lang="it-IT" sz="24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Redundancy</a:t>
                </a:r>
                <a:endParaRPr lang="it-IT" sz="2400" dirty="0">
                  <a:solidFill>
                    <a:srgbClr val="31489F"/>
                  </a:solidFill>
                  <a:latin typeface="Footlight MT Light" panose="0204060206030A020304" pitchFamily="18" charset="77"/>
                </a:endParaRPr>
              </a:p>
              <a:p>
                <a:pPr algn="ctr"/>
                <a:r>
                  <a:rPr lang="it-IT" sz="20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(</a:t>
                </a:r>
                <a:r>
                  <a:rPr lang="it-IT" sz="20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f</a:t>
                </a:r>
                <a:r>
                  <a:rPr lang="it-IT" sz="2000" b="0" i="0" u="none" strike="noStrike" dirty="0" err="1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luency</a:t>
                </a:r>
                <a:r>
                  <a:rPr lang="it-IT" sz="2000" b="0" i="0" u="none" strike="noStrike" dirty="0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 and </a:t>
                </a:r>
                <a:r>
                  <a:rPr lang="it-IT" sz="2000" b="0" i="0" u="none" strike="noStrike" dirty="0" err="1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avoidance</a:t>
                </a:r>
                <a:r>
                  <a:rPr lang="it-IT" sz="2000" b="0" i="0" u="none" strike="noStrike" dirty="0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 of loops)</a:t>
                </a:r>
              </a:p>
              <a:p>
                <a:pPr algn="ctr"/>
                <a:endParaRPr lang="it-IT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pPr algn="ctr"/>
                <a:endParaRPr lang="it-IT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 err="1">
                    <a:latin typeface="Footlight MT Light" panose="0204060206030A020304" pitchFamily="18" charset="77"/>
                  </a:rPr>
                  <a:t>Tokenisation</a:t>
                </a:r>
                <a:r>
                  <a:rPr lang="it-IT" dirty="0">
                    <a:latin typeface="Footlight MT Light" panose="0204060206030A020304" pitchFamily="18" charset="77"/>
                  </a:rPr>
                  <a:t> of the story text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>
                    <a:latin typeface="Footlight MT Light" panose="0204060206030A020304" pitchFamily="18" charset="77"/>
                  </a:rPr>
                  <a:t>Generation of </a:t>
                </a:r>
                <a:r>
                  <a:rPr lang="it-IT" dirty="0" err="1">
                    <a:latin typeface="Footlight MT Light" panose="0204060206030A020304" pitchFamily="18" charset="77"/>
                  </a:rPr>
                  <a:t>all</a:t>
                </a:r>
                <a:r>
                  <a:rPr lang="it-IT" dirty="0">
                    <a:latin typeface="Footlight MT Light" panose="0204060206030A020304" pitchFamily="18" charset="77"/>
                  </a:rPr>
                  <a:t> 3-grams.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 err="1">
                    <a:latin typeface="Footlight MT Light" panose="0204060206030A020304" pitchFamily="18" charset="77"/>
                  </a:rPr>
                  <a:t>Calculation</a:t>
                </a:r>
                <a:r>
                  <a:rPr lang="it-IT" dirty="0">
                    <a:latin typeface="Footlight MT Light" panose="0204060206030A020304" pitchFamily="18" charset="77"/>
                  </a:rPr>
                  <a:t> of the frequency of the </a:t>
                </a:r>
                <a:r>
                  <a:rPr lang="it-IT" dirty="0" err="1">
                    <a:latin typeface="Footlight MT Light" panose="0204060206030A020304" pitchFamily="18" charset="77"/>
                  </a:rPr>
                  <a:t>most</a:t>
                </a:r>
                <a:r>
                  <a:rPr lang="it-IT" dirty="0">
                    <a:latin typeface="Footlight MT Light" panose="0204060206030A020304" pitchFamily="18" charset="77"/>
                  </a:rPr>
                  <a:t> common.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600" dirty="0">
                  <a:latin typeface="Footlight MT Light" panose="0204060206030A020304" pitchFamily="18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1600" i="1" dirty="0" smtClean="0">
                        <a:latin typeface="Cambria Math" panose="02040503050406030204" pitchFamily="18" charset="0"/>
                      </a:rPr>
                      <m:t>𝑅𝑒𝑝𝑒𝑡𝑖𝑡𝑖𝑜</m:t>
                    </m:r>
                    <m:sSub>
                      <m:sSubPr>
                        <m:ctrlPr>
                          <a:rPr lang="it-IT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it-IT" sz="1600" b="0" i="1" dirty="0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</m:sub>
                    </m:sSub>
                    <m:r>
                      <a:rPr lang="it-IT" sz="160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it-IT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600" i="1" dirty="0" err="1" smtClean="0">
                            <a:latin typeface="Cambria Math" panose="02040503050406030204" pitchFamily="18" charset="0"/>
                          </a:rPr>
                          <m:t>𝑓𝑟𝑒</m:t>
                        </m:r>
                        <m:sSub>
                          <m:sSubPr>
                            <m:ctrlPr>
                              <a:rPr lang="it-IT" sz="16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 dirty="0" err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it-IT" sz="1600" b="0" i="1" dirty="0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it-IT" sz="1600" i="1" dirty="0">
                            <a:latin typeface="Cambria Math" panose="02040503050406030204" pitchFamily="18" charset="0"/>
                          </a:rPr>
                          <m:t>𝑡𝑜𝑡𝑎</m:t>
                        </m:r>
                        <m:sSub>
                          <m:sSubPr>
                            <m:ctrlPr>
                              <a:rPr lang="it-IT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it-IT" sz="16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it-IT" sz="1600" i="1" dirty="0" err="1">
                                <a:latin typeface="Cambria Math" panose="02040503050406030204" pitchFamily="18" charset="0"/>
                              </a:rPr>
                              <m:t>𝑔𝑟𝑎𝑚𝑠</m:t>
                            </m:r>
                          </m:sub>
                        </m:sSub>
                      </m:den>
                    </m:f>
                  </m:oMath>
                </a14:m>
                <a:endParaRPr lang="it-IT" sz="1600" dirty="0">
                  <a:latin typeface="Footlight MT Light" panose="0204060206030A020304" pitchFamily="18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600" dirty="0">
                  <a:latin typeface="Footlight MT Light" panose="0204060206030A020304" pitchFamily="18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1600" i="1" dirty="0" smtClean="0">
                        <a:latin typeface="Cambria Math" panose="02040503050406030204" pitchFamily="18" charset="0"/>
                      </a:rPr>
                      <m:t>𝑁𝑜𝑅𝑒𝑝𝑒𝑡𝑖𝑡𝑖𝑜𝑛</m:t>
                    </m:r>
                    <m:r>
                      <a:rPr lang="it-IT" sz="1600" b="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it-IT" sz="1600" i="1" dirty="0" smtClean="0">
                        <a:latin typeface="Cambria Math" panose="02040503050406030204" pitchFamily="18" charset="0"/>
                      </a:rPr>
                      <m:t>1 – </m:t>
                    </m:r>
                    <m:r>
                      <a:rPr lang="it-IT" sz="1600" i="1" dirty="0" err="1" smtClean="0">
                        <a:latin typeface="Cambria Math" panose="02040503050406030204" pitchFamily="18" charset="0"/>
                      </a:rPr>
                      <m:t>𝑟𝑒𝑝𝑒𝑡𝑖𝑡𝑖𝑜</m:t>
                    </m:r>
                    <m:sSub>
                      <m:sSubPr>
                        <m:ctrlPr>
                          <a:rPr lang="it-IT" sz="16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it-IT" sz="1600" i="1" dirty="0" err="1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</m:sub>
                    </m:sSub>
                  </m:oMath>
                </a14:m>
                <a:endParaRPr lang="it-IT" sz="1600" dirty="0">
                  <a:latin typeface="Footlight MT Light" panose="0204060206030A020304" pitchFamily="18" charset="77"/>
                </a:endParaRPr>
              </a:p>
              <a:p>
                <a:endParaRPr lang="it-IT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pPr algn="ctr"/>
                <a:endParaRPr lang="it-IT" dirty="0">
                  <a:solidFill>
                    <a:srgbClr val="31489F"/>
                  </a:solidFill>
                  <a:latin typeface="Footlight MT Light" panose="0204060206030A020304" pitchFamily="18" charset="77"/>
                </a:endParaRPr>
              </a:p>
              <a:p>
                <a:pPr algn="ctr"/>
                <a:r>
                  <a:rPr lang="it-IT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Scale: 0–1</a:t>
                </a:r>
              </a:p>
              <a:p>
                <a:pPr algn="ctr"/>
                <a:r>
                  <a:rPr lang="it-IT" sz="11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High </a:t>
                </a:r>
                <a:r>
                  <a:rPr lang="it-IT" sz="11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value</a:t>
                </a:r>
                <a:r>
                  <a:rPr lang="it-IT" sz="11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 = </a:t>
                </a:r>
                <a:r>
                  <a:rPr lang="it-IT" sz="11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fewer</a:t>
                </a:r>
                <a:r>
                  <a:rPr lang="it-IT" sz="11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 </a:t>
                </a:r>
                <a:r>
                  <a:rPr lang="it-IT" sz="11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repeated</a:t>
                </a:r>
                <a:r>
                  <a:rPr lang="it-IT" sz="11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 </a:t>
                </a:r>
                <a:r>
                  <a:rPr lang="it-IT" sz="11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phrases</a:t>
                </a:r>
                <a:r>
                  <a:rPr lang="it-IT" sz="11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 or words</a:t>
                </a: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D1529A51-3FC5-56F6-25BD-C9CA29ADC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284" y="1009507"/>
                <a:ext cx="3648357" cy="4583178"/>
              </a:xfrm>
              <a:prstGeom prst="rect">
                <a:avLst/>
              </a:prstGeom>
              <a:blipFill>
                <a:blip r:embed="rId9"/>
                <a:stretch>
                  <a:fillRect l="-1038" t="-1105" r="-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864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magine 58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E85C2789-32B6-6963-374E-2FE865C165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p:sp>
        <p:nvSpPr>
          <p:cNvPr id="21" name="Fumetto 2 20">
            <a:extLst>
              <a:ext uri="{FF2B5EF4-FFF2-40B4-BE49-F238E27FC236}">
                <a16:creationId xmlns:a16="http://schemas.microsoft.com/office/drawing/2014/main" id="{0C0CE5DA-FCD6-5580-5BC6-54581CD59612}"/>
              </a:ext>
            </a:extLst>
          </p:cNvPr>
          <p:cNvSpPr/>
          <p:nvPr/>
        </p:nvSpPr>
        <p:spPr>
          <a:xfrm>
            <a:off x="7618393" y="555178"/>
            <a:ext cx="4082143" cy="5531056"/>
          </a:xfrm>
          <a:prstGeom prst="wedgeRoundRectCallout">
            <a:avLst>
              <a:gd name="adj1" fmla="val -81532"/>
              <a:gd name="adj2" fmla="val 26609"/>
              <a:gd name="adj3" fmla="val 16667"/>
            </a:avLst>
          </a:prstGeom>
          <a:solidFill>
            <a:schemeClr val="bg1">
              <a:alpha val="57159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 w="508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FR" dirty="0">
              <a:solidFill>
                <a:schemeClr val="tx1"/>
              </a:solidFill>
              <a:latin typeface="Footlight MT Light" panose="0204060206030A020304" pitchFamily="18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550347B4-2DCB-B0A6-4216-8076E171F2A1}"/>
                  </a:ext>
                </a:extLst>
              </p:cNvPr>
              <p:cNvSpPr txBox="1"/>
              <p:nvPr/>
            </p:nvSpPr>
            <p:spPr>
              <a:xfrm>
                <a:off x="-624817" y="2407109"/>
                <a:ext cx="7714384" cy="25853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𝑆𝑡𝑜𝑟𝑦𝑆𝑐𝑜𝑟𝑒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𝐶𝑜𝑛𝑡𝑒𝑥𝑡𝑅𝑒𝑐𝑎𝑙𝑙</m:t>
                          </m:r>
                        </m:e>
                      </m:d>
                      <m:r>
                        <a:rPr lang="it-IT" sz="28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t-IT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                          </m:t>
                      </m:r>
                      <m:d>
                        <m:d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it-IT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𝐵𝐸𝑅𝑇𝑆𝑐𝑜</m:t>
                          </m:r>
                          <m:r>
                            <a:rPr lang="it-I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</m:t>
                          </m:r>
                          <m:r>
                            <m:rPr>
                              <m:nor/>
                            </m:rPr>
                            <a:rPr lang="it-FR" sz="2800" dirty="0"/>
                            <m:t> </m:t>
                          </m:r>
                        </m:e>
                      </m:d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+ </m:t>
                      </m:r>
                    </m:oMath>
                  </m:oMathPara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b="0" dirty="0"/>
                  <a:t>           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𝑟𝑜𝑚𝑝𝑡𝐶𝑙𝑒𝑎𝑛𝑙𝑖𝑛𝑒𝑠𝑠</m:t>
                        </m:r>
                      </m:e>
                    </m:d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      	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𝑇𝑖𝑡𝑙𝑒𝐶𝑜𝑣𝑒𝑟𝑎𝑔𝑒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	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𝑁𝑜𝑅𝑒𝑑𝑢𝑛𝑑𝑎𝑛𝑐𝑦</m:t>
                        </m:r>
                      </m:e>
                    </m:d>
                    <m:r>
                      <a:rPr lang="it-IT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it-IT" sz="280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it-IT" sz="2800" dirty="0"/>
                  <a:t>				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800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it-I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𝑁𝑜𝐻𝑎𝑙𝑙𝑢𝑐𝑖𝑛𝑎𝑡𝑖𝑜𝑛</m:t>
                        </m:r>
                      </m:e>
                    </m:d>
                  </m:oMath>
                </a14:m>
                <a:endParaRPr lang="it-FR" sz="2800" dirty="0"/>
              </a:p>
            </p:txBody>
          </p:sp>
        </mc:Choice>
        <mc:Fallback xmlns="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550347B4-2DCB-B0A6-4216-8076E171F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4817" y="2407109"/>
                <a:ext cx="7714384" cy="2585323"/>
              </a:xfrm>
              <a:prstGeom prst="rect">
                <a:avLst/>
              </a:prstGeom>
              <a:blipFill>
                <a:blip r:embed="rId6"/>
                <a:stretch>
                  <a:fillRect r="-1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po 2">
            <a:extLst>
              <a:ext uri="{FF2B5EF4-FFF2-40B4-BE49-F238E27FC236}">
                <a16:creationId xmlns:a16="http://schemas.microsoft.com/office/drawing/2014/main" id="{3E20BAD1-4B62-893E-9866-15A04F7177B3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4AB5B500-0E83-A159-0331-4BAA8169C236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" name="Picture 4" descr="ECIR2026">
              <a:extLst>
                <a:ext uri="{FF2B5EF4-FFF2-40B4-BE49-F238E27FC236}">
                  <a16:creationId xmlns:a16="http://schemas.microsoft.com/office/drawing/2014/main" id="{176AC919-7E53-F963-09D6-A843BF5C8A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975FAF36-27C5-08B4-3F11-D6EBA8EADBF0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23" name="Gruppo 22">
              <a:extLst>
                <a:ext uri="{FF2B5EF4-FFF2-40B4-BE49-F238E27FC236}">
                  <a16:creationId xmlns:a16="http://schemas.microsoft.com/office/drawing/2014/main" id="{BF044CB6-AC5D-AAB9-B82F-13D713B08B44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26" name="Picture 2" descr="Espace presse | EURECOM">
                <a:extLst>
                  <a:ext uri="{FF2B5EF4-FFF2-40B4-BE49-F238E27FC236}">
                    <a16:creationId xmlns:a16="http://schemas.microsoft.com/office/drawing/2014/main" id="{31BBB47C-4ADD-15D1-8271-39D0A508A6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id="{A7994C26-1AA6-8597-6366-1940687019BC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34" name="Segnaposto numero diapositiva 4">
            <a:extLst>
              <a:ext uri="{FF2B5EF4-FFF2-40B4-BE49-F238E27FC236}">
                <a16:creationId xmlns:a16="http://schemas.microsoft.com/office/drawing/2014/main" id="{17FDB4B4-282D-8BA4-B003-5C138433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3642" y="6408925"/>
            <a:ext cx="446355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10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sp>
        <p:nvSpPr>
          <p:cNvPr id="35" name="Segnaposto contenuto 2">
            <a:extLst>
              <a:ext uri="{FF2B5EF4-FFF2-40B4-BE49-F238E27FC236}">
                <a16:creationId xmlns:a16="http://schemas.microsoft.com/office/drawing/2014/main" id="{0B23DBBF-7202-6ED3-B2F5-E25735F8D39C}"/>
              </a:ext>
            </a:extLst>
          </p:cNvPr>
          <p:cNvSpPr txBox="1">
            <a:spLocks/>
          </p:cNvSpPr>
          <p:nvPr/>
        </p:nvSpPr>
        <p:spPr>
          <a:xfrm>
            <a:off x="762000" y="1318459"/>
            <a:ext cx="3931920" cy="4234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latin typeface="Footlight MT Light" panose="0204060206030A020304" pitchFamily="18" charset="77"/>
              </a:rPr>
              <a:t>Composite evaluation metric</a:t>
            </a:r>
          </a:p>
        </p:txBody>
      </p:sp>
      <p:sp>
        <p:nvSpPr>
          <p:cNvPr id="36" name="Titolo 1">
            <a:extLst>
              <a:ext uri="{FF2B5EF4-FFF2-40B4-BE49-F238E27FC236}">
                <a16:creationId xmlns:a16="http://schemas.microsoft.com/office/drawing/2014/main" id="{C5E20EB9-025C-B47F-57AD-8A74004FA547}"/>
              </a:ext>
            </a:extLst>
          </p:cNvPr>
          <p:cNvSpPr txBox="1">
            <a:spLocks/>
          </p:cNvSpPr>
          <p:nvPr/>
        </p:nvSpPr>
        <p:spPr>
          <a:xfrm>
            <a:off x="1611735" y="430629"/>
            <a:ext cx="2698376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StoryScore</a:t>
            </a:r>
            <a:endParaRPr lang="en-GB" sz="4000" dirty="0"/>
          </a:p>
        </p:txBody>
      </p: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CA16BCA3-B4A5-8E80-FE0E-7881ED335207}"/>
              </a:ext>
            </a:extLst>
          </p:cNvPr>
          <p:cNvGrpSpPr/>
          <p:nvPr/>
        </p:nvGrpSpPr>
        <p:grpSpPr>
          <a:xfrm>
            <a:off x="7889545" y="907132"/>
            <a:ext cx="3573378" cy="4854089"/>
            <a:chOff x="7889545" y="907132"/>
            <a:chExt cx="3573378" cy="4854089"/>
          </a:xfrm>
        </p:grpSpPr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4773489E-C56E-8315-A05D-485B551A7277}"/>
                </a:ext>
              </a:extLst>
            </p:cNvPr>
            <p:cNvGrpSpPr/>
            <p:nvPr/>
          </p:nvGrpSpPr>
          <p:grpSpPr>
            <a:xfrm>
              <a:off x="7923087" y="907132"/>
              <a:ext cx="3539836" cy="2521868"/>
              <a:chOff x="-529588" y="458896"/>
              <a:chExt cx="13493224" cy="4421730"/>
            </a:xfrm>
          </p:grpSpPr>
          <p:grpSp>
            <p:nvGrpSpPr>
              <p:cNvPr id="48" name="Gruppo 47">
                <a:extLst>
                  <a:ext uri="{FF2B5EF4-FFF2-40B4-BE49-F238E27FC236}">
                    <a16:creationId xmlns:a16="http://schemas.microsoft.com/office/drawing/2014/main" id="{3194D5C5-5EE9-F172-33B2-483B7B5759EE}"/>
                  </a:ext>
                </a:extLst>
              </p:cNvPr>
              <p:cNvGrpSpPr/>
              <p:nvPr/>
            </p:nvGrpSpPr>
            <p:grpSpPr>
              <a:xfrm>
                <a:off x="-529588" y="458896"/>
                <a:ext cx="13493224" cy="3866125"/>
                <a:chOff x="3036795" y="2028495"/>
                <a:chExt cx="6360458" cy="2507921"/>
              </a:xfrm>
            </p:grpSpPr>
            <p:cxnSp>
              <p:nvCxnSpPr>
                <p:cNvPr id="51" name="Connettore 1 50">
                  <a:extLst>
                    <a:ext uri="{FF2B5EF4-FFF2-40B4-BE49-F238E27FC236}">
                      <a16:creationId xmlns:a16="http://schemas.microsoft.com/office/drawing/2014/main" id="{95BEE1FB-DA0A-C08D-54AE-D4CE8D1000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456363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nettore 1 51">
                  <a:extLst>
                    <a:ext uri="{FF2B5EF4-FFF2-40B4-BE49-F238E27FC236}">
                      <a16:creationId xmlns:a16="http://schemas.microsoft.com/office/drawing/2014/main" id="{5C838F7B-D2EF-D923-D512-70A9B0350D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028495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nettore 1 52">
                  <a:extLst>
                    <a:ext uri="{FF2B5EF4-FFF2-40B4-BE49-F238E27FC236}">
                      <a16:creationId xmlns:a16="http://schemas.microsoft.com/office/drawing/2014/main" id="{1852F544-AFA5-486A-A69D-65E82DF021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383926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nettore 1 53">
                  <a:extLst>
                    <a:ext uri="{FF2B5EF4-FFF2-40B4-BE49-F238E27FC236}">
                      <a16:creationId xmlns:a16="http://schemas.microsoft.com/office/drawing/2014/main" id="{149ACF84-72E8-B55C-4602-DCEF12143E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2735533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nettore 1 54">
                  <a:extLst>
                    <a:ext uri="{FF2B5EF4-FFF2-40B4-BE49-F238E27FC236}">
                      <a16:creationId xmlns:a16="http://schemas.microsoft.com/office/drawing/2014/main" id="{72323418-AA57-B8FD-98C5-46656B6B46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095948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nettore 1 55">
                  <a:extLst>
                    <a:ext uri="{FF2B5EF4-FFF2-40B4-BE49-F238E27FC236}">
                      <a16:creationId xmlns:a16="http://schemas.microsoft.com/office/drawing/2014/main" id="{CD4E36D5-453F-F8A9-F1F9-AF0CA4C12E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3811794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nettore 1 56">
                  <a:extLst>
                    <a:ext uri="{FF2B5EF4-FFF2-40B4-BE49-F238E27FC236}">
                      <a16:creationId xmlns:a16="http://schemas.microsoft.com/office/drawing/2014/main" id="{8D345A35-6F99-8368-FEA3-CE32DF72BA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4163401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nettore 1 57">
                  <a:extLst>
                    <a:ext uri="{FF2B5EF4-FFF2-40B4-BE49-F238E27FC236}">
                      <a16:creationId xmlns:a16="http://schemas.microsoft.com/office/drawing/2014/main" id="{A9BC8697-D859-ABAE-9432-95A5DF69C4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6795" y="4523816"/>
                  <a:ext cx="6360458" cy="12600"/>
                </a:xfrm>
                <a:prstGeom prst="line">
                  <a:avLst/>
                </a:prstGeom>
                <a:ln>
                  <a:solidFill>
                    <a:srgbClr val="D4D4D4">
                      <a:alpha val="50167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Connettore 1 48">
                <a:extLst>
                  <a:ext uri="{FF2B5EF4-FFF2-40B4-BE49-F238E27FC236}">
                    <a16:creationId xmlns:a16="http://schemas.microsoft.com/office/drawing/2014/main" id="{B6C4C4D3-2C81-0A7F-BF23-90AADD6E13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529588" y="4861202"/>
                <a:ext cx="13493224" cy="19424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uppo 38">
              <a:extLst>
                <a:ext uri="{FF2B5EF4-FFF2-40B4-BE49-F238E27FC236}">
                  <a16:creationId xmlns:a16="http://schemas.microsoft.com/office/drawing/2014/main" id="{B7638ACD-8A89-BF6C-DD8E-75D1A68E4C4A}"/>
                </a:ext>
              </a:extLst>
            </p:cNvPr>
            <p:cNvGrpSpPr/>
            <p:nvPr/>
          </p:nvGrpSpPr>
          <p:grpSpPr>
            <a:xfrm>
              <a:off x="7889545" y="3413416"/>
              <a:ext cx="3539836" cy="2347805"/>
              <a:chOff x="3036795" y="2028495"/>
              <a:chExt cx="6360458" cy="2507921"/>
            </a:xfrm>
          </p:grpSpPr>
          <p:cxnSp>
            <p:nvCxnSpPr>
              <p:cNvPr id="40" name="Connettore 1 39">
                <a:extLst>
                  <a:ext uri="{FF2B5EF4-FFF2-40B4-BE49-F238E27FC236}">
                    <a16:creationId xmlns:a16="http://schemas.microsoft.com/office/drawing/2014/main" id="{3AE1CCFA-C94E-0CFC-BD35-E790B684CB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45636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nettore 1 40">
                <a:extLst>
                  <a:ext uri="{FF2B5EF4-FFF2-40B4-BE49-F238E27FC236}">
                    <a16:creationId xmlns:a16="http://schemas.microsoft.com/office/drawing/2014/main" id="{AAC850D5-E330-C790-AD45-153C23544E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028495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nettore 1 41">
                <a:extLst>
                  <a:ext uri="{FF2B5EF4-FFF2-40B4-BE49-F238E27FC236}">
                    <a16:creationId xmlns:a16="http://schemas.microsoft.com/office/drawing/2014/main" id="{2C498232-8421-80B0-57B0-9F9D6FA746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38392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ttore 1 42">
                <a:extLst>
                  <a:ext uri="{FF2B5EF4-FFF2-40B4-BE49-F238E27FC236}">
                    <a16:creationId xmlns:a16="http://schemas.microsoft.com/office/drawing/2014/main" id="{9223C2AD-A65F-6F9C-84B1-B7247B3DF2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73553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ttore 1 43">
                <a:extLst>
                  <a:ext uri="{FF2B5EF4-FFF2-40B4-BE49-F238E27FC236}">
                    <a16:creationId xmlns:a16="http://schemas.microsoft.com/office/drawing/2014/main" id="{EEB5F006-6FC4-B270-9BA4-CC7AFA9A55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095948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nettore 1 44">
                <a:extLst>
                  <a:ext uri="{FF2B5EF4-FFF2-40B4-BE49-F238E27FC236}">
                    <a16:creationId xmlns:a16="http://schemas.microsoft.com/office/drawing/2014/main" id="{5A3F201A-4E1E-6161-70DA-F70856DD71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811794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ttore 1 45">
                <a:extLst>
                  <a:ext uri="{FF2B5EF4-FFF2-40B4-BE49-F238E27FC236}">
                    <a16:creationId xmlns:a16="http://schemas.microsoft.com/office/drawing/2014/main" id="{6DC2541B-64DF-B65A-AECB-BEF566CEF3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163401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nettore 1 46">
                <a:extLst>
                  <a:ext uri="{FF2B5EF4-FFF2-40B4-BE49-F238E27FC236}">
                    <a16:creationId xmlns:a16="http://schemas.microsoft.com/office/drawing/2014/main" id="{C4D348DD-CE1B-0A02-E73D-CC6B37DBEA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52381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60" name="Immagine 59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1901310E-B647-8F75-CF85-1543DE4C0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D1529A51-3FC5-56F6-25BD-C9CA29ADCAC4}"/>
                  </a:ext>
                </a:extLst>
              </p:cNvPr>
              <p:cNvSpPr txBox="1"/>
              <p:nvPr/>
            </p:nvSpPr>
            <p:spPr>
              <a:xfrm>
                <a:off x="7835285" y="836330"/>
                <a:ext cx="3648357" cy="4871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400" b="0" i="0" u="none" strike="noStrike" dirty="0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No </a:t>
                </a:r>
                <a:r>
                  <a:rPr lang="it-IT" sz="2400" b="0" i="0" u="none" strike="noStrike" dirty="0" err="1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Hallucination</a:t>
                </a:r>
                <a:endParaRPr lang="it-IT" sz="2400" b="0" i="0" u="none" strike="noStrike" dirty="0">
                  <a:solidFill>
                    <a:srgbClr val="31489F"/>
                  </a:solidFill>
                  <a:effectLst/>
                  <a:latin typeface="Footlight MT Light" panose="0204060206030A020304" pitchFamily="18" charset="77"/>
                </a:endParaRPr>
              </a:p>
              <a:p>
                <a:pPr algn="ctr"/>
                <a:r>
                  <a:rPr lang="it-IT" sz="20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(no </a:t>
                </a:r>
                <a:r>
                  <a:rPr lang="it-IT" sz="20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invented</a:t>
                </a:r>
                <a:r>
                  <a:rPr lang="it-IT" sz="20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 </a:t>
                </a:r>
                <a:r>
                  <a:rPr lang="it-IT" sz="20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entities</a:t>
                </a:r>
                <a:r>
                  <a:rPr lang="it-IT" sz="20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)</a:t>
                </a:r>
              </a:p>
              <a:p>
                <a:pPr algn="ctr"/>
                <a:endParaRPr lang="it-IT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 err="1">
                    <a:latin typeface="Footlight MT Light" panose="0204060206030A020304" pitchFamily="18" charset="77"/>
                  </a:rPr>
                  <a:t>Extraction</a:t>
                </a:r>
                <a:r>
                  <a:rPr lang="it-IT" dirty="0">
                    <a:latin typeface="Footlight MT Light" panose="0204060206030A020304" pitchFamily="18" charset="77"/>
                  </a:rPr>
                  <a:t> of candidate </a:t>
                </a:r>
                <a:r>
                  <a:rPr lang="it-IT" dirty="0" err="1">
                    <a:latin typeface="Footlight MT Light" panose="0204060206030A020304" pitchFamily="18" charset="77"/>
                  </a:rPr>
                  <a:t>entities</a:t>
                </a:r>
                <a:r>
                  <a:rPr lang="it-IT" dirty="0">
                    <a:latin typeface="Footlight MT Light" panose="0204060206030A020304" pitchFamily="18" charset="77"/>
                  </a:rPr>
                  <a:t> (</a:t>
                </a:r>
                <a:r>
                  <a:rPr lang="it-IT" dirty="0" err="1">
                    <a:latin typeface="Footlight MT Light" panose="0204060206030A020304" pitchFamily="18" charset="77"/>
                  </a:rPr>
                  <a:t>Named</a:t>
                </a:r>
                <a:r>
                  <a:rPr lang="it-IT" dirty="0">
                    <a:latin typeface="Footlight MT Light" panose="0204060206030A020304" pitchFamily="18" charset="77"/>
                  </a:rPr>
                  <a:t> </a:t>
                </a:r>
                <a:r>
                  <a:rPr lang="it-IT" dirty="0" err="1">
                    <a:latin typeface="Footlight MT Light" panose="0204060206030A020304" pitchFamily="18" charset="77"/>
                  </a:rPr>
                  <a:t>Entities</a:t>
                </a:r>
                <a:r>
                  <a:rPr lang="it-IT" dirty="0">
                    <a:latin typeface="Footlight MT Light" panose="0204060206030A020304" pitchFamily="18" charset="77"/>
                  </a:rPr>
                  <a:t> </a:t>
                </a:r>
                <a:r>
                  <a:rPr lang="it-IT" dirty="0" err="1">
                    <a:latin typeface="Footlight MT Light" panose="0204060206030A020304" pitchFamily="18" charset="77"/>
                  </a:rPr>
                  <a:t>wih</a:t>
                </a:r>
                <a:r>
                  <a:rPr lang="it-IT" dirty="0">
                    <a:latin typeface="Footlight MT Light" panose="0204060206030A020304" pitchFamily="18" charset="77"/>
                  </a:rPr>
                  <a:t> </a:t>
                </a:r>
                <a:r>
                  <a:rPr lang="it-IT" dirty="0" err="1">
                    <a:latin typeface="Footlight MT Light" panose="0204060206030A020304" pitchFamily="18" charset="77"/>
                  </a:rPr>
                  <a:t>Spacy</a:t>
                </a:r>
                <a:r>
                  <a:rPr lang="it-IT" dirty="0">
                    <a:latin typeface="Footlight MT Light" panose="0204060206030A020304" pitchFamily="18" charset="77"/>
                  </a:rPr>
                  <a:t> «PERS» and «ORG») from the paper and the story.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>
                  <a:latin typeface="Footlight MT Light" panose="0204060206030A020304" pitchFamily="18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𝐻𝑎𝑙𝑙𝑢𝑐𝑖𝑛𝑎𝑡𝑖𝑜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</m:sub>
                    </m:sSub>
                    <m:r>
                      <a:rPr lang="it-IT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######</m:t>
                                </m:r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.  </m:t>
                                </m:r>
                                <m:r>
                                  <a:rPr lang="it-IT" i="1" dirty="0" err="1" smtClean="0">
                                    <a:latin typeface="Cambria Math" panose="02040503050406030204" pitchFamily="18" charset="0"/>
                                  </a:rPr>
                                  <m:t>𝑒𝑛𝑡𝑖𝑡𝑖𝑒𝑠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𝑡h𝑒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𝑠𝑡𝑜𝑟𝑦</m:t>
                                </m:r>
                              </m:e>
                              <m:e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𝑁𝑂𝑇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err="1" smtClean="0">
                                    <a:latin typeface="Cambria Math" panose="02040503050406030204" pitchFamily="18" charset="0"/>
                                  </a:rPr>
                                  <m:t>𝑝𝑟𝑒𝑠𝑒𝑛𝑡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𝑡h𝑒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𝑝𝑎𝑝𝑒𝑟</m:t>
                                </m:r>
                              </m:e>
                            </m:eqArr>
                          </m:e>
                        </m:d>
                      </m:num>
                      <m:den>
                        <m:d>
                          <m:d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.  </m:t>
                            </m:r>
                            <m:r>
                              <a:rPr lang="it-IT" i="1" dirty="0" err="1">
                                <a:latin typeface="Cambria Math" panose="02040503050406030204" pitchFamily="18" charset="0"/>
                              </a:rPr>
                              <m:t>𝑒𝑛𝑡𝑖𝑡𝑖𝑒𝑠</m:t>
                            </m:r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𝑡h𝑒</m:t>
                            </m:r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𝑠𝑡𝑜𝑟𝑦</m:t>
                            </m:r>
                          </m:e>
                        </m:d>
                      </m:den>
                    </m:f>
                  </m:oMath>
                </a14:m>
                <a:endParaRPr lang="it-IT" dirty="0">
                  <a:latin typeface="Footlight MT Light" panose="0204060206030A020304" pitchFamily="18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>
                  <a:latin typeface="Footlight MT Light" panose="0204060206030A020304" pitchFamily="18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𝑁𝑜𝐻𝑎𝑙𝑙𝑢𝑐𝑖𝑛𝑎𝑡𝑖𝑜𝑛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 = 1 – </m:t>
                    </m:r>
                    <m:r>
                      <a:rPr lang="it-IT" i="1" dirty="0" err="1" smtClean="0">
                        <a:latin typeface="Cambria Math" panose="02040503050406030204" pitchFamily="18" charset="0"/>
                      </a:rPr>
                      <m:t>h𝑎𝑙𝑙𝑢𝑐𝑖𝑛𝑎𝑡𝑖𝑜</m:t>
                    </m:r>
                    <m:sSub>
                      <m:sSubPr>
                        <m:ctrlPr>
                          <a:rPr lang="it-IT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</m:sub>
                    </m:sSub>
                  </m:oMath>
                </a14:m>
                <a:endParaRPr lang="it-IT" dirty="0">
                  <a:latin typeface="Footlight MT Light" panose="0204060206030A020304" pitchFamily="18" charset="77"/>
                </a:endParaRPr>
              </a:p>
              <a:p>
                <a:endParaRPr lang="it-IT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pPr algn="ctr"/>
                <a:r>
                  <a:rPr lang="it-IT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Scale: 0–1</a:t>
                </a:r>
              </a:p>
              <a:p>
                <a:pPr algn="ctr"/>
                <a:r>
                  <a:rPr lang="it-IT" sz="11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High </a:t>
                </a:r>
                <a:r>
                  <a:rPr lang="it-IT" sz="11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value</a:t>
                </a:r>
                <a:r>
                  <a:rPr lang="it-IT" sz="11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 = </a:t>
                </a:r>
                <a:r>
                  <a:rPr lang="it-IT" sz="11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almost</a:t>
                </a:r>
                <a:r>
                  <a:rPr lang="it-IT" sz="11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 no </a:t>
                </a:r>
                <a:r>
                  <a:rPr lang="it-IT" sz="11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fictional</a:t>
                </a:r>
                <a:r>
                  <a:rPr lang="it-IT" sz="1100" dirty="0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 </a:t>
                </a:r>
                <a:r>
                  <a:rPr lang="it-IT" sz="1100" dirty="0" err="1">
                    <a:solidFill>
                      <a:srgbClr val="31489F"/>
                    </a:solidFill>
                    <a:latin typeface="Footlight MT Light" panose="0204060206030A020304" pitchFamily="18" charset="77"/>
                  </a:rPr>
                  <a:t>entities</a:t>
                </a:r>
                <a:endParaRPr lang="it-IT" sz="1100" dirty="0">
                  <a:solidFill>
                    <a:srgbClr val="31489F"/>
                  </a:solidFill>
                  <a:latin typeface="Footlight MT Light" panose="0204060206030A020304" pitchFamily="18" charset="77"/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D1529A51-3FC5-56F6-25BD-C9CA29ADC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285" y="836330"/>
                <a:ext cx="3648357" cy="4871398"/>
              </a:xfrm>
              <a:prstGeom prst="rect">
                <a:avLst/>
              </a:prstGeom>
              <a:blipFill>
                <a:blip r:embed="rId9"/>
                <a:stretch>
                  <a:fillRect l="-1038" t="-1039" r="-27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347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B7C64B40-5E13-AF22-CFAB-512DE353C8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74D19F-04E0-32FF-E8F7-15CCE8BDF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  <a:latin typeface="Footlight MT Light" panose="0204060206030A020304" pitchFamily="18" charset="77"/>
              </a:rPr>
              <a:t>A new metric for AI-generated scientific stories:</a:t>
            </a:r>
            <a:br>
              <a:rPr lang="en-GB" dirty="0">
                <a:solidFill>
                  <a:schemeClr val="bg1">
                    <a:lumMod val="65000"/>
                  </a:schemeClr>
                </a:solidFill>
                <a:latin typeface="Footlight MT Light" panose="0204060206030A020304" pitchFamily="18" charset="77"/>
              </a:rPr>
            </a:br>
            <a:r>
              <a:rPr lang="en-GB" dirty="0">
                <a:solidFill>
                  <a:schemeClr val="bg1">
                    <a:lumMod val="65000"/>
                  </a:schemeClr>
                </a:solidFill>
                <a:latin typeface="Footlight MT Light" panose="0204060206030A020304" pitchFamily="18" charset="77"/>
              </a:rPr>
              <a:t>the </a:t>
            </a:r>
            <a:r>
              <a:rPr lang="en-GB" b="1" i="1" dirty="0" err="1">
                <a:solidFill>
                  <a:schemeClr val="bg1">
                    <a:lumMod val="65000"/>
                  </a:schemeClr>
                </a:solidFill>
                <a:latin typeface="Footlight MT Light" panose="0204060206030A020304" pitchFamily="18" charset="77"/>
              </a:rPr>
              <a:t>StoryScore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  <a:latin typeface="Footlight MT Light" panose="0204060206030A020304" pitchFamily="18" charset="77"/>
              </a:rPr>
              <a:t> metric</a:t>
            </a:r>
          </a:p>
          <a:p>
            <a:endParaRPr lang="en-GB" dirty="0">
              <a:solidFill>
                <a:schemeClr val="bg1">
                  <a:lumMod val="65000"/>
                </a:schemeClr>
              </a:solidFill>
              <a:latin typeface="Footlight MT Light" panose="0204060206030A020304" pitchFamily="18" charset="77"/>
            </a:endParaRPr>
          </a:p>
          <a:p>
            <a:r>
              <a:rPr lang="en-GB" dirty="0">
                <a:latin typeface="Footlight MT Light" panose="0204060206030A020304" pitchFamily="18" charset="77"/>
              </a:rPr>
              <a:t>A comparison of different hallucination detectors for AI-generated scientific stories</a:t>
            </a:r>
          </a:p>
          <a:p>
            <a:endParaRPr lang="en-GB" dirty="0">
              <a:latin typeface="Footlight MT Light" panose="0204060206030A020304" pitchFamily="18" charset="77"/>
            </a:endParaRP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D8B4424B-7F21-901A-5B64-15C8D11362DE}"/>
              </a:ext>
            </a:extLst>
          </p:cNvPr>
          <p:cNvSpPr txBox="1">
            <a:spLocks/>
          </p:cNvSpPr>
          <p:nvPr/>
        </p:nvSpPr>
        <p:spPr>
          <a:xfrm>
            <a:off x="1588258" y="465235"/>
            <a:ext cx="10515600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Our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Contribution</a:t>
            </a:r>
            <a:endParaRPr lang="en-GB" sz="4000" dirty="0"/>
          </a:p>
        </p:txBody>
      </p:sp>
      <p:pic>
        <p:nvPicPr>
          <p:cNvPr id="6" name="Immagine 5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1BA22237-66E3-5E1E-CC90-2A86264D4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85EDF692-5A54-848C-EC18-F57526445069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73E4BE45-6AD1-A566-64F7-2D5EE6522BA6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8" name="Picture 4" descr="ECIR2026">
              <a:extLst>
                <a:ext uri="{FF2B5EF4-FFF2-40B4-BE49-F238E27FC236}">
                  <a16:creationId xmlns:a16="http://schemas.microsoft.com/office/drawing/2014/main" id="{9A22514A-31FF-E9A8-B149-63C46596C4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8E05FE5B-FD8E-CCE0-8BF7-27F441AAEBE9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6A9826D8-E94E-8382-DCFC-698AA1798C2E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11" name="Picture 2" descr="Espace presse | EURECOM">
                <a:extLst>
                  <a:ext uri="{FF2B5EF4-FFF2-40B4-BE49-F238E27FC236}">
                    <a16:creationId xmlns:a16="http://schemas.microsoft.com/office/drawing/2014/main" id="{9C57B36C-36B2-0C42-4771-E8890AE9F1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ED08F7D5-6732-5F05-D47B-6F9AEFFD8786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91646FBC-6651-A52B-5472-86FDA884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3642" y="6408925"/>
            <a:ext cx="446355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11</a:t>
            </a:fld>
            <a:endParaRPr lang="it-FR" dirty="0">
              <a:latin typeface="Footlight MT Light" panose="0204060206030A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0249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B7C64B40-5E13-AF22-CFAB-512DE353C8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2709822" y="-3762452"/>
            <a:ext cx="9698035" cy="10772716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74D19F-04E0-32FF-E8F7-15CCE8BDF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16" y="1588034"/>
            <a:ext cx="10190768" cy="2019836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latin typeface="Footlight MT Light" panose="0204060206030A020304" pitchFamily="18" charset="77"/>
              </a:rPr>
              <a:t>Why it matters?</a:t>
            </a:r>
            <a:endParaRPr lang="en-GB" sz="1600" b="1" dirty="0">
              <a:latin typeface="Footlight MT Light" panose="0204060206030A020304" pitchFamily="18" charset="77"/>
            </a:endParaRPr>
          </a:p>
          <a:p>
            <a:r>
              <a:rPr lang="en-GB" sz="2400" dirty="0">
                <a:latin typeface="Footlight MT Light" panose="0204060206030A020304" pitchFamily="18" charset="77"/>
              </a:rPr>
              <a:t>A scientific story must remain </a:t>
            </a:r>
            <a:r>
              <a:rPr lang="en-GB" sz="2400" b="1" dirty="0">
                <a:latin typeface="Footlight MT Light" panose="0204060206030A020304" pitchFamily="18" charset="77"/>
              </a:rPr>
              <a:t>faithful</a:t>
            </a:r>
            <a:r>
              <a:rPr lang="en-GB" sz="2400" dirty="0">
                <a:latin typeface="Footlight MT Light" panose="0204060206030A020304" pitchFamily="18" charset="77"/>
              </a:rPr>
              <a:t> to the paper</a:t>
            </a:r>
          </a:p>
          <a:p>
            <a:r>
              <a:rPr lang="en-GB" sz="2400" dirty="0">
                <a:latin typeface="Footlight MT Light" panose="0204060206030A020304" pitchFamily="18" charset="77"/>
              </a:rPr>
              <a:t>Invented entities, wrong names, or unsupported claims </a:t>
            </a:r>
            <a:r>
              <a:rPr lang="en-GB" sz="2400" b="1" dirty="0">
                <a:latin typeface="Footlight MT Light" panose="0204060206030A020304" pitchFamily="18" charset="77"/>
              </a:rPr>
              <a:t>reduce trust</a:t>
            </a:r>
          </a:p>
          <a:p>
            <a:r>
              <a:rPr lang="en-GB" sz="2400" dirty="0">
                <a:latin typeface="Footlight MT Light" panose="0204060206030A020304" pitchFamily="18" charset="77"/>
              </a:rPr>
              <a:t>Hallucination detection is therefore a key </a:t>
            </a:r>
            <a:r>
              <a:rPr lang="en-GB" sz="2400" b="1" dirty="0">
                <a:latin typeface="Footlight MT Light" panose="0204060206030A020304" pitchFamily="18" charset="77"/>
              </a:rPr>
              <a:t>evaluation dimension</a:t>
            </a: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D8B4424B-7F21-901A-5B64-15C8D11362DE}"/>
              </a:ext>
            </a:extLst>
          </p:cNvPr>
          <p:cNvSpPr txBox="1">
            <a:spLocks/>
          </p:cNvSpPr>
          <p:nvPr/>
        </p:nvSpPr>
        <p:spPr>
          <a:xfrm>
            <a:off x="1588258" y="465235"/>
            <a:ext cx="10515600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Hallucination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Detection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32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in Scientific Storytelling</a:t>
            </a:r>
            <a:endParaRPr lang="en-GB" sz="4000" dirty="0"/>
          </a:p>
        </p:txBody>
      </p:sp>
      <p:pic>
        <p:nvPicPr>
          <p:cNvPr id="6" name="Immagine 5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1BA22237-66E3-5E1E-CC90-2A86264D4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85EDF692-5A54-848C-EC18-F57526445069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73E4BE45-6AD1-A566-64F7-2D5EE6522BA6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8" name="Picture 4" descr="ECIR2026">
              <a:extLst>
                <a:ext uri="{FF2B5EF4-FFF2-40B4-BE49-F238E27FC236}">
                  <a16:creationId xmlns:a16="http://schemas.microsoft.com/office/drawing/2014/main" id="{9A22514A-31FF-E9A8-B149-63C46596C4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8E05FE5B-FD8E-CCE0-8BF7-27F441AAEBE9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6A9826D8-E94E-8382-DCFC-698AA1798C2E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11" name="Picture 2" descr="Espace presse | EURECOM">
                <a:extLst>
                  <a:ext uri="{FF2B5EF4-FFF2-40B4-BE49-F238E27FC236}">
                    <a16:creationId xmlns:a16="http://schemas.microsoft.com/office/drawing/2014/main" id="{9C57B36C-36B2-0C42-4771-E8890AE9F1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ED08F7D5-6732-5F05-D47B-6F9AEFFD8786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91646FBC-6651-A52B-5472-86FDA884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3642" y="6408925"/>
            <a:ext cx="446355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12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11A7D861-F12C-34B9-1596-53253B6C90A8}"/>
              </a:ext>
            </a:extLst>
          </p:cNvPr>
          <p:cNvSpPr txBox="1">
            <a:spLocks/>
          </p:cNvSpPr>
          <p:nvPr/>
        </p:nvSpPr>
        <p:spPr>
          <a:xfrm>
            <a:off x="892868" y="3835934"/>
            <a:ext cx="10406264" cy="201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>
                <a:latin typeface="Footlight MT Light" panose="0204060206030A020304" pitchFamily="18" charset="77"/>
              </a:rPr>
              <a:t>Why it is hard in a creative setting?</a:t>
            </a:r>
            <a:endParaRPr lang="en-GB" sz="1600" b="1" dirty="0">
              <a:latin typeface="Footlight MT Light" panose="0204060206030A020304" pitchFamily="18" charset="77"/>
            </a:endParaRPr>
          </a:p>
          <a:p>
            <a:r>
              <a:rPr lang="en-GB" sz="2400" dirty="0">
                <a:latin typeface="Footlight MT Light" panose="0204060206030A020304" pitchFamily="18" charset="77"/>
              </a:rPr>
              <a:t>Stories may use </a:t>
            </a:r>
            <a:r>
              <a:rPr lang="en-GB" sz="2400" b="1" dirty="0">
                <a:latin typeface="Footlight MT Light" panose="0204060206030A020304" pitchFamily="18" charset="77"/>
              </a:rPr>
              <a:t>metaphors and analogies</a:t>
            </a:r>
          </a:p>
          <a:p>
            <a:r>
              <a:rPr lang="en-GB" sz="2400" dirty="0">
                <a:latin typeface="Footlight MT Light" panose="0204060206030A020304" pitchFamily="18" charset="77"/>
              </a:rPr>
              <a:t>Stories may </a:t>
            </a:r>
            <a:r>
              <a:rPr lang="en-GB" sz="2400" b="1" dirty="0">
                <a:latin typeface="Footlight MT Light" panose="0204060206030A020304" pitchFamily="18" charset="77"/>
              </a:rPr>
              <a:t>simplify terms </a:t>
            </a:r>
            <a:r>
              <a:rPr lang="en-GB" sz="2400" dirty="0">
                <a:latin typeface="Footlight MT Light" panose="0204060206030A020304" pitchFamily="18" charset="77"/>
              </a:rPr>
              <a:t>for non-expert audiences</a:t>
            </a:r>
          </a:p>
          <a:p>
            <a:r>
              <a:rPr lang="en-GB" sz="2400" b="1" dirty="0">
                <a:latin typeface="Footlight MT Light" panose="0204060206030A020304" pitchFamily="18" charset="77"/>
              </a:rPr>
              <a:t>Not every wording difference is a hallucination</a:t>
            </a:r>
          </a:p>
          <a:p>
            <a:endParaRPr lang="en-GB" sz="2400" dirty="0">
              <a:latin typeface="Footlight MT Light" panose="0204060206030A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75218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A54D1E73-8482-6FCB-31A7-88F480A9FE1F}"/>
              </a:ext>
            </a:extLst>
          </p:cNvPr>
          <p:cNvSpPr/>
          <p:nvPr/>
        </p:nvSpPr>
        <p:spPr>
          <a:xfrm>
            <a:off x="313151" y="1621516"/>
            <a:ext cx="11616846" cy="1994520"/>
          </a:xfrm>
          <a:prstGeom prst="roundRect">
            <a:avLst>
              <a:gd name="adj" fmla="val 9800"/>
            </a:avLst>
          </a:prstGeom>
          <a:solidFill>
            <a:srgbClr val="FFFFFF">
              <a:alpha val="50196"/>
            </a:srgbClr>
          </a:solidFill>
          <a:ln w="28575">
            <a:solidFill>
              <a:srgbClr val="B8B8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Rettangolo con angoli arrotondati 126">
            <a:extLst>
              <a:ext uri="{FF2B5EF4-FFF2-40B4-BE49-F238E27FC236}">
                <a16:creationId xmlns:a16="http://schemas.microsoft.com/office/drawing/2014/main" id="{524ED443-F345-5F69-ABC6-83B274B41FB5}"/>
              </a:ext>
            </a:extLst>
          </p:cNvPr>
          <p:cNvSpPr/>
          <p:nvPr/>
        </p:nvSpPr>
        <p:spPr>
          <a:xfrm>
            <a:off x="313151" y="4115930"/>
            <a:ext cx="11616846" cy="1994520"/>
          </a:xfrm>
          <a:prstGeom prst="roundRect">
            <a:avLst>
              <a:gd name="adj" fmla="val 9800"/>
            </a:avLst>
          </a:prstGeom>
          <a:solidFill>
            <a:srgbClr val="FFFFFF">
              <a:alpha val="50196"/>
            </a:srgbClr>
          </a:solidFill>
          <a:ln w="28575">
            <a:solidFill>
              <a:srgbClr val="B8B8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Immagine 13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B7C64B40-5E13-AF22-CFAB-512DE353C8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2709822" y="-2889705"/>
            <a:ext cx="9698035" cy="10772716"/>
          </a:xfrm>
          <a:prstGeom prst="rect">
            <a:avLst/>
          </a:prstGeom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D8B4424B-7F21-901A-5B64-15C8D11362DE}"/>
              </a:ext>
            </a:extLst>
          </p:cNvPr>
          <p:cNvSpPr txBox="1">
            <a:spLocks/>
          </p:cNvSpPr>
          <p:nvPr/>
        </p:nvSpPr>
        <p:spPr>
          <a:xfrm>
            <a:off x="1588258" y="465235"/>
            <a:ext cx="10515600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Hallucination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Detection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32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in Scientific Storytelling</a:t>
            </a:r>
            <a:endParaRPr lang="en-GB" sz="4000" dirty="0"/>
          </a:p>
        </p:txBody>
      </p:sp>
      <p:pic>
        <p:nvPicPr>
          <p:cNvPr id="6" name="Immagine 5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1BA22237-66E3-5E1E-CC90-2A86264D4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85EDF692-5A54-848C-EC18-F57526445069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73E4BE45-6AD1-A566-64F7-2D5EE6522BA6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8" name="Picture 4" descr="ECIR2026">
              <a:extLst>
                <a:ext uri="{FF2B5EF4-FFF2-40B4-BE49-F238E27FC236}">
                  <a16:creationId xmlns:a16="http://schemas.microsoft.com/office/drawing/2014/main" id="{9A22514A-31FF-E9A8-B149-63C46596C4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8E05FE5B-FD8E-CCE0-8BF7-27F441AAEBE9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6A9826D8-E94E-8382-DCFC-698AA1798C2E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11" name="Picture 2" descr="Espace presse | EURECOM">
                <a:extLst>
                  <a:ext uri="{FF2B5EF4-FFF2-40B4-BE49-F238E27FC236}">
                    <a16:creationId xmlns:a16="http://schemas.microsoft.com/office/drawing/2014/main" id="{9C57B36C-36B2-0C42-4771-E8890AE9F1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ED08F7D5-6732-5F05-D47B-6F9AEFFD8786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91646FBC-6651-A52B-5472-86FDA884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3642" y="6408925"/>
            <a:ext cx="446355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13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8CB0ED68-E14C-367F-7536-A261532EE356}"/>
              </a:ext>
            </a:extLst>
          </p:cNvPr>
          <p:cNvSpPr/>
          <p:nvPr/>
        </p:nvSpPr>
        <p:spPr>
          <a:xfrm>
            <a:off x="4700375" y="1852173"/>
            <a:ext cx="3510952" cy="1514553"/>
          </a:xfrm>
          <a:prstGeom prst="rect">
            <a:avLst/>
          </a:prstGeom>
          <a:solidFill>
            <a:schemeClr val="l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227AB419-DC8B-05C8-87F3-F83F1D5194AE}"/>
              </a:ext>
            </a:extLst>
          </p:cNvPr>
          <p:cNvGrpSpPr/>
          <p:nvPr/>
        </p:nvGrpSpPr>
        <p:grpSpPr>
          <a:xfrm>
            <a:off x="5025399" y="2031894"/>
            <a:ext cx="3030569" cy="1307104"/>
            <a:chOff x="3036795" y="2028495"/>
            <a:chExt cx="6360458" cy="2507921"/>
          </a:xfrm>
        </p:grpSpPr>
        <p:cxnSp>
          <p:nvCxnSpPr>
            <p:cNvPr id="31" name="Connettore 1 30">
              <a:extLst>
                <a:ext uri="{FF2B5EF4-FFF2-40B4-BE49-F238E27FC236}">
                  <a16:creationId xmlns:a16="http://schemas.microsoft.com/office/drawing/2014/main" id="{1104D579-4905-1C29-B4A2-5E9687D56E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3456363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1">
              <a:extLst>
                <a:ext uri="{FF2B5EF4-FFF2-40B4-BE49-F238E27FC236}">
                  <a16:creationId xmlns:a16="http://schemas.microsoft.com/office/drawing/2014/main" id="{F03DAF19-FDC8-64EF-E591-8E0D145B00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2028495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2">
              <a:extLst>
                <a:ext uri="{FF2B5EF4-FFF2-40B4-BE49-F238E27FC236}">
                  <a16:creationId xmlns:a16="http://schemas.microsoft.com/office/drawing/2014/main" id="{192351E2-432F-A0F1-90C1-20CD765151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2383926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3">
              <a:extLst>
                <a:ext uri="{FF2B5EF4-FFF2-40B4-BE49-F238E27FC236}">
                  <a16:creationId xmlns:a16="http://schemas.microsoft.com/office/drawing/2014/main" id="{6D60DA6A-4F1F-095E-65BA-FFD5A178B5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2735533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34">
              <a:extLst>
                <a:ext uri="{FF2B5EF4-FFF2-40B4-BE49-F238E27FC236}">
                  <a16:creationId xmlns:a16="http://schemas.microsoft.com/office/drawing/2014/main" id="{209E3605-EC94-8F86-D3BC-4DDE469B9F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3095948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35">
              <a:extLst>
                <a:ext uri="{FF2B5EF4-FFF2-40B4-BE49-F238E27FC236}">
                  <a16:creationId xmlns:a16="http://schemas.microsoft.com/office/drawing/2014/main" id="{2FE19B87-B2C6-0963-CB4D-BADC135FE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3811794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36">
              <a:extLst>
                <a:ext uri="{FF2B5EF4-FFF2-40B4-BE49-F238E27FC236}">
                  <a16:creationId xmlns:a16="http://schemas.microsoft.com/office/drawing/2014/main" id="{380EF20A-FC36-2EFC-7EFD-82438EAFE1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4163401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37">
              <a:extLst>
                <a:ext uri="{FF2B5EF4-FFF2-40B4-BE49-F238E27FC236}">
                  <a16:creationId xmlns:a16="http://schemas.microsoft.com/office/drawing/2014/main" id="{F50BC9EA-D2AD-018A-F7E8-D45D79E063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4523816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71838534-2342-709B-BAF4-5DF4001B2134}"/>
              </a:ext>
            </a:extLst>
          </p:cNvPr>
          <p:cNvSpPr txBox="1"/>
          <p:nvPr/>
        </p:nvSpPr>
        <p:spPr>
          <a:xfrm>
            <a:off x="4796555" y="1995691"/>
            <a:ext cx="3259413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Story</a:t>
            </a:r>
          </a:p>
          <a:p>
            <a:pPr algn="l"/>
            <a:endParaRPr lang="it-IT" sz="1200" b="1" dirty="0">
              <a:solidFill>
                <a:srgbClr val="000000"/>
              </a:solidFill>
              <a:latin typeface="Footlight MT Light" panose="0204060206030A020304" pitchFamily="18" charset="77"/>
            </a:endParaRPr>
          </a:p>
          <a:p>
            <a:pPr algn="l"/>
            <a:endParaRPr lang="it-IT" sz="500" b="0" i="0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  <a:p>
            <a:r>
              <a:rPr lang="it-IT" dirty="0">
                <a:latin typeface="Footlight MT Light" panose="0204060206030A020304" pitchFamily="18" charset="77"/>
              </a:rPr>
              <a:t>“</a:t>
            </a:r>
            <a:r>
              <a:rPr lang="it-IT" dirty="0" err="1">
                <a:latin typeface="Footlight MT Light" panose="0204060206030A020304" pitchFamily="18" charset="77"/>
              </a:rPr>
              <a:t>It</a:t>
            </a:r>
            <a:r>
              <a:rPr lang="it-IT" dirty="0">
                <a:latin typeface="Footlight MT Light" panose="0204060206030A020304" pitchFamily="18" charset="77"/>
              </a:rPr>
              <a:t> acts like a </a:t>
            </a:r>
            <a:r>
              <a:rPr lang="it-IT" dirty="0" err="1">
                <a:latin typeface="Footlight MT Light" panose="0204060206030A020304" pitchFamily="18" charset="77"/>
              </a:rPr>
              <a:t>messenger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passing</a:t>
            </a:r>
            <a:r>
              <a:rPr lang="it-IT" dirty="0">
                <a:latin typeface="Footlight MT Light" panose="0204060206030A020304" pitchFamily="18" charset="77"/>
              </a:rPr>
              <a:t> information </a:t>
            </a:r>
            <a:r>
              <a:rPr lang="it-IT" dirty="0" err="1">
                <a:latin typeface="Footlight MT Light" panose="0204060206030A020304" pitchFamily="18" charset="77"/>
              </a:rPr>
              <a:t>forward</a:t>
            </a:r>
            <a:r>
              <a:rPr lang="it-IT" dirty="0">
                <a:latin typeface="Footlight MT Light" panose="0204060206030A020304" pitchFamily="18" charset="77"/>
              </a:rPr>
              <a:t>.”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3B223A88-91E1-D83E-8BA2-7EF29F1F5A8C}"/>
              </a:ext>
            </a:extLst>
          </p:cNvPr>
          <p:cNvSpPr/>
          <p:nvPr/>
        </p:nvSpPr>
        <p:spPr>
          <a:xfrm>
            <a:off x="644803" y="1857302"/>
            <a:ext cx="3590747" cy="1495525"/>
          </a:xfrm>
          <a:prstGeom prst="rect">
            <a:avLst/>
          </a:prstGeom>
          <a:solidFill>
            <a:schemeClr val="l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9E2352C6-C3FB-AE3B-6B93-AB85CB279D69}"/>
              </a:ext>
            </a:extLst>
          </p:cNvPr>
          <p:cNvGrpSpPr/>
          <p:nvPr/>
        </p:nvGrpSpPr>
        <p:grpSpPr>
          <a:xfrm>
            <a:off x="744889" y="2037022"/>
            <a:ext cx="3199834" cy="1235069"/>
            <a:chOff x="-529588" y="458896"/>
            <a:chExt cx="13493224" cy="4421730"/>
          </a:xfrm>
        </p:grpSpPr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B2E90A43-20EA-0EE0-CCDB-618E8508EC09}"/>
                </a:ext>
              </a:extLst>
            </p:cNvPr>
            <p:cNvGrpSpPr/>
            <p:nvPr/>
          </p:nvGrpSpPr>
          <p:grpSpPr>
            <a:xfrm>
              <a:off x="-529588" y="458896"/>
              <a:ext cx="13493224" cy="3866125"/>
              <a:chOff x="3036795" y="2028495"/>
              <a:chExt cx="6360458" cy="2507921"/>
            </a:xfrm>
          </p:grpSpPr>
          <p:cxnSp>
            <p:nvCxnSpPr>
              <p:cNvPr id="45" name="Connettore 1 44">
                <a:extLst>
                  <a:ext uri="{FF2B5EF4-FFF2-40B4-BE49-F238E27FC236}">
                    <a16:creationId xmlns:a16="http://schemas.microsoft.com/office/drawing/2014/main" id="{3B181099-09FA-E073-88D4-430DCDCA4C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45636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ttore 1 45">
                <a:extLst>
                  <a:ext uri="{FF2B5EF4-FFF2-40B4-BE49-F238E27FC236}">
                    <a16:creationId xmlns:a16="http://schemas.microsoft.com/office/drawing/2014/main" id="{F62A1788-B9F4-D2AD-6AE5-13BC049231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028495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nettore 1 46">
                <a:extLst>
                  <a:ext uri="{FF2B5EF4-FFF2-40B4-BE49-F238E27FC236}">
                    <a16:creationId xmlns:a16="http://schemas.microsoft.com/office/drawing/2014/main" id="{BFDFA743-FE8B-E403-8E48-213BC5DA44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38392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ttore 1 47">
                <a:extLst>
                  <a:ext uri="{FF2B5EF4-FFF2-40B4-BE49-F238E27FC236}">
                    <a16:creationId xmlns:a16="http://schemas.microsoft.com/office/drawing/2014/main" id="{A138F08F-A020-99AB-AA86-3F53AC4F88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73553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nettore 1 48">
                <a:extLst>
                  <a:ext uri="{FF2B5EF4-FFF2-40B4-BE49-F238E27FC236}">
                    <a16:creationId xmlns:a16="http://schemas.microsoft.com/office/drawing/2014/main" id="{F5F4158F-E8CE-8AE2-88A7-1099956F43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095948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nettore 1 49">
                <a:extLst>
                  <a:ext uri="{FF2B5EF4-FFF2-40B4-BE49-F238E27FC236}">
                    <a16:creationId xmlns:a16="http://schemas.microsoft.com/office/drawing/2014/main" id="{D62B3F70-0BD8-3EF7-8DCB-73DE90DB34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811794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nettore 1 50">
                <a:extLst>
                  <a:ext uri="{FF2B5EF4-FFF2-40B4-BE49-F238E27FC236}">
                    <a16:creationId xmlns:a16="http://schemas.microsoft.com/office/drawing/2014/main" id="{88A7D051-DA0B-8B4A-FA84-B6D89DB2EF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163401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nettore 1 51">
                <a:extLst>
                  <a:ext uri="{FF2B5EF4-FFF2-40B4-BE49-F238E27FC236}">
                    <a16:creationId xmlns:a16="http://schemas.microsoft.com/office/drawing/2014/main" id="{FA8ABDA8-7EA9-C6EE-E80D-C77CAB1BC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52381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Connettore 1 43">
              <a:extLst>
                <a:ext uri="{FF2B5EF4-FFF2-40B4-BE49-F238E27FC236}">
                  <a16:creationId xmlns:a16="http://schemas.microsoft.com/office/drawing/2014/main" id="{B6B9440F-877A-865B-95ED-ED99475C7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29588" y="4861202"/>
              <a:ext cx="13493224" cy="19424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CF36004B-71E8-077E-9210-9A2567D894F6}"/>
              </a:ext>
            </a:extLst>
          </p:cNvPr>
          <p:cNvSpPr txBox="1"/>
          <p:nvPr/>
        </p:nvSpPr>
        <p:spPr>
          <a:xfrm>
            <a:off x="776421" y="1998600"/>
            <a:ext cx="319983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Paper</a:t>
            </a:r>
          </a:p>
          <a:p>
            <a:pPr algn="l"/>
            <a:endParaRPr lang="it-IT" b="0" i="0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  <a:p>
            <a:r>
              <a:rPr lang="it-IT" sz="18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“The model transfers information </a:t>
            </a:r>
            <a:r>
              <a:rPr lang="it-IT" sz="18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between</a:t>
            </a:r>
            <a:r>
              <a:rPr lang="it-IT" sz="18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18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modules</a:t>
            </a:r>
            <a:r>
              <a:rPr lang="it-IT" sz="18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.»</a:t>
            </a:r>
            <a:endParaRPr lang="it-IT" dirty="0">
              <a:latin typeface="Footlight MT Light" panose="0204060206030A020304" pitchFamily="18" charset="77"/>
            </a:endParaRPr>
          </a:p>
        </p:txBody>
      </p:sp>
      <p:sp>
        <p:nvSpPr>
          <p:cNvPr id="55" name="Segnaposto contenuto 2">
            <a:extLst>
              <a:ext uri="{FF2B5EF4-FFF2-40B4-BE49-F238E27FC236}">
                <a16:creationId xmlns:a16="http://schemas.microsoft.com/office/drawing/2014/main" id="{450995F9-D697-79FE-1100-FC65AE1665AE}"/>
              </a:ext>
            </a:extLst>
          </p:cNvPr>
          <p:cNvSpPr txBox="1">
            <a:spLocks/>
          </p:cNvSpPr>
          <p:nvPr/>
        </p:nvSpPr>
        <p:spPr>
          <a:xfrm>
            <a:off x="519110" y="1293001"/>
            <a:ext cx="4925725" cy="404428"/>
          </a:xfrm>
          <a:prstGeom prst="rect">
            <a:avLst/>
          </a:prstGeom>
          <a:noFill/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Footlight MT Light" panose="0204060206030A020304" pitchFamily="18" charset="77"/>
              </a:rPr>
              <a:t>Example A - acceptable creative reformulation</a:t>
            </a:r>
          </a:p>
        </p:txBody>
      </p: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D51B975B-CB49-BC60-5A7A-B22053AF4347}"/>
              </a:ext>
            </a:extLst>
          </p:cNvPr>
          <p:cNvCxnSpPr>
            <a:cxnSpLocks/>
          </p:cNvCxnSpPr>
          <p:nvPr/>
        </p:nvCxnSpPr>
        <p:spPr>
          <a:xfrm>
            <a:off x="4267082" y="2604170"/>
            <a:ext cx="406273" cy="894"/>
          </a:xfrm>
          <a:prstGeom prst="straightConnector1">
            <a:avLst/>
          </a:prstGeom>
          <a:ln w="76200">
            <a:solidFill>
              <a:srgbClr val="466DCC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0" name="CasellaDiTesto 99">
            <a:extLst>
              <a:ext uri="{FF2B5EF4-FFF2-40B4-BE49-F238E27FC236}">
                <a16:creationId xmlns:a16="http://schemas.microsoft.com/office/drawing/2014/main" id="{27092103-55F4-E146-CEE7-E4E16F82DB4C}"/>
              </a:ext>
            </a:extLst>
          </p:cNvPr>
          <p:cNvSpPr txBox="1"/>
          <p:nvPr/>
        </p:nvSpPr>
        <p:spPr>
          <a:xfrm>
            <a:off x="8942362" y="2156797"/>
            <a:ext cx="2256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highlight>
                  <a:srgbClr val="00FF00"/>
                </a:highlight>
                <a:latin typeface="Footlight MT Light" panose="0204060206030A020304" pitchFamily="18" charset="77"/>
              </a:rPr>
              <a:t>Not a hallucination</a:t>
            </a:r>
          </a:p>
        </p:txBody>
      </p:sp>
      <p:sp>
        <p:nvSpPr>
          <p:cNvPr id="102" name="CasellaDiTesto 101">
            <a:extLst>
              <a:ext uri="{FF2B5EF4-FFF2-40B4-BE49-F238E27FC236}">
                <a16:creationId xmlns:a16="http://schemas.microsoft.com/office/drawing/2014/main" id="{195A651C-89AD-5F86-F0F8-48352728CEF2}"/>
              </a:ext>
            </a:extLst>
          </p:cNvPr>
          <p:cNvSpPr txBox="1"/>
          <p:nvPr/>
        </p:nvSpPr>
        <p:spPr>
          <a:xfrm>
            <a:off x="8872108" y="2550579"/>
            <a:ext cx="2397107" cy="659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Footlight MT Light" panose="0204060206030A020304" pitchFamily="18" charset="77"/>
              </a:rPr>
              <a:t>metaphor, but meaning remains supported</a:t>
            </a:r>
          </a:p>
        </p:txBody>
      </p:sp>
      <p:sp>
        <p:nvSpPr>
          <p:cNvPr id="103" name="Rettangolo 102">
            <a:extLst>
              <a:ext uri="{FF2B5EF4-FFF2-40B4-BE49-F238E27FC236}">
                <a16:creationId xmlns:a16="http://schemas.microsoft.com/office/drawing/2014/main" id="{A07A3D5E-7C7B-18AA-D8AD-BFA069C10C84}"/>
              </a:ext>
            </a:extLst>
          </p:cNvPr>
          <p:cNvSpPr/>
          <p:nvPr/>
        </p:nvSpPr>
        <p:spPr>
          <a:xfrm>
            <a:off x="4700375" y="4346587"/>
            <a:ext cx="3510952" cy="1514553"/>
          </a:xfrm>
          <a:prstGeom prst="rect">
            <a:avLst/>
          </a:prstGeom>
          <a:solidFill>
            <a:schemeClr val="l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23988A5A-B8AF-132B-0F2A-0B6BAD2F7F8A}"/>
              </a:ext>
            </a:extLst>
          </p:cNvPr>
          <p:cNvGrpSpPr/>
          <p:nvPr/>
        </p:nvGrpSpPr>
        <p:grpSpPr>
          <a:xfrm>
            <a:off x="5025399" y="4526308"/>
            <a:ext cx="3030569" cy="1307104"/>
            <a:chOff x="3036795" y="2028495"/>
            <a:chExt cx="6360458" cy="2507921"/>
          </a:xfrm>
        </p:grpSpPr>
        <p:cxnSp>
          <p:nvCxnSpPr>
            <p:cNvPr id="105" name="Connettore 1 104">
              <a:extLst>
                <a:ext uri="{FF2B5EF4-FFF2-40B4-BE49-F238E27FC236}">
                  <a16:creationId xmlns:a16="http://schemas.microsoft.com/office/drawing/2014/main" id="{24EA8652-0E48-CBA5-3356-4B8EDDD05C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3456363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05">
              <a:extLst>
                <a:ext uri="{FF2B5EF4-FFF2-40B4-BE49-F238E27FC236}">
                  <a16:creationId xmlns:a16="http://schemas.microsoft.com/office/drawing/2014/main" id="{22A821F6-6CE7-3E6F-17D4-06FAFD48C3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2028495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06">
              <a:extLst>
                <a:ext uri="{FF2B5EF4-FFF2-40B4-BE49-F238E27FC236}">
                  <a16:creationId xmlns:a16="http://schemas.microsoft.com/office/drawing/2014/main" id="{F75A44D8-DF7E-24C9-0C9D-E0A7DF644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2383926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07">
              <a:extLst>
                <a:ext uri="{FF2B5EF4-FFF2-40B4-BE49-F238E27FC236}">
                  <a16:creationId xmlns:a16="http://schemas.microsoft.com/office/drawing/2014/main" id="{193EC461-5993-0AF7-C72F-E1578D761B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2735533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08">
              <a:extLst>
                <a:ext uri="{FF2B5EF4-FFF2-40B4-BE49-F238E27FC236}">
                  <a16:creationId xmlns:a16="http://schemas.microsoft.com/office/drawing/2014/main" id="{32BE2A5A-50E3-A087-4CE1-5AC99A4B3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3095948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09">
              <a:extLst>
                <a:ext uri="{FF2B5EF4-FFF2-40B4-BE49-F238E27FC236}">
                  <a16:creationId xmlns:a16="http://schemas.microsoft.com/office/drawing/2014/main" id="{19F18DBA-3C4E-9EBB-306B-01B900969A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3811794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0">
              <a:extLst>
                <a:ext uri="{FF2B5EF4-FFF2-40B4-BE49-F238E27FC236}">
                  <a16:creationId xmlns:a16="http://schemas.microsoft.com/office/drawing/2014/main" id="{2C03EFB0-91B0-E065-E3BA-129D3C644E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4163401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1">
              <a:extLst>
                <a:ext uri="{FF2B5EF4-FFF2-40B4-BE49-F238E27FC236}">
                  <a16:creationId xmlns:a16="http://schemas.microsoft.com/office/drawing/2014/main" id="{EF94F809-796E-9C27-ACD5-D08DB5F79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795" y="4523816"/>
              <a:ext cx="6360458" cy="12600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CasellaDiTesto 112">
            <a:extLst>
              <a:ext uri="{FF2B5EF4-FFF2-40B4-BE49-F238E27FC236}">
                <a16:creationId xmlns:a16="http://schemas.microsoft.com/office/drawing/2014/main" id="{67B6FEAF-75AB-A2B7-2EE4-93A8A11D3859}"/>
              </a:ext>
            </a:extLst>
          </p:cNvPr>
          <p:cNvSpPr txBox="1"/>
          <p:nvPr/>
        </p:nvSpPr>
        <p:spPr>
          <a:xfrm>
            <a:off x="4796555" y="4490105"/>
            <a:ext cx="325941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Story</a:t>
            </a:r>
          </a:p>
          <a:p>
            <a:pPr algn="l"/>
            <a:endParaRPr lang="it-IT" sz="900" b="1" dirty="0">
              <a:solidFill>
                <a:srgbClr val="000000"/>
              </a:solidFill>
              <a:latin typeface="Footlight MT Light" panose="0204060206030A020304" pitchFamily="18" charset="77"/>
            </a:endParaRPr>
          </a:p>
          <a:p>
            <a:pPr algn="l"/>
            <a:endParaRPr lang="it-IT" sz="500" b="0" i="0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  <a:p>
            <a:r>
              <a:rPr lang="it-IT" dirty="0">
                <a:latin typeface="Footlight MT Light" panose="0204060206030A020304" pitchFamily="18" charset="77"/>
              </a:rPr>
              <a:t>“The </a:t>
            </a:r>
            <a:r>
              <a:rPr lang="it-IT" dirty="0" err="1">
                <a:latin typeface="Footlight MT Light" panose="0204060206030A020304" pitchFamily="18" charset="77"/>
              </a:rPr>
              <a:t>method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was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developed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at</a:t>
            </a:r>
            <a:r>
              <a:rPr lang="it-IT" dirty="0">
                <a:latin typeface="Footlight MT Light" panose="0204060206030A020304" pitchFamily="18" charset="77"/>
              </a:rPr>
              <a:t> the University of Birmingham.”</a:t>
            </a:r>
          </a:p>
        </p:txBody>
      </p:sp>
      <p:sp>
        <p:nvSpPr>
          <p:cNvPr id="114" name="Rettangolo 113">
            <a:extLst>
              <a:ext uri="{FF2B5EF4-FFF2-40B4-BE49-F238E27FC236}">
                <a16:creationId xmlns:a16="http://schemas.microsoft.com/office/drawing/2014/main" id="{DBE8E992-1F87-9D8A-C288-FA96252424A6}"/>
              </a:ext>
            </a:extLst>
          </p:cNvPr>
          <p:cNvSpPr/>
          <p:nvPr/>
        </p:nvSpPr>
        <p:spPr>
          <a:xfrm>
            <a:off x="644803" y="4351716"/>
            <a:ext cx="3590747" cy="1495525"/>
          </a:xfrm>
          <a:prstGeom prst="rect">
            <a:avLst/>
          </a:prstGeom>
          <a:solidFill>
            <a:schemeClr val="l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15" name="Gruppo 114">
            <a:extLst>
              <a:ext uri="{FF2B5EF4-FFF2-40B4-BE49-F238E27FC236}">
                <a16:creationId xmlns:a16="http://schemas.microsoft.com/office/drawing/2014/main" id="{B3D45A86-6680-99C3-ADD7-02F4766EB210}"/>
              </a:ext>
            </a:extLst>
          </p:cNvPr>
          <p:cNvGrpSpPr/>
          <p:nvPr/>
        </p:nvGrpSpPr>
        <p:grpSpPr>
          <a:xfrm>
            <a:off x="744889" y="4531436"/>
            <a:ext cx="3199834" cy="1235069"/>
            <a:chOff x="-529588" y="458896"/>
            <a:chExt cx="13493224" cy="4421730"/>
          </a:xfrm>
        </p:grpSpPr>
        <p:grpSp>
          <p:nvGrpSpPr>
            <p:cNvPr id="116" name="Gruppo 115">
              <a:extLst>
                <a:ext uri="{FF2B5EF4-FFF2-40B4-BE49-F238E27FC236}">
                  <a16:creationId xmlns:a16="http://schemas.microsoft.com/office/drawing/2014/main" id="{7AA081B3-4A22-6618-E936-5C965B060192}"/>
                </a:ext>
              </a:extLst>
            </p:cNvPr>
            <p:cNvGrpSpPr/>
            <p:nvPr/>
          </p:nvGrpSpPr>
          <p:grpSpPr>
            <a:xfrm>
              <a:off x="-529588" y="458896"/>
              <a:ext cx="13493224" cy="3866125"/>
              <a:chOff x="3036795" y="2028495"/>
              <a:chExt cx="6360458" cy="2507921"/>
            </a:xfrm>
          </p:grpSpPr>
          <p:cxnSp>
            <p:nvCxnSpPr>
              <p:cNvPr id="118" name="Connettore 1 117">
                <a:extLst>
                  <a:ext uri="{FF2B5EF4-FFF2-40B4-BE49-F238E27FC236}">
                    <a16:creationId xmlns:a16="http://schemas.microsoft.com/office/drawing/2014/main" id="{5DE20DA4-BCF1-5E14-459B-04566E5CA4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45636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Connettore 1 118">
                <a:extLst>
                  <a:ext uri="{FF2B5EF4-FFF2-40B4-BE49-F238E27FC236}">
                    <a16:creationId xmlns:a16="http://schemas.microsoft.com/office/drawing/2014/main" id="{A8D683CD-68AC-22E5-1E2D-CEBDF41E21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028495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Connettore 1 119">
                <a:extLst>
                  <a:ext uri="{FF2B5EF4-FFF2-40B4-BE49-F238E27FC236}">
                    <a16:creationId xmlns:a16="http://schemas.microsoft.com/office/drawing/2014/main" id="{795CFFAD-A302-B982-7757-8F158806F9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38392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Connettore 1 120">
                <a:extLst>
                  <a:ext uri="{FF2B5EF4-FFF2-40B4-BE49-F238E27FC236}">
                    <a16:creationId xmlns:a16="http://schemas.microsoft.com/office/drawing/2014/main" id="{B61F6F94-514D-767E-F941-B884FC112D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73553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onnettore 1 121">
                <a:extLst>
                  <a:ext uri="{FF2B5EF4-FFF2-40B4-BE49-F238E27FC236}">
                    <a16:creationId xmlns:a16="http://schemas.microsoft.com/office/drawing/2014/main" id="{A592C368-8CF8-E1B5-468B-010E4833B3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095948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onnettore 1 122">
                <a:extLst>
                  <a:ext uri="{FF2B5EF4-FFF2-40B4-BE49-F238E27FC236}">
                    <a16:creationId xmlns:a16="http://schemas.microsoft.com/office/drawing/2014/main" id="{E817DE6A-7DB2-F36E-D16F-2E3895B3EB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811794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Connettore 1 123">
                <a:extLst>
                  <a:ext uri="{FF2B5EF4-FFF2-40B4-BE49-F238E27FC236}">
                    <a16:creationId xmlns:a16="http://schemas.microsoft.com/office/drawing/2014/main" id="{8D929A3C-8A26-29E8-1693-8EFC6B8768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163401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Connettore 1 124">
                <a:extLst>
                  <a:ext uri="{FF2B5EF4-FFF2-40B4-BE49-F238E27FC236}">
                    <a16:creationId xmlns:a16="http://schemas.microsoft.com/office/drawing/2014/main" id="{87DE6583-A31C-B386-2000-8C232F218C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52381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7" name="Connettore 1 116">
              <a:extLst>
                <a:ext uri="{FF2B5EF4-FFF2-40B4-BE49-F238E27FC236}">
                  <a16:creationId xmlns:a16="http://schemas.microsoft.com/office/drawing/2014/main" id="{45F4D170-19C0-8380-68D6-CDCD3E8F2B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29588" y="4861202"/>
              <a:ext cx="13493224" cy="19424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CasellaDiTesto 125">
            <a:extLst>
              <a:ext uri="{FF2B5EF4-FFF2-40B4-BE49-F238E27FC236}">
                <a16:creationId xmlns:a16="http://schemas.microsoft.com/office/drawing/2014/main" id="{5482C2F8-ACD4-02A5-5903-87451E38D3A8}"/>
              </a:ext>
            </a:extLst>
          </p:cNvPr>
          <p:cNvSpPr txBox="1"/>
          <p:nvPr/>
        </p:nvSpPr>
        <p:spPr>
          <a:xfrm>
            <a:off x="776421" y="4493014"/>
            <a:ext cx="31998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Paper</a:t>
            </a:r>
          </a:p>
          <a:p>
            <a:pPr algn="l"/>
            <a:endParaRPr lang="it-IT" b="0" i="0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  <a:p>
            <a:r>
              <a:rPr lang="it-IT" sz="18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Anonymized</a:t>
            </a:r>
            <a:r>
              <a:rPr lang="it-IT" sz="18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18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affiliation</a:t>
            </a:r>
            <a:endParaRPr lang="it-IT" dirty="0">
              <a:latin typeface="Footlight MT Light" panose="0204060206030A020304" pitchFamily="18" charset="77"/>
            </a:endParaRPr>
          </a:p>
        </p:txBody>
      </p:sp>
      <p:sp>
        <p:nvSpPr>
          <p:cNvPr id="128" name="Segnaposto contenuto 2">
            <a:extLst>
              <a:ext uri="{FF2B5EF4-FFF2-40B4-BE49-F238E27FC236}">
                <a16:creationId xmlns:a16="http://schemas.microsoft.com/office/drawing/2014/main" id="{8A08FCED-B64D-3F05-EF30-BD7A2DE30AF0}"/>
              </a:ext>
            </a:extLst>
          </p:cNvPr>
          <p:cNvSpPr txBox="1">
            <a:spLocks/>
          </p:cNvSpPr>
          <p:nvPr/>
        </p:nvSpPr>
        <p:spPr>
          <a:xfrm>
            <a:off x="519110" y="3787415"/>
            <a:ext cx="4925725" cy="40442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Footlight MT Light" panose="0204060206030A020304" pitchFamily="18" charset="77"/>
              </a:rPr>
              <a:t>Example B - real hallucination</a:t>
            </a:r>
          </a:p>
        </p:txBody>
      </p:sp>
      <p:cxnSp>
        <p:nvCxnSpPr>
          <p:cNvPr id="129" name="Connettore 2 128">
            <a:extLst>
              <a:ext uri="{FF2B5EF4-FFF2-40B4-BE49-F238E27FC236}">
                <a16:creationId xmlns:a16="http://schemas.microsoft.com/office/drawing/2014/main" id="{3EB7EE7B-4758-4453-2A4D-EA98903B90C6}"/>
              </a:ext>
            </a:extLst>
          </p:cNvPr>
          <p:cNvCxnSpPr>
            <a:cxnSpLocks/>
          </p:cNvCxnSpPr>
          <p:nvPr/>
        </p:nvCxnSpPr>
        <p:spPr>
          <a:xfrm>
            <a:off x="4267082" y="5098584"/>
            <a:ext cx="406273" cy="894"/>
          </a:xfrm>
          <a:prstGeom prst="straightConnector1">
            <a:avLst/>
          </a:prstGeom>
          <a:ln w="76200">
            <a:solidFill>
              <a:srgbClr val="466DCC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0" name="CasellaDiTesto 129">
            <a:extLst>
              <a:ext uri="{FF2B5EF4-FFF2-40B4-BE49-F238E27FC236}">
                <a16:creationId xmlns:a16="http://schemas.microsoft.com/office/drawing/2014/main" id="{C0C4EC12-E993-CACE-553B-C952000FAB9E}"/>
              </a:ext>
            </a:extLst>
          </p:cNvPr>
          <p:cNvSpPr txBox="1"/>
          <p:nvPr/>
        </p:nvSpPr>
        <p:spPr>
          <a:xfrm>
            <a:off x="8942362" y="4651211"/>
            <a:ext cx="2256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highlight>
                  <a:srgbClr val="FF0000"/>
                </a:highlight>
                <a:latin typeface="Footlight MT Light" panose="0204060206030A020304" pitchFamily="18" charset="77"/>
              </a:rPr>
              <a:t>Hallucination</a:t>
            </a:r>
          </a:p>
        </p:txBody>
      </p:sp>
      <p:sp>
        <p:nvSpPr>
          <p:cNvPr id="131" name="CasellaDiTesto 130">
            <a:extLst>
              <a:ext uri="{FF2B5EF4-FFF2-40B4-BE49-F238E27FC236}">
                <a16:creationId xmlns:a16="http://schemas.microsoft.com/office/drawing/2014/main" id="{27ECB493-655F-682D-AD1E-1F69A0BFF7FC}"/>
              </a:ext>
            </a:extLst>
          </p:cNvPr>
          <p:cNvSpPr txBox="1"/>
          <p:nvPr/>
        </p:nvSpPr>
        <p:spPr>
          <a:xfrm>
            <a:off x="8872108" y="5099179"/>
            <a:ext cx="2397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Footlight MT Light" panose="0204060206030A020304" pitchFamily="18" charset="77"/>
              </a:rPr>
              <a:t>invented factual entity</a:t>
            </a:r>
          </a:p>
        </p:txBody>
      </p:sp>
    </p:spTree>
    <p:extLst>
      <p:ext uri="{BB962C8B-B14F-4D97-AF65-F5344CB8AC3E}">
        <p14:creationId xmlns:p14="http://schemas.microsoft.com/office/powerpoint/2010/main" val="3715532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8ED2D3AF-8FA2-15F8-5E39-481697866EF7}"/>
              </a:ext>
            </a:extLst>
          </p:cNvPr>
          <p:cNvSpPr/>
          <p:nvPr/>
        </p:nvSpPr>
        <p:spPr>
          <a:xfrm>
            <a:off x="7372053" y="2136507"/>
            <a:ext cx="4310610" cy="1587103"/>
          </a:xfrm>
          <a:prstGeom prst="roundRect">
            <a:avLst>
              <a:gd name="adj" fmla="val 9800"/>
            </a:avLst>
          </a:prstGeom>
          <a:solidFill>
            <a:srgbClr val="FFFFFF">
              <a:alpha val="50196"/>
            </a:srgbClr>
          </a:solidFill>
          <a:ln w="28575">
            <a:solidFill>
              <a:srgbClr val="B8B8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982B435E-FB5F-0355-86F6-10D7218D170B}"/>
              </a:ext>
            </a:extLst>
          </p:cNvPr>
          <p:cNvSpPr/>
          <p:nvPr/>
        </p:nvSpPr>
        <p:spPr>
          <a:xfrm>
            <a:off x="7372053" y="4462220"/>
            <a:ext cx="4310610" cy="1587103"/>
          </a:xfrm>
          <a:prstGeom prst="roundRect">
            <a:avLst>
              <a:gd name="adj" fmla="val 9800"/>
            </a:avLst>
          </a:prstGeom>
          <a:solidFill>
            <a:srgbClr val="FFFFFF">
              <a:alpha val="50196"/>
            </a:srgbClr>
          </a:solidFill>
          <a:ln w="28575">
            <a:solidFill>
              <a:srgbClr val="B8B8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2" name="Immagine 81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5EF22BEE-92AF-7AF3-9A7D-588B1DCC39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157EFB5B-B6B6-598B-64BC-B3A1E0277B31}"/>
                  </a:ext>
                </a:extLst>
              </p:cNvPr>
              <p:cNvSpPr txBox="1"/>
              <p:nvPr/>
            </p:nvSpPr>
            <p:spPr>
              <a:xfrm>
                <a:off x="634847" y="1685364"/>
                <a:ext cx="6598291" cy="2191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400" b="1" i="0" u="none" strike="noStrike" dirty="0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NER-</a:t>
                </a:r>
                <a:r>
                  <a:rPr lang="it-IT" sz="2400" b="1" i="0" u="none" strike="noStrike" dirty="0" err="1">
                    <a:solidFill>
                      <a:srgbClr val="31489F"/>
                    </a:solidFill>
                    <a:effectLst/>
                    <a:latin typeface="Footlight MT Light" panose="0204060206030A020304" pitchFamily="18" charset="77"/>
                  </a:rPr>
                  <a:t>based</a:t>
                </a:r>
                <a:endParaRPr lang="it-IT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it-IT" dirty="0">
                    <a:latin typeface="Footlight MT Light" panose="0204060206030A020304" pitchFamily="18" charset="77"/>
                  </a:rPr>
                  <a:t>Candidate </a:t>
                </a:r>
                <a:r>
                  <a:rPr lang="it-IT" dirty="0" err="1">
                    <a:latin typeface="Footlight MT Light" panose="0204060206030A020304" pitchFamily="18" charset="77"/>
                  </a:rPr>
                  <a:t>entities</a:t>
                </a:r>
                <a:r>
                  <a:rPr lang="it-IT" dirty="0">
                    <a:latin typeface="Footlight MT Light" panose="0204060206030A020304" pitchFamily="18" charset="77"/>
                  </a:rPr>
                  <a:t> </a:t>
                </a:r>
                <a:r>
                  <a:rPr lang="it-IT" dirty="0" err="1">
                    <a:latin typeface="Footlight MT Light" panose="0204060206030A020304" pitchFamily="18" charset="77"/>
                  </a:rPr>
                  <a:t>extraction</a:t>
                </a:r>
                <a:r>
                  <a:rPr lang="it-IT" dirty="0">
                    <a:latin typeface="Footlight MT Light" panose="0204060206030A020304" pitchFamily="18" charset="77"/>
                  </a:rPr>
                  <a:t> (words with </a:t>
                </a:r>
                <a:r>
                  <a:rPr lang="it-IT" dirty="0" err="1">
                    <a:latin typeface="Footlight MT Light" panose="0204060206030A020304" pitchFamily="18" charset="77"/>
                  </a:rPr>
                  <a:t>capitalised</a:t>
                </a:r>
                <a:r>
                  <a:rPr lang="it-IT" dirty="0">
                    <a:latin typeface="Footlight MT Light" panose="0204060206030A020304" pitchFamily="18" charset="77"/>
                  </a:rPr>
                  <a:t> </a:t>
                </a:r>
                <a:r>
                  <a:rPr lang="it-IT" dirty="0" err="1">
                    <a:latin typeface="Footlight MT Light" panose="0204060206030A020304" pitchFamily="18" charset="77"/>
                  </a:rPr>
                  <a:t>initial</a:t>
                </a:r>
                <a:r>
                  <a:rPr lang="it-IT" dirty="0">
                    <a:latin typeface="Footlight MT Light" panose="0204060206030A020304" pitchFamily="18" charset="77"/>
                  </a:rPr>
                  <a:t> </a:t>
                </a:r>
                <a:r>
                  <a:rPr lang="it-IT" dirty="0" err="1">
                    <a:latin typeface="Footlight MT Light" panose="0204060206030A020304" pitchFamily="18" charset="77"/>
                  </a:rPr>
                  <a:t>letters</a:t>
                </a:r>
                <a:r>
                  <a:rPr lang="it-IT" dirty="0">
                    <a:latin typeface="Footlight MT Light" panose="0204060206030A020304" pitchFamily="18" charset="77"/>
                  </a:rPr>
                  <a:t>) from the paper and the story.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𝐻𝑎𝑙𝑙𝑢𝑐𝑖𝑛𝑎𝑡𝑖𝑜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</m:sub>
                    </m:sSub>
                    <m:r>
                      <a:rPr lang="it-IT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######</m:t>
                                </m:r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.  </m:t>
                                </m:r>
                                <m:r>
                                  <a:rPr lang="it-IT" i="1" dirty="0" err="1" smtClean="0">
                                    <a:latin typeface="Cambria Math" panose="02040503050406030204" pitchFamily="18" charset="0"/>
                                  </a:rPr>
                                  <m:t>𝑒𝑛𝑡𝑖𝑡𝑖𝑒𝑠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𝑡h𝑒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𝑠𝑡𝑜𝑟𝑦</m:t>
                                </m:r>
                              </m:e>
                              <m:e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𝑁𝑂𝑇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err="1" smtClean="0">
                                    <a:latin typeface="Cambria Math" panose="02040503050406030204" pitchFamily="18" charset="0"/>
                                  </a:rPr>
                                  <m:t>𝑝𝑟𝑒𝑠𝑒𝑛𝑡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𝑡h𝑒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𝑝𝑎𝑝𝑒𝑟</m:t>
                                </m:r>
                              </m:e>
                            </m:eqArr>
                          </m:e>
                        </m:d>
                      </m:num>
                      <m:den>
                        <m:d>
                          <m:d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.  </m:t>
                            </m:r>
                            <m:r>
                              <a:rPr lang="it-IT" i="1" dirty="0" err="1">
                                <a:latin typeface="Cambria Math" panose="02040503050406030204" pitchFamily="18" charset="0"/>
                              </a:rPr>
                              <m:t>𝑒𝑛𝑡𝑖𝑡𝑖𝑒𝑠</m:t>
                            </m:r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𝑡h𝑒</m:t>
                            </m:r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𝑠𝑡𝑜𝑟𝑦</m:t>
                            </m:r>
                          </m:e>
                        </m:d>
                      </m:den>
                    </m:f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𝑁𝑜𝐻𝑎𝑙𝑙𝑢𝑐𝑖𝑛𝑎𝑡𝑖𝑜𝑛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 = 1 – </m:t>
                    </m:r>
                    <m:r>
                      <a:rPr lang="it-IT" i="1" dirty="0" err="1" smtClean="0">
                        <a:latin typeface="Cambria Math" panose="02040503050406030204" pitchFamily="18" charset="0"/>
                      </a:rPr>
                      <m:t>h𝑎𝑙𝑙𝑢𝑐𝑖𝑛𝑎𝑡𝑖𝑜</m:t>
                    </m:r>
                    <m:sSub>
                      <m:sSubPr>
                        <m:ctrlPr>
                          <a:rPr lang="it-IT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𝑟𝑎𝑡𝑒</m:t>
                        </m:r>
                      </m:sub>
                    </m:sSub>
                  </m:oMath>
                </a14:m>
                <a:endParaRPr lang="it-IT" dirty="0">
                  <a:latin typeface="Footlight MT Light" panose="0204060206030A020304" pitchFamily="18" charset="77"/>
                </a:endParaRPr>
              </a:p>
              <a:p>
                <a:endParaRPr lang="it-IT" dirty="0">
                  <a:solidFill>
                    <a:schemeClr val="tx1"/>
                  </a:solidFill>
                  <a:latin typeface="Footlight MT Light" panose="0204060206030A020304" pitchFamily="18" charset="77"/>
                </a:endParaRPr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157EFB5B-B6B6-598B-64BC-B3A1E0277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47" y="1685364"/>
                <a:ext cx="6598291" cy="2191049"/>
              </a:xfrm>
              <a:prstGeom prst="rect">
                <a:avLst/>
              </a:prstGeom>
              <a:blipFill>
                <a:blip r:embed="rId4"/>
                <a:stretch>
                  <a:fillRect l="-1152" t="-22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uppo 72">
            <a:extLst>
              <a:ext uri="{FF2B5EF4-FFF2-40B4-BE49-F238E27FC236}">
                <a16:creationId xmlns:a16="http://schemas.microsoft.com/office/drawing/2014/main" id="{7D9F98F9-9D6D-031F-BE99-4DF3C157E90A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74" name="Rettangolo 73">
              <a:extLst>
                <a:ext uri="{FF2B5EF4-FFF2-40B4-BE49-F238E27FC236}">
                  <a16:creationId xmlns:a16="http://schemas.microsoft.com/office/drawing/2014/main" id="{53804ED1-2563-75A0-CE80-77340E17F3B3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75" name="Picture 4" descr="ECIR2026">
              <a:extLst>
                <a:ext uri="{FF2B5EF4-FFF2-40B4-BE49-F238E27FC236}">
                  <a16:creationId xmlns:a16="http://schemas.microsoft.com/office/drawing/2014/main" id="{844CBC88-3936-C5D9-4F4A-DDBE6FA543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6" name="CasellaDiTesto 75">
              <a:extLst>
                <a:ext uri="{FF2B5EF4-FFF2-40B4-BE49-F238E27FC236}">
                  <a16:creationId xmlns:a16="http://schemas.microsoft.com/office/drawing/2014/main" id="{FFF8AB05-78B2-30E7-8BAB-54DDC628D2AD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77" name="Gruppo 76">
              <a:extLst>
                <a:ext uri="{FF2B5EF4-FFF2-40B4-BE49-F238E27FC236}">
                  <a16:creationId xmlns:a16="http://schemas.microsoft.com/office/drawing/2014/main" id="{24E88285-74AE-757D-6538-BC70B5C2BD30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78" name="Picture 2" descr="Espace presse | EURECOM">
                <a:extLst>
                  <a:ext uri="{FF2B5EF4-FFF2-40B4-BE49-F238E27FC236}">
                    <a16:creationId xmlns:a16="http://schemas.microsoft.com/office/drawing/2014/main" id="{AE8A81B4-ED8D-F78C-8630-2785C72B16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9" name="CasellaDiTesto 78">
                <a:extLst>
                  <a:ext uri="{FF2B5EF4-FFF2-40B4-BE49-F238E27FC236}">
                    <a16:creationId xmlns:a16="http://schemas.microsoft.com/office/drawing/2014/main" id="{91D42A03-D6A9-7380-E4BB-AEC3282239C4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80" name="Segnaposto numero diapositiva 4">
            <a:extLst>
              <a:ext uri="{FF2B5EF4-FFF2-40B4-BE49-F238E27FC236}">
                <a16:creationId xmlns:a16="http://schemas.microsoft.com/office/drawing/2014/main" id="{57B74F4F-6A33-6CFD-78AB-CA700073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3642" y="6408925"/>
            <a:ext cx="446355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14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sp>
        <p:nvSpPr>
          <p:cNvPr id="81" name="Titolo 1">
            <a:extLst>
              <a:ext uri="{FF2B5EF4-FFF2-40B4-BE49-F238E27FC236}">
                <a16:creationId xmlns:a16="http://schemas.microsoft.com/office/drawing/2014/main" id="{7E55E52D-F1A2-A117-1D52-EF8A2FEBD12A}"/>
              </a:ext>
            </a:extLst>
          </p:cNvPr>
          <p:cNvSpPr txBox="1">
            <a:spLocks/>
          </p:cNvSpPr>
          <p:nvPr/>
        </p:nvSpPr>
        <p:spPr>
          <a:xfrm>
            <a:off x="1571935" y="465127"/>
            <a:ext cx="5887655" cy="94497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Hallucination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detection</a:t>
            </a:r>
            <a:b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</a:br>
            <a:r>
              <a:rPr lang="it-IT" sz="31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Methods </a:t>
            </a:r>
            <a:r>
              <a:rPr lang="it-IT" sz="31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Considered</a:t>
            </a:r>
            <a:endParaRPr lang="en-GB" sz="4000" dirty="0"/>
          </a:p>
        </p:txBody>
      </p:sp>
      <p:pic>
        <p:nvPicPr>
          <p:cNvPr id="83" name="Immagine 82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FC8E1B41-610A-FE32-A920-9EB74811E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055BECBD-E4C1-6A76-1532-317BB7CF2971}"/>
              </a:ext>
            </a:extLst>
          </p:cNvPr>
          <p:cNvSpPr txBox="1"/>
          <p:nvPr/>
        </p:nvSpPr>
        <p:spPr>
          <a:xfrm>
            <a:off x="634846" y="4032751"/>
            <a:ext cx="659829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MIRAGE*</a:t>
            </a:r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>
                <a:latin typeface="Footlight MT Light" panose="0204060206030A020304" pitchFamily="18" charset="77"/>
              </a:rPr>
              <a:t>MIRAGE re-</a:t>
            </a:r>
            <a:r>
              <a:rPr lang="it-IT" dirty="0" err="1">
                <a:latin typeface="Footlight MT Light" panose="0204060206030A020304" pitchFamily="18" charset="77"/>
              </a:rPr>
              <a:t>generates</a:t>
            </a:r>
            <a:r>
              <a:rPr lang="it-IT" dirty="0">
                <a:latin typeface="Footlight MT Light" panose="0204060206030A020304" pitchFamily="18" charset="77"/>
              </a:rPr>
              <a:t> multiple </a:t>
            </a:r>
            <a:r>
              <a:rPr lang="it-IT" dirty="0" err="1">
                <a:latin typeface="Footlight MT Light" panose="0204060206030A020304" pitchFamily="18" charset="77"/>
              </a:rPr>
              <a:t>rewrites</a:t>
            </a:r>
            <a:r>
              <a:rPr lang="it-IT" dirty="0">
                <a:latin typeface="Footlight MT Light" panose="0204060206030A020304" pitchFamily="18" charset="77"/>
              </a:rPr>
              <a:t> of the story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Footlight MT Light" panose="0204060206030A020304" pitchFamily="18" charset="77"/>
              </a:rPr>
              <a:t>Computes</a:t>
            </a:r>
            <a:r>
              <a:rPr lang="it-IT" dirty="0">
                <a:latin typeface="Footlight MT Light" panose="0204060206030A020304" pitchFamily="18" charset="77"/>
              </a:rPr>
              <a:t> </a:t>
            </a:r>
            <a:r>
              <a:rPr lang="it-IT" dirty="0" err="1">
                <a:latin typeface="Footlight MT Light" panose="0204060206030A020304" pitchFamily="18" charset="77"/>
              </a:rPr>
              <a:t>alignment</a:t>
            </a:r>
            <a:r>
              <a:rPr lang="it-IT" dirty="0">
                <a:latin typeface="Footlight MT Light" panose="0204060206030A020304" pitchFamily="18" charset="77"/>
              </a:rPr>
              <a:t> </a:t>
            </a:r>
            <a:r>
              <a:rPr lang="it-IT" dirty="0" err="1">
                <a:latin typeface="Footlight MT Light" panose="0204060206030A020304" pitchFamily="18" charset="77"/>
              </a:rPr>
              <a:t>between</a:t>
            </a:r>
            <a:r>
              <a:rPr lang="it-IT" dirty="0">
                <a:latin typeface="Footlight MT Light" panose="0204060206030A020304" pitchFamily="18" charset="77"/>
              </a:rPr>
              <a:t> the </a:t>
            </a:r>
            <a:r>
              <a:rPr lang="it-IT" dirty="0" err="1">
                <a:latin typeface="Footlight MT Light" panose="0204060206030A020304" pitchFamily="18" charset="77"/>
              </a:rPr>
              <a:t>original</a:t>
            </a:r>
            <a:r>
              <a:rPr lang="it-IT" dirty="0">
                <a:latin typeface="Footlight MT Light" panose="0204060206030A020304" pitchFamily="18" charset="77"/>
              </a:rPr>
              <a:t> generation and </a:t>
            </a:r>
            <a:r>
              <a:rPr lang="it-IT" dirty="0" err="1">
                <a:latin typeface="Footlight MT Light" panose="0204060206030A020304" pitchFamily="18" charset="77"/>
              </a:rPr>
              <a:t>its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own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rewrites</a:t>
            </a:r>
            <a:endParaRPr lang="it-IT" dirty="0">
              <a:latin typeface="Footlight MT Light" panose="0204060206030A020304" pitchFamily="18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Footlight MT Light" panose="0204060206030A020304" pitchFamily="18" charset="77"/>
              </a:rPr>
              <a:t>If</a:t>
            </a:r>
            <a:r>
              <a:rPr lang="it-IT" dirty="0">
                <a:latin typeface="Footlight MT Light" panose="0204060206030A020304" pitchFamily="18" charset="77"/>
              </a:rPr>
              <a:t> a concept </a:t>
            </a:r>
            <a:r>
              <a:rPr lang="it-IT" dirty="0" err="1">
                <a:latin typeface="Footlight MT Light" panose="0204060206030A020304" pitchFamily="18" charset="77"/>
              </a:rPr>
              <a:t>is</a:t>
            </a:r>
            <a:r>
              <a:rPr lang="it-IT" dirty="0">
                <a:latin typeface="Footlight MT Light" panose="0204060206030A020304" pitchFamily="18" charset="77"/>
              </a:rPr>
              <a:t> </a:t>
            </a:r>
            <a:r>
              <a:rPr lang="it-IT" dirty="0" err="1">
                <a:latin typeface="Footlight MT Light" panose="0204060206030A020304" pitchFamily="18" charset="77"/>
              </a:rPr>
              <a:t>unstable</a:t>
            </a:r>
            <a:r>
              <a:rPr lang="it-IT" dirty="0">
                <a:latin typeface="Footlight MT Light" panose="0204060206030A020304" pitchFamily="18" charset="77"/>
              </a:rPr>
              <a:t> or </a:t>
            </a:r>
            <a:r>
              <a:rPr lang="it-IT" dirty="0" err="1">
                <a:latin typeface="Footlight MT Light" panose="0204060206030A020304" pitchFamily="18" charset="77"/>
              </a:rPr>
              <a:t>unsupported</a:t>
            </a:r>
            <a:r>
              <a:rPr lang="it-IT" dirty="0">
                <a:latin typeface="Footlight MT Light" panose="0204060206030A020304" pitchFamily="18" charset="77"/>
              </a:rPr>
              <a:t>, the model </a:t>
            </a:r>
            <a:r>
              <a:rPr lang="it-IT" dirty="0" err="1">
                <a:latin typeface="Footlight MT Light" panose="0204060206030A020304" pitchFamily="18" charset="77"/>
              </a:rPr>
              <a:t>assigns</a:t>
            </a:r>
            <a:r>
              <a:rPr lang="it-IT" dirty="0">
                <a:latin typeface="Footlight MT Light" panose="0204060206030A020304" pitchFamily="18" charset="77"/>
              </a:rPr>
              <a:t> high </a:t>
            </a:r>
            <a:r>
              <a:rPr lang="it-IT" dirty="0" err="1">
                <a:latin typeface="Footlight MT Light" panose="0204060206030A020304" pitchFamily="18" charset="77"/>
              </a:rPr>
              <a:t>hallucination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probability</a:t>
            </a:r>
            <a:endParaRPr lang="it-IT" dirty="0">
              <a:latin typeface="Footlight MT Light" panose="0204060206030A020304" pitchFamily="18" charset="77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4D5EEFD-674D-47F6-A5E0-0BC77BC78D3B}"/>
              </a:ext>
            </a:extLst>
          </p:cNvPr>
          <p:cNvSpPr txBox="1"/>
          <p:nvPr/>
        </p:nvSpPr>
        <p:spPr>
          <a:xfrm>
            <a:off x="1468717" y="5924380"/>
            <a:ext cx="30470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Footlight MT Light" panose="0204060206030A020304" pitchFamily="18" charset="77"/>
              </a:rPr>
              <a:t> * </a:t>
            </a:r>
            <a:r>
              <a:rPr lang="en-GB" sz="1200" dirty="0">
                <a:latin typeface="Footlight MT Light" panose="0204060206030A020304" pitchFamily="18" charset="77"/>
                <a:hlinkClick r:id="rId7"/>
              </a:rPr>
              <a:t>https://</a:t>
            </a:r>
            <a:r>
              <a:rPr lang="en-GB" sz="1200" dirty="0" err="1">
                <a:latin typeface="Footlight MT Light" panose="0204060206030A020304" pitchFamily="18" charset="77"/>
                <a:hlinkClick r:id="rId7"/>
              </a:rPr>
              <a:t>github.com</a:t>
            </a:r>
            <a:r>
              <a:rPr lang="en-GB" sz="1200" dirty="0">
                <a:latin typeface="Footlight MT Light" panose="0204060206030A020304" pitchFamily="18" charset="77"/>
                <a:hlinkClick r:id="rId7"/>
              </a:rPr>
              <a:t>/</a:t>
            </a:r>
            <a:r>
              <a:rPr lang="en-GB" sz="1200" dirty="0" err="1">
                <a:latin typeface="Footlight MT Light" panose="0204060206030A020304" pitchFamily="18" charset="77"/>
                <a:hlinkClick r:id="rId7"/>
              </a:rPr>
              <a:t>bVendeville</a:t>
            </a:r>
            <a:r>
              <a:rPr lang="en-GB" sz="1200" dirty="0">
                <a:latin typeface="Footlight MT Light" panose="0204060206030A020304" pitchFamily="18" charset="77"/>
                <a:hlinkClick r:id="rId7"/>
              </a:rPr>
              <a:t>/MIRAGE</a:t>
            </a:r>
            <a:endParaRPr lang="en-GB" sz="1200" dirty="0">
              <a:latin typeface="Footlight MT Light" panose="0204060206030A020304" pitchFamily="18" charset="77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FF2BE5A8-34D3-5F32-028A-24B7B22CC9A2}"/>
              </a:ext>
            </a:extLst>
          </p:cNvPr>
          <p:cNvSpPr txBox="1"/>
          <p:nvPr/>
        </p:nvSpPr>
        <p:spPr>
          <a:xfrm>
            <a:off x="7436280" y="2171978"/>
            <a:ext cx="41208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0" i="1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“University of Birmingham”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 → </a:t>
            </a:r>
            <a:r>
              <a:rPr lang="it-IT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not</a:t>
            </a:r>
            <a:r>
              <a:rPr lang="it-IT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in paper 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→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correctly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detected</a:t>
            </a:r>
            <a:endParaRPr lang="it-IT" b="1" i="0" u="none" strike="noStrike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b="1" i="0" u="none" strike="noStrike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story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uses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 “AI”, paper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uses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 “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Artificial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Intelligence” →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incorrectly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flagged</a:t>
            </a:r>
            <a:endParaRPr lang="it-IT" b="1" i="0" u="none" strike="noStrike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</p:txBody>
      </p:sp>
      <p:sp>
        <p:nvSpPr>
          <p:cNvPr id="36" name="Segnaposto contenuto 2">
            <a:extLst>
              <a:ext uri="{FF2B5EF4-FFF2-40B4-BE49-F238E27FC236}">
                <a16:creationId xmlns:a16="http://schemas.microsoft.com/office/drawing/2014/main" id="{A96D060A-12F7-D43E-5865-F849C8259F93}"/>
              </a:ext>
            </a:extLst>
          </p:cNvPr>
          <p:cNvSpPr txBox="1">
            <a:spLocks/>
          </p:cNvSpPr>
          <p:nvPr/>
        </p:nvSpPr>
        <p:spPr>
          <a:xfrm>
            <a:off x="7372052" y="1770141"/>
            <a:ext cx="2996063" cy="40442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Footlight MT Light" panose="0204060206030A020304" pitchFamily="18" charset="77"/>
              </a:rPr>
              <a:t>Evaluation examples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9E7118C8-B644-C346-DD2D-59A7B8D80DC0}"/>
              </a:ext>
            </a:extLst>
          </p:cNvPr>
          <p:cNvSpPr txBox="1"/>
          <p:nvPr/>
        </p:nvSpPr>
        <p:spPr>
          <a:xfrm>
            <a:off x="7436280" y="4531593"/>
            <a:ext cx="42463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Footlight MT Light" panose="0204060206030A020304" pitchFamily="18" charset="77"/>
              </a:rPr>
              <a:t>to explain what is Robustness in AI, the story used a simpler example about object detection in images</a:t>
            </a:r>
            <a:br>
              <a:rPr lang="en-GB" dirty="0">
                <a:latin typeface="Footlight MT Light" panose="0204060206030A020304" pitchFamily="18" charset="77"/>
              </a:rPr>
            </a:br>
            <a:r>
              <a:rPr lang="it-IT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→ 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MIRAGE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considers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the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metaphor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as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a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hallucination</a:t>
            </a:r>
            <a:endParaRPr lang="it-IT" b="1" i="0" u="none" strike="noStrike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</p:txBody>
      </p:sp>
      <p:sp>
        <p:nvSpPr>
          <p:cNvPr id="39" name="Segnaposto contenuto 2">
            <a:extLst>
              <a:ext uri="{FF2B5EF4-FFF2-40B4-BE49-F238E27FC236}">
                <a16:creationId xmlns:a16="http://schemas.microsoft.com/office/drawing/2014/main" id="{25887E88-C1A7-3270-0583-364058BC5105}"/>
              </a:ext>
            </a:extLst>
          </p:cNvPr>
          <p:cNvSpPr txBox="1">
            <a:spLocks/>
          </p:cNvSpPr>
          <p:nvPr/>
        </p:nvSpPr>
        <p:spPr>
          <a:xfrm>
            <a:off x="7372053" y="4095854"/>
            <a:ext cx="3350024" cy="40442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Footlight MT Light" panose="0204060206030A020304" pitchFamily="18" charset="77"/>
              </a:rPr>
              <a:t>Evaluation examples</a:t>
            </a:r>
          </a:p>
        </p:txBody>
      </p:sp>
    </p:spTree>
    <p:extLst>
      <p:ext uri="{BB962C8B-B14F-4D97-AF65-F5344CB8AC3E}">
        <p14:creationId xmlns:p14="http://schemas.microsoft.com/office/powerpoint/2010/main" val="1873552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52AC83AE-2F5E-A7A8-63B4-E60CCBB6884B}"/>
              </a:ext>
            </a:extLst>
          </p:cNvPr>
          <p:cNvSpPr/>
          <p:nvPr/>
        </p:nvSpPr>
        <p:spPr>
          <a:xfrm>
            <a:off x="6614622" y="2365107"/>
            <a:ext cx="4692022" cy="3272571"/>
          </a:xfrm>
          <a:prstGeom prst="roundRect">
            <a:avLst>
              <a:gd name="adj" fmla="val 9800"/>
            </a:avLst>
          </a:prstGeom>
          <a:solidFill>
            <a:srgbClr val="FFFFFF">
              <a:alpha val="50196"/>
            </a:srgbClr>
          </a:solidFill>
          <a:ln w="28575">
            <a:solidFill>
              <a:srgbClr val="B8B8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2" name="Immagine 81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5EF22BEE-92AF-7AF3-9A7D-588B1DCC39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2610572" y="-3392001"/>
            <a:ext cx="9698035" cy="10772716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57EFB5B-B6B6-598B-64BC-B3A1E0277B31}"/>
              </a:ext>
            </a:extLst>
          </p:cNvPr>
          <p:cNvSpPr txBox="1"/>
          <p:nvPr/>
        </p:nvSpPr>
        <p:spPr>
          <a:xfrm>
            <a:off x="554363" y="1785654"/>
            <a:ext cx="5465437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b="1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LLM-</a:t>
            </a:r>
            <a:r>
              <a:rPr lang="it-IT" sz="2400" b="1" i="0" u="none" strike="noStrike" dirty="0" err="1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as</a:t>
            </a:r>
            <a:r>
              <a:rPr lang="it-IT" sz="2400" b="1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-a-</a:t>
            </a:r>
            <a:r>
              <a:rPr lang="it-IT" sz="2400" b="1" i="0" u="none" strike="noStrike" dirty="0" err="1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judge</a:t>
            </a:r>
            <a:r>
              <a:rPr lang="it-IT" sz="2400" b="1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 (</a:t>
            </a:r>
            <a:r>
              <a:rPr lang="it-IT" sz="2400" b="1" i="0" u="none" strike="noStrike" dirty="0" err="1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Qwen</a:t>
            </a:r>
            <a:r>
              <a:rPr lang="it-IT" sz="2400" b="1" i="0" u="none" strike="noStrike" dirty="0">
                <a:solidFill>
                  <a:srgbClr val="31489F"/>
                </a:solidFill>
                <a:effectLst/>
                <a:latin typeface="Footlight MT Light" panose="0204060206030A020304" pitchFamily="18" charset="77"/>
              </a:rPr>
              <a:t> 7B &amp; GPT 5.1)</a:t>
            </a:r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Footlight MT Light" panose="0204060206030A020304" pitchFamily="18" charset="77"/>
              </a:rPr>
              <a:t>A Large model (Qwen-7B) receives: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Footlight MT Light" panose="0204060206030A020304" pitchFamily="18" charset="77"/>
              </a:rPr>
              <a:t>CONTEXT: the paper text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Footlight MT Light" panose="0204060206030A020304" pitchFamily="18" charset="77"/>
              </a:rPr>
              <a:t>ANSWER: the story section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dirty="0">
              <a:latin typeface="Footlight MT Light" panose="0204060206030A020304" pitchFamily="18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Footlight MT Light" panose="0204060206030A020304" pitchFamily="18" charset="77"/>
              </a:rPr>
              <a:t>Generates a JSON containing: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Footlight MT Light" panose="0204060206030A020304" pitchFamily="18" charset="77"/>
              </a:rPr>
              <a:t>name_accuracy</a:t>
            </a:r>
            <a:endParaRPr lang="en-GB" dirty="0">
              <a:latin typeface="Footlight MT Light" panose="0204060206030A020304" pitchFamily="18" charset="77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Footlight MT Light" panose="0204060206030A020304" pitchFamily="18" charset="77"/>
              </a:rPr>
              <a:t>numeric_accuracy</a:t>
            </a:r>
            <a:endParaRPr lang="en-GB" dirty="0">
              <a:latin typeface="Footlight MT Light" panose="0204060206030A020304" pitchFamily="18" charset="77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Footlight MT Light" panose="0204060206030A020304" pitchFamily="18" charset="77"/>
              </a:rPr>
              <a:t>overall_faithfulness</a:t>
            </a:r>
            <a:endParaRPr lang="en-GB" dirty="0">
              <a:latin typeface="Footlight MT Light" panose="0204060206030A020304" pitchFamily="18" charset="77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Footlight MT Light" panose="0204060206030A020304" pitchFamily="18" charset="77"/>
              </a:rPr>
              <a:t>hallucinated_names</a:t>
            </a:r>
            <a:r>
              <a:rPr lang="en-GB" dirty="0">
                <a:latin typeface="Footlight MT Light" panose="0204060206030A020304" pitchFamily="18" charset="77"/>
              </a:rPr>
              <a:t> / numbers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dirty="0">
              <a:latin typeface="Footlight MT Light" panose="0204060206030A020304" pitchFamily="18" charset="77"/>
            </a:endParaRPr>
          </a:p>
          <a:p>
            <a:endParaRPr lang="it-IT" dirty="0">
              <a:solidFill>
                <a:schemeClr val="tx1"/>
              </a:solidFill>
              <a:latin typeface="Footlight MT Light" panose="0204060206030A020304" pitchFamily="18" charset="77"/>
            </a:endParaRPr>
          </a:p>
        </p:txBody>
      </p:sp>
      <p:grpSp>
        <p:nvGrpSpPr>
          <p:cNvPr id="73" name="Gruppo 72">
            <a:extLst>
              <a:ext uri="{FF2B5EF4-FFF2-40B4-BE49-F238E27FC236}">
                <a16:creationId xmlns:a16="http://schemas.microsoft.com/office/drawing/2014/main" id="{7D9F98F9-9D6D-031F-BE99-4DF3C157E90A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74" name="Rettangolo 73">
              <a:extLst>
                <a:ext uri="{FF2B5EF4-FFF2-40B4-BE49-F238E27FC236}">
                  <a16:creationId xmlns:a16="http://schemas.microsoft.com/office/drawing/2014/main" id="{53804ED1-2563-75A0-CE80-77340E17F3B3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75" name="Picture 4" descr="ECIR2026">
              <a:extLst>
                <a:ext uri="{FF2B5EF4-FFF2-40B4-BE49-F238E27FC236}">
                  <a16:creationId xmlns:a16="http://schemas.microsoft.com/office/drawing/2014/main" id="{844CBC88-3936-C5D9-4F4A-DDBE6FA543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6" name="CasellaDiTesto 75">
              <a:extLst>
                <a:ext uri="{FF2B5EF4-FFF2-40B4-BE49-F238E27FC236}">
                  <a16:creationId xmlns:a16="http://schemas.microsoft.com/office/drawing/2014/main" id="{FFF8AB05-78B2-30E7-8BAB-54DDC628D2AD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77" name="Gruppo 76">
              <a:extLst>
                <a:ext uri="{FF2B5EF4-FFF2-40B4-BE49-F238E27FC236}">
                  <a16:creationId xmlns:a16="http://schemas.microsoft.com/office/drawing/2014/main" id="{24E88285-74AE-757D-6538-BC70B5C2BD30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78" name="Picture 2" descr="Espace presse | EURECOM">
                <a:extLst>
                  <a:ext uri="{FF2B5EF4-FFF2-40B4-BE49-F238E27FC236}">
                    <a16:creationId xmlns:a16="http://schemas.microsoft.com/office/drawing/2014/main" id="{AE8A81B4-ED8D-F78C-8630-2785C72B16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9" name="CasellaDiTesto 78">
                <a:extLst>
                  <a:ext uri="{FF2B5EF4-FFF2-40B4-BE49-F238E27FC236}">
                    <a16:creationId xmlns:a16="http://schemas.microsoft.com/office/drawing/2014/main" id="{91D42A03-D6A9-7380-E4BB-AEC3282239C4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80" name="Segnaposto numero diapositiva 4">
            <a:extLst>
              <a:ext uri="{FF2B5EF4-FFF2-40B4-BE49-F238E27FC236}">
                <a16:creationId xmlns:a16="http://schemas.microsoft.com/office/drawing/2014/main" id="{57B74F4F-6A33-6CFD-78AB-CA700073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3642" y="6408925"/>
            <a:ext cx="446355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15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sp>
        <p:nvSpPr>
          <p:cNvPr id="81" name="Titolo 1">
            <a:extLst>
              <a:ext uri="{FF2B5EF4-FFF2-40B4-BE49-F238E27FC236}">
                <a16:creationId xmlns:a16="http://schemas.microsoft.com/office/drawing/2014/main" id="{7E55E52D-F1A2-A117-1D52-EF8A2FEBD12A}"/>
              </a:ext>
            </a:extLst>
          </p:cNvPr>
          <p:cNvSpPr txBox="1">
            <a:spLocks/>
          </p:cNvSpPr>
          <p:nvPr/>
        </p:nvSpPr>
        <p:spPr>
          <a:xfrm>
            <a:off x="1571935" y="465127"/>
            <a:ext cx="5887655" cy="94497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Hallucination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detection</a:t>
            </a:r>
            <a:b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</a:br>
            <a:r>
              <a:rPr lang="it-IT" sz="31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Methods </a:t>
            </a:r>
            <a:r>
              <a:rPr lang="it-IT" sz="31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Considered</a:t>
            </a:r>
            <a:endParaRPr lang="en-GB" sz="4000" dirty="0"/>
          </a:p>
        </p:txBody>
      </p:sp>
      <p:pic>
        <p:nvPicPr>
          <p:cNvPr id="83" name="Immagine 82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FC8E1B41-610A-FE32-A920-9EB74811E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725A413-6EAF-7AD8-4820-4DE58BF88ADE}"/>
              </a:ext>
            </a:extLst>
          </p:cNvPr>
          <p:cNvSpPr txBox="1"/>
          <p:nvPr/>
        </p:nvSpPr>
        <p:spPr>
          <a:xfrm>
            <a:off x="6678849" y="2434255"/>
            <a:ext cx="46920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>
                <a:latin typeface="Footlight MT Light" panose="0204060206030A020304" pitchFamily="18" charset="77"/>
              </a:rPr>
              <a:t>"</a:t>
            </a:r>
            <a:r>
              <a:rPr lang="it-IT" i="1" dirty="0" err="1">
                <a:latin typeface="Footlight MT Light" panose="0204060206030A020304" pitchFamily="18" charset="77"/>
              </a:rPr>
              <a:t>Robust</a:t>
            </a:r>
            <a:r>
              <a:rPr lang="it-IT" i="1" dirty="0">
                <a:latin typeface="Footlight MT Light" panose="0204060206030A020304" pitchFamily="18" charset="77"/>
              </a:rPr>
              <a:t>-kit, </a:t>
            </a:r>
            <a:r>
              <a:rPr lang="it-IT" i="1" dirty="0" err="1">
                <a:latin typeface="Footlight MT Light" panose="0204060206030A020304" pitchFamily="18" charset="77"/>
              </a:rPr>
              <a:t>developed</a:t>
            </a:r>
            <a:r>
              <a:rPr lang="it-IT" i="1" dirty="0">
                <a:latin typeface="Footlight MT Light" panose="0204060206030A020304" pitchFamily="18" charset="77"/>
              </a:rPr>
              <a:t> </a:t>
            </a:r>
            <a:r>
              <a:rPr lang="it-IT" i="1" dirty="0" err="1">
                <a:latin typeface="Footlight MT Light" panose="0204060206030A020304" pitchFamily="18" charset="77"/>
              </a:rPr>
              <a:t>at</a:t>
            </a:r>
            <a:r>
              <a:rPr lang="it-IT" i="1" dirty="0">
                <a:latin typeface="Footlight MT Light" panose="0204060206030A020304" pitchFamily="18" charset="77"/>
              </a:rPr>
              <a:t> the </a:t>
            </a:r>
            <a:r>
              <a:rPr lang="it-IT" b="1" i="1" dirty="0">
                <a:latin typeface="Footlight MT Light" panose="0204060206030A020304" pitchFamily="18" charset="77"/>
              </a:rPr>
              <a:t>University of Birmingham</a:t>
            </a:r>
            <a:r>
              <a:rPr lang="it-IT" i="1" dirty="0">
                <a:latin typeface="Footlight MT Light" panose="0204060206030A020304" pitchFamily="18" charset="77"/>
              </a:rPr>
              <a:t>…»</a:t>
            </a:r>
            <a:br>
              <a:rPr lang="it-IT" i="1" dirty="0">
                <a:latin typeface="Footlight MT Light" panose="0204060206030A020304" pitchFamily="18" charset="77"/>
              </a:rPr>
            </a:br>
            <a:r>
              <a:rPr lang="it-IT" dirty="0">
                <a:latin typeface="Footlight MT Light" panose="0204060206030A020304" pitchFamily="18" charset="77"/>
              </a:rPr>
              <a:t>→ </a:t>
            </a:r>
            <a:r>
              <a:rPr lang="it-IT" b="1" dirty="0" err="1">
                <a:latin typeface="Footlight MT Light" panose="0204060206030A020304" pitchFamily="18" charset="77"/>
              </a:rPr>
              <a:t>hallucination</a:t>
            </a:r>
            <a:r>
              <a:rPr lang="it-IT" b="1" dirty="0">
                <a:latin typeface="Footlight MT Light" panose="0204060206030A020304" pitchFamily="18" charset="77"/>
              </a:rPr>
              <a:t> NOT </a:t>
            </a:r>
            <a:r>
              <a:rPr lang="it-IT" b="1" dirty="0" err="1">
                <a:latin typeface="Footlight MT Light" panose="0204060206030A020304" pitchFamily="18" charset="77"/>
              </a:rPr>
              <a:t>detected</a:t>
            </a:r>
            <a:endParaRPr lang="it-IT" b="1" dirty="0"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b="1" dirty="0"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Footlight MT Light" panose="0204060206030A020304" pitchFamily="18" charset="77"/>
              </a:rPr>
              <a:t>Correct</a:t>
            </a:r>
            <a:r>
              <a:rPr lang="it-IT" dirty="0">
                <a:latin typeface="Footlight MT Light" panose="0204060206030A020304" pitchFamily="18" charset="77"/>
              </a:rPr>
              <a:t> story (human </a:t>
            </a:r>
            <a:r>
              <a:rPr lang="it-IT" dirty="0" err="1">
                <a:latin typeface="Footlight MT Light" panose="0204060206030A020304" pitchFamily="18" charset="77"/>
              </a:rPr>
              <a:t>checked</a:t>
            </a:r>
            <a:r>
              <a:rPr lang="it-IT" dirty="0">
                <a:latin typeface="Footlight MT Light" panose="0204060206030A020304" pitchFamily="18" charset="77"/>
              </a:rPr>
              <a:t>) LLM-</a:t>
            </a:r>
            <a:r>
              <a:rPr lang="it-IT" dirty="0" err="1">
                <a:latin typeface="Footlight MT Light" panose="0204060206030A020304" pitchFamily="18" charset="77"/>
              </a:rPr>
              <a:t>as</a:t>
            </a:r>
            <a:r>
              <a:rPr lang="it-IT" dirty="0">
                <a:latin typeface="Footlight MT Light" panose="0204060206030A020304" pitchFamily="18" charset="77"/>
              </a:rPr>
              <a:t>-</a:t>
            </a:r>
            <a:r>
              <a:rPr lang="it-IT" dirty="0" err="1">
                <a:latin typeface="Footlight MT Light" panose="0204060206030A020304" pitchFamily="18" charset="77"/>
              </a:rPr>
              <a:t>judge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incorrectly</a:t>
            </a:r>
            <a:r>
              <a:rPr lang="it-IT" dirty="0">
                <a:latin typeface="Footlight MT Light" panose="0204060206030A020304" pitchFamily="18" charset="77"/>
              </a:rPr>
              <a:t> outputs </a:t>
            </a:r>
            <a:r>
              <a:rPr lang="it-IT" dirty="0" err="1">
                <a:latin typeface="Footlight MT Light" panose="0204060206030A020304" pitchFamily="18" charset="77"/>
              </a:rPr>
              <a:t>hallucinated</a:t>
            </a:r>
            <a:r>
              <a:rPr lang="it-IT" dirty="0">
                <a:latin typeface="Footlight MT Light" panose="0204060206030A020304" pitchFamily="18" charset="77"/>
              </a:rPr>
              <a:t> names:</a:t>
            </a:r>
            <a:br>
              <a:rPr lang="it-IT" dirty="0">
                <a:latin typeface="Footlight MT Light" panose="0204060206030A020304" pitchFamily="18" charset="77"/>
              </a:rPr>
            </a:br>
            <a:r>
              <a:rPr lang="it-IT" b="1" i="1" dirty="0">
                <a:latin typeface="Footlight MT Light" panose="0204060206030A020304" pitchFamily="18" charset="77"/>
              </a:rPr>
              <a:t>["</a:t>
            </a:r>
            <a:r>
              <a:rPr lang="it-IT" b="1" i="1" dirty="0" err="1">
                <a:latin typeface="Footlight MT Light" panose="0204060206030A020304" pitchFamily="18" charset="77"/>
              </a:rPr>
              <a:t>SwinUnetR</a:t>
            </a:r>
            <a:r>
              <a:rPr lang="it-IT" b="1" i="1" dirty="0">
                <a:latin typeface="Footlight MT Light" panose="0204060206030A020304" pitchFamily="18" charset="77"/>
              </a:rPr>
              <a:t>", "</a:t>
            </a:r>
            <a:r>
              <a:rPr lang="it-IT" b="1" i="1" dirty="0" err="1">
                <a:latin typeface="Footlight MT Light" panose="0204060206030A020304" pitchFamily="18" charset="77"/>
              </a:rPr>
              <a:t>MedSAM</a:t>
            </a:r>
            <a:r>
              <a:rPr lang="it-IT" b="1" i="1" dirty="0">
                <a:latin typeface="Footlight MT Light" panose="0204060206030A020304" pitchFamily="18" charset="77"/>
              </a:rPr>
              <a:t>", "SAM-Med2D"]</a:t>
            </a:r>
            <a:br>
              <a:rPr lang="it-IT" b="1" i="1" dirty="0">
                <a:latin typeface="Footlight MT Light" panose="0204060206030A020304" pitchFamily="18" charset="77"/>
              </a:rPr>
            </a:br>
            <a:r>
              <a:rPr lang="it-IT" dirty="0" err="1">
                <a:latin typeface="Footlight MT Light" panose="0204060206030A020304" pitchFamily="18" charset="77"/>
              </a:rPr>
              <a:t>these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appear</a:t>
            </a:r>
            <a:r>
              <a:rPr lang="it-IT" dirty="0">
                <a:latin typeface="Footlight MT Light" panose="0204060206030A020304" pitchFamily="18" charset="77"/>
              </a:rPr>
              <a:t> in the paper </a:t>
            </a:r>
            <a:r>
              <a:rPr lang="it-IT" dirty="0" err="1">
                <a:latin typeface="Footlight MT Light" panose="0204060206030A020304" pitchFamily="18" charset="77"/>
              </a:rPr>
              <a:t>but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not</a:t>
            </a:r>
            <a:r>
              <a:rPr lang="it-IT" dirty="0">
                <a:latin typeface="Footlight MT Light" panose="0204060206030A020304" pitchFamily="18" charset="77"/>
              </a:rPr>
              <a:t> in </a:t>
            </a:r>
            <a:r>
              <a:rPr lang="it-IT" dirty="0" err="1">
                <a:latin typeface="Footlight MT Light" panose="0204060206030A020304" pitchFamily="18" charset="77"/>
              </a:rPr>
              <a:t>that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section</a:t>
            </a:r>
            <a:br>
              <a:rPr lang="it-IT" dirty="0">
                <a:latin typeface="Footlight MT Light" panose="0204060206030A020304" pitchFamily="18" charset="77"/>
              </a:rPr>
            </a:br>
            <a:r>
              <a:rPr lang="it-IT" dirty="0">
                <a:latin typeface="Footlight MT Light" panose="0204060206030A020304" pitchFamily="18" charset="77"/>
              </a:rPr>
              <a:t>→ </a:t>
            </a:r>
            <a:r>
              <a:rPr lang="it-IT" b="1" dirty="0" err="1">
                <a:latin typeface="Footlight MT Light" panose="0204060206030A020304" pitchFamily="18" charset="77"/>
              </a:rPr>
              <a:t>incorrect</a:t>
            </a:r>
            <a:r>
              <a:rPr lang="it-IT" b="1" dirty="0">
                <a:latin typeface="Footlight MT Light" panose="0204060206030A020304" pitchFamily="18" charset="77"/>
              </a:rPr>
              <a:t> </a:t>
            </a:r>
            <a:r>
              <a:rPr lang="it-IT" b="1" dirty="0" err="1">
                <a:latin typeface="Footlight MT Light" panose="0204060206030A020304" pitchFamily="18" charset="77"/>
              </a:rPr>
              <a:t>flagged</a:t>
            </a:r>
            <a:endParaRPr lang="it-IT" b="1" dirty="0"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b="1" i="0" u="none" strike="noStrike" dirty="0">
              <a:solidFill>
                <a:srgbClr val="000000"/>
              </a:solidFill>
              <a:effectLst/>
              <a:latin typeface="Footlight MT Light" panose="0204060206030A020304" pitchFamily="18" charset="77"/>
            </a:endParaRP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DD69F400-FC71-5589-02C9-A88BEDB35B96}"/>
              </a:ext>
            </a:extLst>
          </p:cNvPr>
          <p:cNvSpPr txBox="1">
            <a:spLocks/>
          </p:cNvSpPr>
          <p:nvPr/>
        </p:nvSpPr>
        <p:spPr>
          <a:xfrm>
            <a:off x="6697646" y="1994357"/>
            <a:ext cx="3261189" cy="40442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Footlight MT Light" panose="0204060206030A020304" pitchFamily="18" charset="77"/>
              </a:rPr>
              <a:t>Evaluation examples</a:t>
            </a:r>
          </a:p>
        </p:txBody>
      </p:sp>
    </p:spTree>
    <p:extLst>
      <p:ext uri="{BB962C8B-B14F-4D97-AF65-F5344CB8AC3E}">
        <p14:creationId xmlns:p14="http://schemas.microsoft.com/office/powerpoint/2010/main" val="2300270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EA1D3B89-C6B5-D04C-3D0C-9EF791D7B56F}"/>
              </a:ext>
            </a:extLst>
          </p:cNvPr>
          <p:cNvSpPr/>
          <p:nvPr/>
        </p:nvSpPr>
        <p:spPr>
          <a:xfrm>
            <a:off x="496575" y="3828783"/>
            <a:ext cx="11433422" cy="2330854"/>
          </a:xfrm>
          <a:prstGeom prst="roundRect">
            <a:avLst>
              <a:gd name="adj" fmla="val 9800"/>
            </a:avLst>
          </a:prstGeom>
          <a:solidFill>
            <a:srgbClr val="FFFFFF">
              <a:alpha val="50196"/>
            </a:srgbClr>
          </a:solidFill>
          <a:ln w="28575">
            <a:solidFill>
              <a:srgbClr val="B8B8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6" name="Immagine 55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925A1154-242C-A8AE-2683-A76D555099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2675585" y="-3782057"/>
            <a:ext cx="9698035" cy="10772716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1529A51-3FC5-56F6-25BD-C9CA29ADCAC4}"/>
              </a:ext>
            </a:extLst>
          </p:cNvPr>
          <p:cNvSpPr txBox="1"/>
          <p:nvPr/>
        </p:nvSpPr>
        <p:spPr>
          <a:xfrm>
            <a:off x="445248" y="1142636"/>
            <a:ext cx="7079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1489F"/>
                </a:solidFill>
                <a:latin typeface="Footlight MT Light" panose="0204060206030A020304" pitchFamily="18" charset="77"/>
              </a:rPr>
              <a:t>Hybrid Hallucination Detection (HHD)</a:t>
            </a:r>
          </a:p>
        </p:txBody>
      </p: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D8052682-62C1-7A78-EAC7-24551009ACFF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47" name="Rettangolo 46">
              <a:extLst>
                <a:ext uri="{FF2B5EF4-FFF2-40B4-BE49-F238E27FC236}">
                  <a16:creationId xmlns:a16="http://schemas.microsoft.com/office/drawing/2014/main" id="{04618A73-A417-6340-2E8D-B97114F65AA3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48" name="Picture 4" descr="ECIR2026">
              <a:extLst>
                <a:ext uri="{FF2B5EF4-FFF2-40B4-BE49-F238E27FC236}">
                  <a16:creationId xmlns:a16="http://schemas.microsoft.com/office/drawing/2014/main" id="{EA1C38F4-0B8E-235C-8A52-456E802B1F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CasellaDiTesto 48">
              <a:extLst>
                <a:ext uri="{FF2B5EF4-FFF2-40B4-BE49-F238E27FC236}">
                  <a16:creationId xmlns:a16="http://schemas.microsoft.com/office/drawing/2014/main" id="{E1A3D0B3-A6B5-2A78-8525-940BD1589850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51" name="Gruppo 50">
              <a:extLst>
                <a:ext uri="{FF2B5EF4-FFF2-40B4-BE49-F238E27FC236}">
                  <a16:creationId xmlns:a16="http://schemas.microsoft.com/office/drawing/2014/main" id="{1BC14DE2-14D9-68A2-A2CF-E779EC3AD5C6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52" name="Picture 2" descr="Espace presse | EURECOM">
                <a:extLst>
                  <a:ext uri="{FF2B5EF4-FFF2-40B4-BE49-F238E27FC236}">
                    <a16:creationId xmlns:a16="http://schemas.microsoft.com/office/drawing/2014/main" id="{165FC657-755D-14F4-E096-39BE134F23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3" name="CasellaDiTesto 52">
                <a:extLst>
                  <a:ext uri="{FF2B5EF4-FFF2-40B4-BE49-F238E27FC236}">
                    <a16:creationId xmlns:a16="http://schemas.microsoft.com/office/drawing/2014/main" id="{DDEE0E80-7ADD-0871-24AD-FE923A0CEE08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54" name="Segnaposto numero diapositiva 4">
            <a:extLst>
              <a:ext uri="{FF2B5EF4-FFF2-40B4-BE49-F238E27FC236}">
                <a16:creationId xmlns:a16="http://schemas.microsoft.com/office/drawing/2014/main" id="{F32CC9C4-5B07-B4A4-6C6F-6F59AB66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3642" y="6408925"/>
            <a:ext cx="446355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16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pic>
        <p:nvPicPr>
          <p:cNvPr id="57" name="Immagine 56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15ED6B59-E96B-7042-F9AB-48FC79E1E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8" y="182033"/>
            <a:ext cx="631065" cy="700996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E2F7D593-8B9F-459D-4AB4-F8CA921AF9C1}"/>
              </a:ext>
            </a:extLst>
          </p:cNvPr>
          <p:cNvSpPr/>
          <p:nvPr/>
        </p:nvSpPr>
        <p:spPr>
          <a:xfrm>
            <a:off x="705520" y="3990745"/>
            <a:ext cx="6487486" cy="1495525"/>
          </a:xfrm>
          <a:prstGeom prst="rect">
            <a:avLst/>
          </a:prstGeom>
          <a:solidFill>
            <a:schemeClr val="l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BABA484F-018C-C3F8-3573-E9BFB7A15578}"/>
              </a:ext>
            </a:extLst>
          </p:cNvPr>
          <p:cNvGrpSpPr/>
          <p:nvPr/>
        </p:nvGrpSpPr>
        <p:grpSpPr>
          <a:xfrm>
            <a:off x="805606" y="4170465"/>
            <a:ext cx="6225714" cy="1235069"/>
            <a:chOff x="-529588" y="458896"/>
            <a:chExt cx="13493224" cy="4421730"/>
          </a:xfrm>
        </p:grpSpPr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492B38A9-D215-BABC-DAF8-632A422610E9}"/>
                </a:ext>
              </a:extLst>
            </p:cNvPr>
            <p:cNvGrpSpPr/>
            <p:nvPr/>
          </p:nvGrpSpPr>
          <p:grpSpPr>
            <a:xfrm>
              <a:off x="-529588" y="458896"/>
              <a:ext cx="13493224" cy="3866125"/>
              <a:chOff x="3036795" y="2028495"/>
              <a:chExt cx="6360458" cy="2507921"/>
            </a:xfrm>
          </p:grpSpPr>
          <p:cxnSp>
            <p:nvCxnSpPr>
              <p:cNvPr id="7" name="Connettore 1 6">
                <a:extLst>
                  <a:ext uri="{FF2B5EF4-FFF2-40B4-BE49-F238E27FC236}">
                    <a16:creationId xmlns:a16="http://schemas.microsoft.com/office/drawing/2014/main" id="{EE0644D8-CA7D-DA29-0D0F-EFE46D8255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45636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nettore 1 7">
                <a:extLst>
                  <a:ext uri="{FF2B5EF4-FFF2-40B4-BE49-F238E27FC236}">
                    <a16:creationId xmlns:a16="http://schemas.microsoft.com/office/drawing/2014/main" id="{9007E399-0E85-2923-E75B-FA40AE210B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028495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nettore 1 8">
                <a:extLst>
                  <a:ext uri="{FF2B5EF4-FFF2-40B4-BE49-F238E27FC236}">
                    <a16:creationId xmlns:a16="http://schemas.microsoft.com/office/drawing/2014/main" id="{4D056E1A-8F6A-2E23-3DB9-ED91FB8CBA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38392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ttore 1 9">
                <a:extLst>
                  <a:ext uri="{FF2B5EF4-FFF2-40B4-BE49-F238E27FC236}">
                    <a16:creationId xmlns:a16="http://schemas.microsoft.com/office/drawing/2014/main" id="{CEB9AC45-919A-E2EF-5E1F-367A2411E4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73553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ttore 1 10">
                <a:extLst>
                  <a:ext uri="{FF2B5EF4-FFF2-40B4-BE49-F238E27FC236}">
                    <a16:creationId xmlns:a16="http://schemas.microsoft.com/office/drawing/2014/main" id="{05D6F0C8-A293-B200-C9FC-F90E4C7B0E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095948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ttore 1 11">
                <a:extLst>
                  <a:ext uri="{FF2B5EF4-FFF2-40B4-BE49-F238E27FC236}">
                    <a16:creationId xmlns:a16="http://schemas.microsoft.com/office/drawing/2014/main" id="{E10FBF12-ABF4-C8AE-CEE9-7A755C0211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811794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ttore 1 12">
                <a:extLst>
                  <a:ext uri="{FF2B5EF4-FFF2-40B4-BE49-F238E27FC236}">
                    <a16:creationId xmlns:a16="http://schemas.microsoft.com/office/drawing/2014/main" id="{353D5474-D915-4990-E2BF-2454942A28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163401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ttore 1 13">
                <a:extLst>
                  <a:ext uri="{FF2B5EF4-FFF2-40B4-BE49-F238E27FC236}">
                    <a16:creationId xmlns:a16="http://schemas.microsoft.com/office/drawing/2014/main" id="{7E9BA1EA-C0CF-1504-978F-965DCF9BD8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52381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Connettore 1 5">
              <a:extLst>
                <a:ext uri="{FF2B5EF4-FFF2-40B4-BE49-F238E27FC236}">
                  <a16:creationId xmlns:a16="http://schemas.microsoft.com/office/drawing/2014/main" id="{AAABB0A5-CD56-2FB9-5D18-7EAE0DF3AD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29588" y="4861202"/>
              <a:ext cx="13493224" cy="19424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5E3526E-6F98-4035-37C6-64C26907F839}"/>
              </a:ext>
            </a:extLst>
          </p:cNvPr>
          <p:cNvSpPr txBox="1"/>
          <p:nvPr/>
        </p:nvSpPr>
        <p:spPr>
          <a:xfrm>
            <a:off x="837138" y="4093943"/>
            <a:ext cx="62257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0" dirty="0">
                <a:effectLst/>
                <a:latin typeface="Footlight MT Light" panose="0204060206030A020304" pitchFamily="18" charset="77"/>
              </a:rPr>
              <a:t>Hermes, </a:t>
            </a:r>
            <a:r>
              <a:rPr lang="it-IT" sz="2000" b="0" dirty="0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the </a:t>
            </a:r>
            <a:r>
              <a:rPr lang="it-IT" sz="2000" b="0" dirty="0" err="1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messenger</a:t>
            </a:r>
            <a:r>
              <a:rPr lang="it-IT" sz="2000" b="0" dirty="0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2000" b="0" dirty="0" err="1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god</a:t>
            </a:r>
            <a:r>
              <a:rPr lang="it-IT" sz="2000" b="0" dirty="0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 of </a:t>
            </a:r>
            <a:r>
              <a:rPr lang="it-IT" sz="2000" b="0" dirty="0" err="1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ancient</a:t>
            </a:r>
            <a:r>
              <a:rPr lang="it-IT" sz="2000" b="0" dirty="0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2000" b="0" dirty="0" err="1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Greece</a:t>
            </a:r>
            <a:r>
              <a:rPr lang="it-IT" sz="2000" b="0" dirty="0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, </a:t>
            </a:r>
            <a:r>
              <a:rPr lang="it-IT" sz="2000" b="0" dirty="0" err="1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was</a:t>
            </a:r>
            <a:r>
              <a:rPr lang="it-IT" sz="2000" b="0" dirty="0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2000" b="0" dirty="0" err="1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known</a:t>
            </a:r>
            <a:r>
              <a:rPr lang="it-IT" sz="2000" b="0" dirty="0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 for </a:t>
            </a:r>
            <a:r>
              <a:rPr lang="it-IT" sz="2000" b="0" dirty="0" err="1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his</a:t>
            </a:r>
            <a:r>
              <a:rPr lang="it-IT" sz="2000" b="0" dirty="0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 speed and </a:t>
            </a:r>
            <a:r>
              <a:rPr lang="it-IT" sz="2000" b="0" dirty="0" err="1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efficiency</a:t>
            </a:r>
            <a:r>
              <a:rPr lang="it-IT" sz="2000" b="0" dirty="0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.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Similarly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, the HERMES system acts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as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a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swift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messenger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between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the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initial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prompt and the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final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,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refined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medical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image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segmentation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.</a:t>
            </a:r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001AF882-D417-E7DA-469A-FF938B45962D}"/>
              </a:ext>
            </a:extLst>
          </p:cNvPr>
          <p:cNvSpPr txBox="1">
            <a:spLocks/>
          </p:cNvSpPr>
          <p:nvPr/>
        </p:nvSpPr>
        <p:spPr>
          <a:xfrm>
            <a:off x="596428" y="3503957"/>
            <a:ext cx="4925725" cy="40442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Footlight MT Light" panose="0204060206030A020304" pitchFamily="18" charset="77"/>
              </a:rPr>
              <a:t>Evaluation examples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CBD0831-958E-815D-DC97-3F7360EB6F5C}"/>
              </a:ext>
            </a:extLst>
          </p:cNvPr>
          <p:cNvSpPr txBox="1"/>
          <p:nvPr/>
        </p:nvSpPr>
        <p:spPr>
          <a:xfrm>
            <a:off x="697071" y="1593062"/>
            <a:ext cx="37926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Footlight MT Light" panose="0204060206030A020304" pitchFamily="18" charset="77"/>
              </a:rPr>
              <a:t>Step 1 — Entity extraction with </a:t>
            </a:r>
            <a:r>
              <a:rPr lang="en-GB" b="1" dirty="0" err="1">
                <a:solidFill>
                  <a:schemeClr val="tx1"/>
                </a:solidFill>
                <a:latin typeface="Footlight MT Light" panose="0204060206030A020304" pitchFamily="18" charset="77"/>
              </a:rPr>
              <a:t>SpaCy</a:t>
            </a:r>
            <a:endParaRPr lang="en-GB" b="1" dirty="0">
              <a:solidFill>
                <a:schemeClr val="tx1"/>
              </a:solidFill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Footlight MT Light" panose="0204060206030A020304" pitchFamily="18" charset="77"/>
              </a:rPr>
              <a:t>Identify “technical tokens”: Capitalised words, acronyms, numbers…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Footlight MT Light" panose="0204060206030A020304" pitchFamily="18" charset="77"/>
              </a:rPr>
              <a:t>Ignore metaphorical or generic words → no false positives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9C445614-F621-D729-E10B-865EB3CF0AE2}"/>
              </a:ext>
            </a:extLst>
          </p:cNvPr>
          <p:cNvSpPr txBox="1"/>
          <p:nvPr/>
        </p:nvSpPr>
        <p:spPr>
          <a:xfrm>
            <a:off x="4798345" y="1593062"/>
            <a:ext cx="36191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Footlight MT Light" panose="0204060206030A020304" pitchFamily="18" charset="77"/>
              </a:rPr>
              <a:t>Step 2 — Semantic support check</a:t>
            </a:r>
            <a:br>
              <a:rPr lang="en-GB" dirty="0">
                <a:solidFill>
                  <a:schemeClr val="tx1"/>
                </a:solidFill>
                <a:latin typeface="Footlight MT Light" panose="0204060206030A020304" pitchFamily="18" charset="77"/>
              </a:rPr>
            </a:br>
            <a:r>
              <a:rPr lang="en-GB" dirty="0">
                <a:solidFill>
                  <a:schemeClr val="tx1"/>
                </a:solidFill>
                <a:latin typeface="Footlight MT Light" panose="0204060206030A020304" pitchFamily="18" charset="77"/>
              </a:rPr>
              <a:t>For each sentence: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Footlight MT Light" panose="0204060206030A020304" pitchFamily="18" charset="77"/>
              </a:rPr>
              <a:t>Find top-k most similar paper sentences (</a:t>
            </a:r>
            <a:r>
              <a:rPr lang="en-GB" dirty="0" err="1">
                <a:solidFill>
                  <a:schemeClr val="tx1"/>
                </a:solidFill>
                <a:latin typeface="Footlight MT Light" panose="0204060206030A020304" pitchFamily="18" charset="77"/>
              </a:rPr>
              <a:t>MiniLM</a:t>
            </a:r>
            <a:r>
              <a:rPr lang="en-GB" dirty="0">
                <a:solidFill>
                  <a:schemeClr val="tx1"/>
                </a:solidFill>
                <a:latin typeface="Footlight MT Light" panose="0204060206030A020304" pitchFamily="18" charset="77"/>
              </a:rPr>
              <a:t> embeddings)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Footlight MT Light" panose="0204060206030A020304" pitchFamily="18" charset="77"/>
              </a:rPr>
              <a:t>Check if each technical token appears in those contexts</a:t>
            </a: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C5B030E8-CAB8-5D44-F540-B91134313BB8}"/>
              </a:ext>
            </a:extLst>
          </p:cNvPr>
          <p:cNvSpPr txBox="1"/>
          <p:nvPr/>
        </p:nvSpPr>
        <p:spPr>
          <a:xfrm>
            <a:off x="8612438" y="1593062"/>
            <a:ext cx="31755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Footlight MT Light" panose="0204060206030A020304" pitchFamily="18" charset="77"/>
              </a:rPr>
              <a:t>Step 3 — Hallucination rule</a:t>
            </a:r>
            <a:br>
              <a:rPr lang="en-GB" dirty="0">
                <a:solidFill>
                  <a:schemeClr val="tx1"/>
                </a:solidFill>
                <a:latin typeface="Footlight MT Light" panose="0204060206030A020304" pitchFamily="18" charset="77"/>
              </a:rPr>
            </a:br>
            <a:r>
              <a:rPr lang="en-GB" dirty="0">
                <a:solidFill>
                  <a:schemeClr val="tx1"/>
                </a:solidFill>
                <a:latin typeface="Footlight MT Light" panose="0204060206030A020304" pitchFamily="18" charset="77"/>
              </a:rPr>
              <a:t>A token is hallucinated only if: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Footlight MT Light" panose="0204060206030A020304" pitchFamily="18" charset="77"/>
              </a:rPr>
              <a:t>It does NOT appear in any top-k similar paper sentences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Footlight MT Light" panose="0204060206030A020304" pitchFamily="18" charset="77"/>
              </a:rPr>
              <a:t>AND the similarity &lt; 0.6</a:t>
            </a:r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82B05654-2D3E-ADEC-0977-4F8436495D38}"/>
              </a:ext>
            </a:extLst>
          </p:cNvPr>
          <p:cNvSpPr/>
          <p:nvPr/>
        </p:nvSpPr>
        <p:spPr>
          <a:xfrm>
            <a:off x="7352980" y="3988031"/>
            <a:ext cx="4420737" cy="1495525"/>
          </a:xfrm>
          <a:prstGeom prst="rect">
            <a:avLst/>
          </a:prstGeom>
          <a:solidFill>
            <a:schemeClr val="l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6E54D1A9-3233-1780-D068-CC08F4101437}"/>
              </a:ext>
            </a:extLst>
          </p:cNvPr>
          <p:cNvGrpSpPr/>
          <p:nvPr/>
        </p:nvGrpSpPr>
        <p:grpSpPr>
          <a:xfrm>
            <a:off x="7453066" y="4167751"/>
            <a:ext cx="4242359" cy="1235069"/>
            <a:chOff x="-529588" y="458896"/>
            <a:chExt cx="13493224" cy="4421730"/>
          </a:xfrm>
        </p:grpSpPr>
        <p:grpSp>
          <p:nvGrpSpPr>
            <p:cNvPr id="61" name="Gruppo 60">
              <a:extLst>
                <a:ext uri="{FF2B5EF4-FFF2-40B4-BE49-F238E27FC236}">
                  <a16:creationId xmlns:a16="http://schemas.microsoft.com/office/drawing/2014/main" id="{894B653C-FF16-3760-BDDE-A3C1AE2B0FA1}"/>
                </a:ext>
              </a:extLst>
            </p:cNvPr>
            <p:cNvGrpSpPr/>
            <p:nvPr/>
          </p:nvGrpSpPr>
          <p:grpSpPr>
            <a:xfrm>
              <a:off x="-529588" y="458896"/>
              <a:ext cx="13493224" cy="3866125"/>
              <a:chOff x="3036795" y="2028495"/>
              <a:chExt cx="6360458" cy="2507921"/>
            </a:xfrm>
          </p:grpSpPr>
          <p:cxnSp>
            <p:nvCxnSpPr>
              <p:cNvPr id="63" name="Connettore 1 62">
                <a:extLst>
                  <a:ext uri="{FF2B5EF4-FFF2-40B4-BE49-F238E27FC236}">
                    <a16:creationId xmlns:a16="http://schemas.microsoft.com/office/drawing/2014/main" id="{07DA99E5-AC90-66BC-9B03-AE9592A9E7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45636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nettore 1 63">
                <a:extLst>
                  <a:ext uri="{FF2B5EF4-FFF2-40B4-BE49-F238E27FC236}">
                    <a16:creationId xmlns:a16="http://schemas.microsoft.com/office/drawing/2014/main" id="{88AE0C86-E33C-C4BD-C094-8C69BC830C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028495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nettore 1 64">
                <a:extLst>
                  <a:ext uri="{FF2B5EF4-FFF2-40B4-BE49-F238E27FC236}">
                    <a16:creationId xmlns:a16="http://schemas.microsoft.com/office/drawing/2014/main" id="{BD6D820F-6DCD-920B-A990-76599E53CC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38392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nettore 1 65">
                <a:extLst>
                  <a:ext uri="{FF2B5EF4-FFF2-40B4-BE49-F238E27FC236}">
                    <a16:creationId xmlns:a16="http://schemas.microsoft.com/office/drawing/2014/main" id="{FCEF7530-7E15-856D-05B6-38196F813A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2735533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nettore 1 66">
                <a:extLst>
                  <a:ext uri="{FF2B5EF4-FFF2-40B4-BE49-F238E27FC236}">
                    <a16:creationId xmlns:a16="http://schemas.microsoft.com/office/drawing/2014/main" id="{36A6603B-802B-2045-56E1-945908411E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095948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nettore 1 67">
                <a:extLst>
                  <a:ext uri="{FF2B5EF4-FFF2-40B4-BE49-F238E27FC236}">
                    <a16:creationId xmlns:a16="http://schemas.microsoft.com/office/drawing/2014/main" id="{17F8FFFA-F2AD-8ADB-FD18-ED9B8520BC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3811794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nettore 1 68">
                <a:extLst>
                  <a:ext uri="{FF2B5EF4-FFF2-40B4-BE49-F238E27FC236}">
                    <a16:creationId xmlns:a16="http://schemas.microsoft.com/office/drawing/2014/main" id="{71042B7F-6E28-0A54-1A27-5C3C611088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163401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nettore 1 69">
                <a:extLst>
                  <a:ext uri="{FF2B5EF4-FFF2-40B4-BE49-F238E27FC236}">
                    <a16:creationId xmlns:a16="http://schemas.microsoft.com/office/drawing/2014/main" id="{9D2AE813-6DA7-54AA-F9A2-0A0FE13C16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36795" y="4523816"/>
                <a:ext cx="6360458" cy="12600"/>
              </a:xfrm>
              <a:prstGeom prst="line">
                <a:avLst/>
              </a:prstGeom>
              <a:ln>
                <a:solidFill>
                  <a:srgbClr val="D4D4D4">
                    <a:alpha val="50167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Connettore 1 61">
              <a:extLst>
                <a:ext uri="{FF2B5EF4-FFF2-40B4-BE49-F238E27FC236}">
                  <a16:creationId xmlns:a16="http://schemas.microsoft.com/office/drawing/2014/main" id="{139B2DF5-DE63-9CF9-8D6A-DFAAA2128A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29588" y="4861202"/>
              <a:ext cx="13493224" cy="19424"/>
            </a:xfrm>
            <a:prstGeom prst="line">
              <a:avLst/>
            </a:prstGeom>
            <a:ln>
              <a:solidFill>
                <a:srgbClr val="D4D4D4">
                  <a:alpha val="50167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5D0F27D2-5CFE-2181-E5C2-5CC6EB20889B}"/>
              </a:ext>
            </a:extLst>
          </p:cNvPr>
          <p:cNvSpPr txBox="1"/>
          <p:nvPr/>
        </p:nvSpPr>
        <p:spPr>
          <a:xfrm>
            <a:off x="7484598" y="4091229"/>
            <a:ext cx="42078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>
                <a:latin typeface="Footlight MT Light" panose="0204060206030A020304" pitchFamily="18" charset="77"/>
              </a:rPr>
              <a:t>T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he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proposed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solution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,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is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an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automated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framework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designed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to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enhance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the </a:t>
            </a:r>
            <a:r>
              <a:rPr lang="it-IT" sz="2000" b="0" dirty="0" err="1">
                <a:effectLst/>
                <a:latin typeface="Footlight MT Light" panose="0204060206030A020304" pitchFamily="18" charset="77"/>
              </a:rPr>
              <a:t>accuracy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 of </a:t>
            </a:r>
            <a:r>
              <a:rPr lang="it-IT" sz="2000" b="0" dirty="0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flash </a:t>
            </a:r>
            <a:r>
              <a:rPr lang="it-IT" sz="2000" b="0" dirty="0" err="1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memory</a:t>
            </a:r>
            <a:r>
              <a:rPr lang="it-IT" sz="2000" b="0" dirty="0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 (FM)-</a:t>
            </a:r>
            <a:r>
              <a:rPr lang="it-IT" sz="2000" b="0" dirty="0" err="1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based</a:t>
            </a:r>
            <a:r>
              <a:rPr lang="it-IT" sz="2000" b="0" dirty="0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2000" b="0" dirty="0" err="1">
                <a:solidFill>
                  <a:srgbClr val="C00000"/>
                </a:solidFill>
                <a:effectLst/>
                <a:latin typeface="Footlight MT Light" panose="0204060206030A020304" pitchFamily="18" charset="77"/>
              </a:rPr>
              <a:t>segmentation</a:t>
            </a:r>
            <a:r>
              <a:rPr lang="it-IT" sz="2000" b="0" dirty="0">
                <a:effectLst/>
                <a:latin typeface="Footlight MT Light" panose="0204060206030A020304" pitchFamily="18" charset="77"/>
              </a:rPr>
              <a:t>.</a:t>
            </a: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EB9E82B2-8BE1-A05A-B756-02CFDA5CDB7D}"/>
              </a:ext>
            </a:extLst>
          </p:cNvPr>
          <p:cNvSpPr txBox="1"/>
          <p:nvPr/>
        </p:nvSpPr>
        <p:spPr>
          <a:xfrm>
            <a:off x="705520" y="5530698"/>
            <a:ext cx="5396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Footlight MT Light" panose="0204060206030A020304" pitchFamily="18" charset="77"/>
              </a:rPr>
              <a:t>→ </a:t>
            </a:r>
            <a:r>
              <a:rPr lang="it-IT" dirty="0" err="1">
                <a:latin typeface="Footlight MT Light" panose="0204060206030A020304" pitchFamily="18" charset="77"/>
              </a:rPr>
              <a:t>it</a:t>
            </a:r>
            <a:r>
              <a:rPr lang="it-IT" dirty="0">
                <a:latin typeface="Footlight MT Light" panose="0204060206030A020304" pitchFamily="18" charset="77"/>
              </a:rPr>
              <a:t> </a:t>
            </a:r>
            <a:r>
              <a:rPr lang="it-IT" dirty="0" err="1">
                <a:latin typeface="Footlight MT Light" panose="0204060206030A020304" pitchFamily="18" charset="77"/>
              </a:rPr>
              <a:t>is</a:t>
            </a:r>
            <a:r>
              <a:rPr lang="it-IT" dirty="0">
                <a:latin typeface="Footlight MT Light" panose="0204060206030A020304" pitchFamily="18" charset="77"/>
              </a:rPr>
              <a:t> a </a:t>
            </a:r>
            <a:r>
              <a:rPr lang="it-IT" dirty="0" err="1">
                <a:latin typeface="Footlight MT Light" panose="0204060206030A020304" pitchFamily="18" charset="77"/>
              </a:rPr>
              <a:t>consistent</a:t>
            </a:r>
            <a:r>
              <a:rPr lang="it-IT" dirty="0">
                <a:latin typeface="Footlight MT Light" panose="0204060206030A020304" pitchFamily="18" charset="77"/>
              </a:rPr>
              <a:t> creative simile. </a:t>
            </a:r>
            <a:r>
              <a:rPr lang="it-IT" b="1" dirty="0" err="1">
                <a:latin typeface="Footlight MT Light" panose="0204060206030A020304" pitchFamily="18" charset="77"/>
              </a:rPr>
              <a:t>Incorrect</a:t>
            </a:r>
            <a:r>
              <a:rPr lang="it-IT" b="1" dirty="0">
                <a:latin typeface="Footlight MT Light" panose="0204060206030A020304" pitchFamily="18" charset="77"/>
              </a:rPr>
              <a:t> </a:t>
            </a:r>
            <a:r>
              <a:rPr lang="it-IT" b="1" dirty="0" err="1">
                <a:latin typeface="Footlight MT Light" panose="0204060206030A020304" pitchFamily="18" charset="77"/>
              </a:rPr>
              <a:t>detection</a:t>
            </a:r>
            <a:r>
              <a:rPr lang="it-IT" b="1" dirty="0">
                <a:latin typeface="Footlight MT Light" panose="0204060206030A020304" pitchFamily="18" charset="77"/>
              </a:rPr>
              <a:t>.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9A9D446E-5D9A-E7FA-1F37-C8ADC78A71B6}"/>
              </a:ext>
            </a:extLst>
          </p:cNvPr>
          <p:cNvSpPr txBox="1"/>
          <p:nvPr/>
        </p:nvSpPr>
        <p:spPr>
          <a:xfrm>
            <a:off x="7288683" y="5515107"/>
            <a:ext cx="47204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Footlight MT Light" panose="0204060206030A020304" pitchFamily="18" charset="77"/>
              </a:rPr>
              <a:t>→ In the paper, FM stands for Foundation Model, </a:t>
            </a:r>
            <a:r>
              <a:rPr lang="it-IT" dirty="0" err="1">
                <a:latin typeface="Footlight MT Light" panose="0204060206030A020304" pitchFamily="18" charset="77"/>
              </a:rPr>
              <a:t>not</a:t>
            </a:r>
            <a:r>
              <a:rPr lang="it-IT" dirty="0">
                <a:latin typeface="Footlight MT Light" panose="0204060206030A020304" pitchFamily="18" charset="77"/>
              </a:rPr>
              <a:t> Flash Memory. </a:t>
            </a:r>
            <a:r>
              <a:rPr lang="it-IT" b="1" dirty="0" err="1">
                <a:latin typeface="Footlight MT Light" panose="0204060206030A020304" pitchFamily="18" charset="77"/>
              </a:rPr>
              <a:t>Incorrect</a:t>
            </a:r>
            <a:r>
              <a:rPr lang="it-IT" b="1" dirty="0">
                <a:latin typeface="Footlight MT Light" panose="0204060206030A020304" pitchFamily="18" charset="77"/>
              </a:rPr>
              <a:t> </a:t>
            </a:r>
            <a:r>
              <a:rPr lang="it-IT" b="1" dirty="0" err="1">
                <a:latin typeface="Footlight MT Light" panose="0204060206030A020304" pitchFamily="18" charset="77"/>
              </a:rPr>
              <a:t>detection</a:t>
            </a:r>
            <a:r>
              <a:rPr lang="it-IT" b="1" dirty="0">
                <a:latin typeface="Footlight MT Light" panose="0204060206030A020304" pitchFamily="18" charset="77"/>
              </a:rPr>
              <a:t>.</a:t>
            </a:r>
          </a:p>
        </p:txBody>
      </p:sp>
      <p:sp>
        <p:nvSpPr>
          <p:cNvPr id="76" name="Titolo 1">
            <a:extLst>
              <a:ext uri="{FF2B5EF4-FFF2-40B4-BE49-F238E27FC236}">
                <a16:creationId xmlns:a16="http://schemas.microsoft.com/office/drawing/2014/main" id="{01BEE3CF-91C1-06E5-5E53-AA77B3E22315}"/>
              </a:ext>
            </a:extLst>
          </p:cNvPr>
          <p:cNvSpPr txBox="1">
            <a:spLocks/>
          </p:cNvSpPr>
          <p:nvPr/>
        </p:nvSpPr>
        <p:spPr>
          <a:xfrm>
            <a:off x="1565411" y="153236"/>
            <a:ext cx="5887655" cy="94497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Hallucination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detection</a:t>
            </a:r>
            <a:b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</a:br>
            <a:r>
              <a:rPr lang="it-IT" sz="31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Methods </a:t>
            </a:r>
            <a:r>
              <a:rPr lang="it-IT" sz="31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Considered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24827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Immagine 82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1E2D2E32-1A75-2B4F-0C99-C4DE66BD74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8BB491E0-8938-FCCF-E7F5-A3BD9FD47880}"/>
              </a:ext>
            </a:extLst>
          </p:cNvPr>
          <p:cNvSpPr txBox="1"/>
          <p:nvPr/>
        </p:nvSpPr>
        <p:spPr>
          <a:xfrm>
            <a:off x="1478791" y="1431201"/>
            <a:ext cx="94587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dirty="0" err="1">
                <a:latin typeface="Footlight MT Light" panose="0204060206030A020304" pitchFamily="18" charset="77"/>
              </a:rPr>
              <a:t>Need</a:t>
            </a:r>
            <a:r>
              <a:rPr lang="it-IT" sz="2800" dirty="0">
                <a:latin typeface="Footlight MT Light" panose="0204060206030A020304" pitchFamily="18" charset="77"/>
              </a:rPr>
              <a:t> a </a:t>
            </a:r>
            <a:r>
              <a:rPr lang="it-IT" sz="2800" dirty="0" err="1">
                <a:latin typeface="Footlight MT Light" panose="0204060206030A020304" pitchFamily="18" charset="77"/>
              </a:rPr>
              <a:t>metric</a:t>
            </a:r>
            <a:r>
              <a:rPr lang="it-IT" sz="2800" dirty="0">
                <a:latin typeface="Footlight MT Light" panose="0204060206030A020304" pitchFamily="18" charset="77"/>
              </a:rPr>
              <a:t> for </a:t>
            </a:r>
            <a:r>
              <a:rPr lang="it-IT" sz="2800" dirty="0" err="1">
                <a:latin typeface="Footlight MT Light" panose="0204060206030A020304" pitchFamily="18" charset="77"/>
              </a:rPr>
              <a:t>detecting</a:t>
            </a:r>
            <a:r>
              <a:rPr lang="it-IT" sz="2800" dirty="0">
                <a:latin typeface="Footlight MT Light" panose="0204060206030A020304" pitchFamily="18" charset="77"/>
              </a:rPr>
              <a:t> </a:t>
            </a:r>
            <a:r>
              <a:rPr lang="it-IT" sz="2800" dirty="0" err="1">
                <a:latin typeface="Footlight MT Light" panose="0204060206030A020304" pitchFamily="18" charset="77"/>
              </a:rPr>
              <a:t>hallucinations</a:t>
            </a:r>
            <a:r>
              <a:rPr lang="it-IT" sz="2800" dirty="0">
                <a:latin typeface="Footlight MT Light" panose="0204060206030A020304" pitchFamily="18" charset="77"/>
              </a:rPr>
              <a:t> in creative storytelling tasks in the world of </a:t>
            </a:r>
            <a:r>
              <a:rPr lang="it-IT" sz="2800" dirty="0" err="1">
                <a:latin typeface="Footlight MT Light" panose="0204060206030A020304" pitchFamily="18" charset="77"/>
              </a:rPr>
              <a:t>scientific</a:t>
            </a:r>
            <a:r>
              <a:rPr lang="it-IT" sz="2800" dirty="0">
                <a:latin typeface="Footlight MT Light" panose="0204060206030A020304" pitchFamily="18" charset="77"/>
              </a:rPr>
              <a:t> </a:t>
            </a:r>
            <a:r>
              <a:rPr lang="it-IT" sz="2800" dirty="0" err="1">
                <a:latin typeface="Footlight MT Light" panose="0204060206030A020304" pitchFamily="18" charset="77"/>
              </a:rPr>
              <a:t>research</a:t>
            </a:r>
            <a:r>
              <a:rPr lang="it-IT" sz="2800" dirty="0">
                <a:latin typeface="Footlight MT Light" panose="0204060206030A020304" pitchFamily="18" charset="77"/>
              </a:rPr>
              <a:t>.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AF1C173-535F-0C42-E67D-AFBA3D73E045}"/>
              </a:ext>
            </a:extLst>
          </p:cNvPr>
          <p:cNvSpPr txBox="1"/>
          <p:nvPr/>
        </p:nvSpPr>
        <p:spPr>
          <a:xfrm>
            <a:off x="5784236" y="2331957"/>
            <a:ext cx="246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FR" sz="2000" dirty="0">
                <a:solidFill>
                  <a:srgbClr val="2C458F"/>
                </a:solidFill>
                <a:latin typeface="Footlight MT Light" panose="0204060206030A020304" pitchFamily="18" charset="77"/>
              </a:rPr>
              <a:t>↓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3AE280C-C757-4D15-A65A-17550004F3FA}"/>
              </a:ext>
            </a:extLst>
          </p:cNvPr>
          <p:cNvSpPr txBox="1"/>
          <p:nvPr/>
        </p:nvSpPr>
        <p:spPr>
          <a:xfrm>
            <a:off x="1254473" y="2686217"/>
            <a:ext cx="94587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dirty="0" err="1">
                <a:latin typeface="Footlight MT Light" panose="0204060206030A020304" pitchFamily="18" charset="77"/>
              </a:rPr>
              <a:t>Kept</a:t>
            </a:r>
            <a:r>
              <a:rPr lang="it-IT" sz="2800" dirty="0">
                <a:latin typeface="Footlight MT Light" panose="0204060206030A020304" pitchFamily="18" charset="77"/>
              </a:rPr>
              <a:t> the </a:t>
            </a:r>
            <a:r>
              <a:rPr lang="it-IT" sz="2800" dirty="0" err="1">
                <a:latin typeface="Footlight MT Light" panose="0204060206030A020304" pitchFamily="18" charset="77"/>
              </a:rPr>
              <a:t>simplest</a:t>
            </a:r>
            <a:r>
              <a:rPr lang="it-IT" sz="2800" dirty="0">
                <a:latin typeface="Footlight MT Light" panose="0204060206030A020304" pitchFamily="18" charset="77"/>
              </a:rPr>
              <a:t> and </a:t>
            </a:r>
            <a:r>
              <a:rPr lang="it-IT" sz="2800" dirty="0" err="1">
                <a:latin typeface="Footlight MT Light" panose="0204060206030A020304" pitchFamily="18" charset="77"/>
              </a:rPr>
              <a:t>most</a:t>
            </a:r>
            <a:r>
              <a:rPr lang="it-IT" sz="2800" dirty="0">
                <a:latin typeface="Footlight MT Light" panose="0204060206030A020304" pitchFamily="18" charset="77"/>
              </a:rPr>
              <a:t> </a:t>
            </a:r>
            <a:r>
              <a:rPr lang="it-IT" sz="2800" dirty="0" err="1">
                <a:latin typeface="Footlight MT Light" panose="0204060206030A020304" pitchFamily="18" charset="77"/>
              </a:rPr>
              <a:t>effective</a:t>
            </a:r>
            <a:r>
              <a:rPr lang="it-IT" sz="2800" dirty="0">
                <a:latin typeface="Footlight MT Light" panose="0204060206030A020304" pitchFamily="18" charset="77"/>
              </a:rPr>
              <a:t> detector (NER) with </a:t>
            </a:r>
            <a:r>
              <a:rPr lang="it-IT" sz="2800" dirty="0" err="1">
                <a:latin typeface="Footlight MT Light" panose="0204060206030A020304" pitchFamily="18" charset="77"/>
              </a:rPr>
              <a:t>SpaCy</a:t>
            </a:r>
            <a:endParaRPr lang="it-IT" sz="2800" dirty="0">
              <a:latin typeface="Footlight MT Light" panose="0204060206030A020304" pitchFamily="18" charset="77"/>
            </a:endParaRPr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BBACC692-CC40-0A7D-E725-9412CFAA1C4A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51" name="Rettangolo 50">
              <a:extLst>
                <a:ext uri="{FF2B5EF4-FFF2-40B4-BE49-F238E27FC236}">
                  <a16:creationId xmlns:a16="http://schemas.microsoft.com/office/drawing/2014/main" id="{0856B026-8582-CDD0-BE8A-F1A399C58D8E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2" name="Picture 4" descr="ECIR2026">
              <a:extLst>
                <a:ext uri="{FF2B5EF4-FFF2-40B4-BE49-F238E27FC236}">
                  <a16:creationId xmlns:a16="http://schemas.microsoft.com/office/drawing/2014/main" id="{7CBABCF2-A5DD-43D0-6B1A-101A4CD4D0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CasellaDiTesto 52">
              <a:extLst>
                <a:ext uri="{FF2B5EF4-FFF2-40B4-BE49-F238E27FC236}">
                  <a16:creationId xmlns:a16="http://schemas.microsoft.com/office/drawing/2014/main" id="{E8B21FF5-6D36-29DB-0BE6-95495F4F2ABC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54" name="Gruppo 53">
              <a:extLst>
                <a:ext uri="{FF2B5EF4-FFF2-40B4-BE49-F238E27FC236}">
                  <a16:creationId xmlns:a16="http://schemas.microsoft.com/office/drawing/2014/main" id="{ACF82981-0FB8-4754-1D7F-CD7EEB417449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59" name="Picture 2" descr="Espace presse | EURECOM">
                <a:extLst>
                  <a:ext uri="{FF2B5EF4-FFF2-40B4-BE49-F238E27FC236}">
                    <a16:creationId xmlns:a16="http://schemas.microsoft.com/office/drawing/2014/main" id="{FE19E34A-2533-B101-879E-E3349CB4CD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1" name="CasellaDiTesto 60">
                <a:extLst>
                  <a:ext uri="{FF2B5EF4-FFF2-40B4-BE49-F238E27FC236}">
                    <a16:creationId xmlns:a16="http://schemas.microsoft.com/office/drawing/2014/main" id="{9041FEC5-E66A-2290-1923-5CFB907C26F5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62" name="Segnaposto numero diapositiva 4">
            <a:extLst>
              <a:ext uri="{FF2B5EF4-FFF2-40B4-BE49-F238E27FC236}">
                <a16:creationId xmlns:a16="http://schemas.microsoft.com/office/drawing/2014/main" id="{ADBBFD00-8582-2B17-AE00-CD3F653C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3642" y="6408925"/>
            <a:ext cx="446355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17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pic>
        <p:nvPicPr>
          <p:cNvPr id="84" name="Immagine 83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072B4172-F2C3-82E3-E09B-5FBE61563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68" y="286638"/>
            <a:ext cx="631065" cy="70099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749C4BB-1905-472B-F2E2-FE4BBEDF18CC}"/>
              </a:ext>
            </a:extLst>
          </p:cNvPr>
          <p:cNvSpPr txBox="1">
            <a:spLocks/>
          </p:cNvSpPr>
          <p:nvPr/>
        </p:nvSpPr>
        <p:spPr>
          <a:xfrm>
            <a:off x="1636948" y="320696"/>
            <a:ext cx="5887655" cy="94497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Hallucination</a:t>
            </a:r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 </a:t>
            </a:r>
            <a:r>
              <a:rPr lang="it-IT" sz="40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detection</a:t>
            </a:r>
            <a:b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</a:br>
            <a:r>
              <a:rPr lang="it-IT" sz="31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Methods </a:t>
            </a:r>
            <a:r>
              <a:rPr lang="it-IT" sz="3100" b="1" dirty="0" err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Considered</a:t>
            </a:r>
            <a:endParaRPr lang="en-GB" sz="4000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F5C5EDC4-DBFC-DFE2-2114-18FE4D5BF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926175"/>
              </p:ext>
            </p:extLst>
          </p:nvPr>
        </p:nvGraphicFramePr>
        <p:xfrm>
          <a:off x="830962" y="3431209"/>
          <a:ext cx="10530075" cy="2610083"/>
        </p:xfrm>
        <a:graphic>
          <a:graphicData uri="http://schemas.openxmlformats.org/drawingml/2006/table">
            <a:tbl>
              <a:tblPr/>
              <a:tblGrid>
                <a:gridCol w="1322729">
                  <a:extLst>
                    <a:ext uri="{9D8B030D-6E8A-4147-A177-3AD203B41FA5}">
                      <a16:colId xmlns:a16="http://schemas.microsoft.com/office/drawing/2014/main" val="376413670"/>
                    </a:ext>
                  </a:extLst>
                </a:gridCol>
                <a:gridCol w="1538184">
                  <a:extLst>
                    <a:ext uri="{9D8B030D-6E8A-4147-A177-3AD203B41FA5}">
                      <a16:colId xmlns:a16="http://schemas.microsoft.com/office/drawing/2014/main" val="714038088"/>
                    </a:ext>
                  </a:extLst>
                </a:gridCol>
                <a:gridCol w="1435081">
                  <a:extLst>
                    <a:ext uri="{9D8B030D-6E8A-4147-A177-3AD203B41FA5}">
                      <a16:colId xmlns:a16="http://schemas.microsoft.com/office/drawing/2014/main" val="2537624646"/>
                    </a:ext>
                  </a:extLst>
                </a:gridCol>
                <a:gridCol w="1403243">
                  <a:extLst>
                    <a:ext uri="{9D8B030D-6E8A-4147-A177-3AD203B41FA5}">
                      <a16:colId xmlns:a16="http://schemas.microsoft.com/office/drawing/2014/main" val="4102353653"/>
                    </a:ext>
                  </a:extLst>
                </a:gridCol>
                <a:gridCol w="1489509">
                  <a:extLst>
                    <a:ext uri="{9D8B030D-6E8A-4147-A177-3AD203B41FA5}">
                      <a16:colId xmlns:a16="http://schemas.microsoft.com/office/drawing/2014/main" val="607134429"/>
                    </a:ext>
                  </a:extLst>
                </a:gridCol>
                <a:gridCol w="1691528">
                  <a:extLst>
                    <a:ext uri="{9D8B030D-6E8A-4147-A177-3AD203B41FA5}">
                      <a16:colId xmlns:a16="http://schemas.microsoft.com/office/drawing/2014/main" val="3295740859"/>
                    </a:ext>
                  </a:extLst>
                </a:gridCol>
                <a:gridCol w="1649801">
                  <a:extLst>
                    <a:ext uri="{9D8B030D-6E8A-4147-A177-3AD203B41FA5}">
                      <a16:colId xmlns:a16="http://schemas.microsoft.com/office/drawing/2014/main" val="166077090"/>
                    </a:ext>
                  </a:extLst>
                </a:gridCol>
              </a:tblGrid>
              <a:tr h="5132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METHOD</a:t>
                      </a:r>
                      <a:endParaRPr lang="it-IT" sz="15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Capitalised</a:t>
                      </a: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 Words</a:t>
                      </a:r>
                      <a:endParaRPr lang="it-IT" sz="15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SpaCy</a:t>
                      </a: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 NER</a:t>
                      </a:r>
                      <a:endParaRPr lang="it-IT" sz="15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MIRAGE</a:t>
                      </a:r>
                      <a:endParaRPr lang="it-IT" sz="15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LLM-</a:t>
                      </a:r>
                      <a:r>
                        <a:rPr lang="it-IT" sz="1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Judge</a:t>
                      </a: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 (</a:t>
                      </a:r>
                      <a:r>
                        <a:rPr lang="it-IT" sz="1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Qwen</a:t>
                      </a: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 7B)</a:t>
                      </a:r>
                      <a:endParaRPr lang="it-IT" sz="15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LLM-</a:t>
                      </a:r>
                      <a:r>
                        <a:rPr lang="it-IT" sz="1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Judge</a:t>
                      </a: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 (GPT 5.1)</a:t>
                      </a:r>
                      <a:endParaRPr lang="it-IT" sz="15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HHD (</a:t>
                      </a:r>
                      <a:r>
                        <a:rPr lang="it-IT" sz="1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hybrid</a:t>
                      </a: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)</a:t>
                      </a:r>
                      <a:endParaRPr lang="it-IT" sz="15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692249"/>
                  </a:ext>
                </a:extLst>
              </a:tr>
              <a:tr h="305697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WHAT IT DETECTS</a:t>
                      </a:r>
                      <a:endParaRPr lang="it-IT" sz="15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Surface-</a:t>
                      </a:r>
                      <a:r>
                        <a:rPr lang="it-IT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form</a:t>
                      </a:r>
                      <a:r>
                        <a:rPr lang="it-IT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 mismatch</a:t>
                      </a:r>
                      <a:endParaRPr lang="it-IT" sz="13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Incorrect PERSON/ORG entities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Rewrite-consistency instability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Factual consistency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High-level reasoning errors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Entity + retrieval alignment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900380"/>
                  </a:ext>
                </a:extLst>
              </a:tr>
              <a:tr h="54201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KEY WEAKNESS</a:t>
                      </a:r>
                      <a:endParaRPr lang="it-IT" sz="15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Flags abbreviations &amp; creative capitalisations as errors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Misses conceptual errors (wrong claims, invented datasets)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Penalises</a:t>
                      </a:r>
                      <a:r>
                        <a:rPr lang="it-IT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 </a:t>
                      </a:r>
                      <a:r>
                        <a:rPr lang="it-IT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analogies</a:t>
                      </a:r>
                      <a:r>
                        <a:rPr lang="it-IT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 and audience-</a:t>
                      </a:r>
                      <a:r>
                        <a:rPr lang="it-IT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adapted</a:t>
                      </a:r>
                      <a:r>
                        <a:rPr lang="it-IT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 </a:t>
                      </a:r>
                      <a:r>
                        <a:rPr lang="it-IT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rephrasing</a:t>
                      </a:r>
                      <a:endParaRPr lang="it-IT" sz="13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"Hallucinates hallucination" labels correct facts as errors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Overcautious: flags benign contextual expansions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Dominant false positives; threshold unstable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174028"/>
                  </a:ext>
                </a:extLst>
              </a:tr>
              <a:tr h="421457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VERDICT</a:t>
                      </a:r>
                      <a:endParaRPr lang="it-IT" sz="15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Too noisy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✓ Chosen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Too rigid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Unstable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Too strict</a:t>
                      </a:r>
                      <a:endParaRPr lang="it-IT" sz="130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ootlight MT Light" panose="0204060206030A020304" pitchFamily="18" charset="77"/>
                        </a:rPr>
                        <a:t>Unreliable</a:t>
                      </a:r>
                      <a:endParaRPr lang="it-IT" sz="1300" dirty="0">
                        <a:effectLst/>
                        <a:latin typeface="Footlight MT Light" panose="0204060206030A020304" pitchFamily="18" charset="77"/>
                      </a:endParaRPr>
                    </a:p>
                  </a:txBody>
                  <a:tcPr marL="57431" marR="57431" marT="57431" marB="57431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455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897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07C4F9F5-B83C-A16B-FBE1-3046707C90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p:grpSp>
        <p:nvGrpSpPr>
          <p:cNvPr id="21" name="Gruppo 20">
            <a:extLst>
              <a:ext uri="{FF2B5EF4-FFF2-40B4-BE49-F238E27FC236}">
                <a16:creationId xmlns:a16="http://schemas.microsoft.com/office/drawing/2014/main" id="{BBACC692-CC40-0A7D-E725-9412CFAA1C4A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51" name="Rettangolo 50">
              <a:extLst>
                <a:ext uri="{FF2B5EF4-FFF2-40B4-BE49-F238E27FC236}">
                  <a16:creationId xmlns:a16="http://schemas.microsoft.com/office/drawing/2014/main" id="{0856B026-8582-CDD0-BE8A-F1A399C58D8E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2" name="Picture 4" descr="ECIR2026">
              <a:extLst>
                <a:ext uri="{FF2B5EF4-FFF2-40B4-BE49-F238E27FC236}">
                  <a16:creationId xmlns:a16="http://schemas.microsoft.com/office/drawing/2014/main" id="{7CBABCF2-A5DD-43D0-6B1A-101A4CD4D0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CasellaDiTesto 52">
              <a:extLst>
                <a:ext uri="{FF2B5EF4-FFF2-40B4-BE49-F238E27FC236}">
                  <a16:creationId xmlns:a16="http://schemas.microsoft.com/office/drawing/2014/main" id="{E8B21FF5-6D36-29DB-0BE6-95495F4F2ABC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54" name="Gruppo 53">
              <a:extLst>
                <a:ext uri="{FF2B5EF4-FFF2-40B4-BE49-F238E27FC236}">
                  <a16:creationId xmlns:a16="http://schemas.microsoft.com/office/drawing/2014/main" id="{ACF82981-0FB8-4754-1D7F-CD7EEB417449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59" name="Picture 2" descr="Espace presse | EURECOM">
                <a:extLst>
                  <a:ext uri="{FF2B5EF4-FFF2-40B4-BE49-F238E27FC236}">
                    <a16:creationId xmlns:a16="http://schemas.microsoft.com/office/drawing/2014/main" id="{FE19E34A-2533-B101-879E-E3349CB4CD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1" name="CasellaDiTesto 60">
                <a:extLst>
                  <a:ext uri="{FF2B5EF4-FFF2-40B4-BE49-F238E27FC236}">
                    <a16:creationId xmlns:a16="http://schemas.microsoft.com/office/drawing/2014/main" id="{9041FEC5-E66A-2290-1923-5CFB907C26F5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62" name="Segnaposto numero diapositiva 4">
            <a:extLst>
              <a:ext uri="{FF2B5EF4-FFF2-40B4-BE49-F238E27FC236}">
                <a16:creationId xmlns:a16="http://schemas.microsoft.com/office/drawing/2014/main" id="{ADBBFD00-8582-2B17-AE00-CD3F653C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3642" y="6408925"/>
            <a:ext cx="446355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18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sp>
        <p:nvSpPr>
          <p:cNvPr id="64" name="Titolo 1">
            <a:extLst>
              <a:ext uri="{FF2B5EF4-FFF2-40B4-BE49-F238E27FC236}">
                <a16:creationId xmlns:a16="http://schemas.microsoft.com/office/drawing/2014/main" id="{EB31E5B3-26FA-E9C3-FE0C-E5B789C0DC78}"/>
              </a:ext>
            </a:extLst>
          </p:cNvPr>
          <p:cNvSpPr txBox="1">
            <a:spLocks/>
          </p:cNvSpPr>
          <p:nvPr/>
        </p:nvSpPr>
        <p:spPr>
          <a:xfrm>
            <a:off x="1658810" y="515472"/>
            <a:ext cx="10030802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Preliminary Evaluation on a story set</a:t>
            </a:r>
            <a:endParaRPr lang="en-GB" sz="4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DA6145B-09DF-4C63-84A4-D035B232A395}"/>
              </a:ext>
            </a:extLst>
          </p:cNvPr>
          <p:cNvSpPr txBox="1"/>
          <p:nvPr/>
        </p:nvSpPr>
        <p:spPr>
          <a:xfrm>
            <a:off x="892868" y="1224661"/>
            <a:ext cx="109058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2400" b="0" i="0" dirty="0">
                <a:effectLst/>
                <a:latin typeface="Footlight MT Light" panose="0204060206030A020304" pitchFamily="18" charset="77"/>
              </a:rPr>
              <a:t>76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generated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stories (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Pre-trained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vs Fine-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tuned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pipeline)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2400" b="0" i="0" dirty="0">
                <a:effectLst/>
                <a:latin typeface="Footlight MT Light" panose="0204060206030A020304" pitchFamily="18" charset="77"/>
              </a:rPr>
              <a:t>Fine-tuning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strongly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improves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overall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StoryScore</a:t>
            </a:r>
            <a:endParaRPr lang="it-IT" sz="2400" b="0" i="0" dirty="0">
              <a:effectLst/>
              <a:latin typeface="Footlight MT Light" panose="0204060206030A020304" pitchFamily="18" charset="7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2400" b="0" i="0" dirty="0">
                <a:effectLst/>
                <a:latin typeface="Footlight MT Light" panose="0204060206030A020304" pitchFamily="18" charset="77"/>
              </a:rPr>
              <a:t>The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biggest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gain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is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Prompt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Cleanliness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: prompt leakage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is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essentially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removed</a:t>
            </a:r>
            <a:endParaRPr lang="it-IT" sz="2400" b="0" i="0" dirty="0">
              <a:effectLst/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0" i="0" dirty="0">
                <a:effectLst/>
                <a:latin typeface="Footlight MT Light" panose="0204060206030A020304" pitchFamily="18" charset="77"/>
              </a:rPr>
              <a:t>Better human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readability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confirmed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by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StoryScore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: 0.560 → 0.787</a:t>
            </a:r>
          </a:p>
        </p:txBody>
      </p:sp>
      <p:graphicFrame>
        <p:nvGraphicFramePr>
          <p:cNvPr id="5" name="Grafico 4">
            <a:extLst>
              <a:ext uri="{FF2B5EF4-FFF2-40B4-BE49-F238E27FC236}">
                <a16:creationId xmlns:a16="http://schemas.microsoft.com/office/drawing/2014/main" id="{8BF6AD06-FCD4-BCA7-8000-B2CB76A6B6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908409"/>
              </p:ext>
            </p:extLst>
          </p:nvPr>
        </p:nvGraphicFramePr>
        <p:xfrm>
          <a:off x="1340069" y="2891345"/>
          <a:ext cx="10030802" cy="3364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6" name="Immagine 5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08578326-C9BF-CF5C-2EE7-888FE2CD0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28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B15743FB-F77F-5478-9763-FF304B5CAD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p:grpSp>
        <p:nvGrpSpPr>
          <p:cNvPr id="21" name="Gruppo 20">
            <a:extLst>
              <a:ext uri="{FF2B5EF4-FFF2-40B4-BE49-F238E27FC236}">
                <a16:creationId xmlns:a16="http://schemas.microsoft.com/office/drawing/2014/main" id="{BBACC692-CC40-0A7D-E725-9412CFAA1C4A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51" name="Rettangolo 50">
              <a:extLst>
                <a:ext uri="{FF2B5EF4-FFF2-40B4-BE49-F238E27FC236}">
                  <a16:creationId xmlns:a16="http://schemas.microsoft.com/office/drawing/2014/main" id="{0856B026-8582-CDD0-BE8A-F1A399C58D8E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2" name="Picture 4" descr="ECIR2026">
              <a:extLst>
                <a:ext uri="{FF2B5EF4-FFF2-40B4-BE49-F238E27FC236}">
                  <a16:creationId xmlns:a16="http://schemas.microsoft.com/office/drawing/2014/main" id="{7CBABCF2-A5DD-43D0-6B1A-101A4CD4D0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CasellaDiTesto 52">
              <a:extLst>
                <a:ext uri="{FF2B5EF4-FFF2-40B4-BE49-F238E27FC236}">
                  <a16:creationId xmlns:a16="http://schemas.microsoft.com/office/drawing/2014/main" id="{E8B21FF5-6D36-29DB-0BE6-95495F4F2ABC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54" name="Gruppo 53">
              <a:extLst>
                <a:ext uri="{FF2B5EF4-FFF2-40B4-BE49-F238E27FC236}">
                  <a16:creationId xmlns:a16="http://schemas.microsoft.com/office/drawing/2014/main" id="{ACF82981-0FB8-4754-1D7F-CD7EEB417449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59" name="Picture 2" descr="Espace presse | EURECOM">
                <a:extLst>
                  <a:ext uri="{FF2B5EF4-FFF2-40B4-BE49-F238E27FC236}">
                    <a16:creationId xmlns:a16="http://schemas.microsoft.com/office/drawing/2014/main" id="{FE19E34A-2533-B101-879E-E3349CB4CD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1" name="CasellaDiTesto 60">
                <a:extLst>
                  <a:ext uri="{FF2B5EF4-FFF2-40B4-BE49-F238E27FC236}">
                    <a16:creationId xmlns:a16="http://schemas.microsoft.com/office/drawing/2014/main" id="{9041FEC5-E66A-2290-1923-5CFB907C26F5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62" name="Segnaposto numero diapositiva 4">
            <a:extLst>
              <a:ext uri="{FF2B5EF4-FFF2-40B4-BE49-F238E27FC236}">
                <a16:creationId xmlns:a16="http://schemas.microsoft.com/office/drawing/2014/main" id="{ADBBFD00-8582-2B17-AE00-CD3F653C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3642" y="6408925"/>
            <a:ext cx="446355" cy="365125"/>
          </a:xfrm>
        </p:spPr>
        <p:txBody>
          <a:bodyPr/>
          <a:lstStyle/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t>19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sp>
        <p:nvSpPr>
          <p:cNvPr id="64" name="Titolo 1">
            <a:extLst>
              <a:ext uri="{FF2B5EF4-FFF2-40B4-BE49-F238E27FC236}">
                <a16:creationId xmlns:a16="http://schemas.microsoft.com/office/drawing/2014/main" id="{EB31E5B3-26FA-E9C3-FE0C-E5B789C0DC78}"/>
              </a:ext>
            </a:extLst>
          </p:cNvPr>
          <p:cNvSpPr txBox="1">
            <a:spLocks/>
          </p:cNvSpPr>
          <p:nvPr/>
        </p:nvSpPr>
        <p:spPr>
          <a:xfrm>
            <a:off x="1626963" y="498515"/>
            <a:ext cx="6404742" cy="7179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>
                <a:gradFill flip="none" rotWithShape="1">
                  <a:gsLst>
                    <a:gs pos="0">
                      <a:srgbClr val="466DCC"/>
                    </a:gs>
                    <a:gs pos="100000">
                      <a:srgbClr val="2B468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Footlight MT Light" panose="0204060206030A020304" pitchFamily="18" charset="77"/>
              </a:rPr>
              <a:t>Conclusion and Future Works</a:t>
            </a:r>
            <a:endParaRPr lang="en-GB" sz="4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DA6145B-09DF-4C63-84A4-D035B232A395}"/>
              </a:ext>
            </a:extLst>
          </p:cNvPr>
          <p:cNvSpPr txBox="1"/>
          <p:nvPr/>
        </p:nvSpPr>
        <p:spPr>
          <a:xfrm>
            <a:off x="892868" y="1623906"/>
            <a:ext cx="101056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These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</a:t>
            </a:r>
            <a:r>
              <a:rPr lang="it-IT" sz="24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metrics</a:t>
            </a:r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24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provide</a:t>
            </a:r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24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approximations</a:t>
            </a:r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24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rather</a:t>
            </a:r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24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than</a:t>
            </a:r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 ground-truth </a:t>
            </a:r>
            <a:r>
              <a:rPr lang="it-IT" sz="2400" b="0" i="0" u="none" strike="noStrike" dirty="0" err="1">
                <a:solidFill>
                  <a:srgbClr val="000000"/>
                </a:solidFill>
                <a:effectLst/>
                <a:latin typeface="Footlight MT Light" panose="0204060206030A020304" pitchFamily="18" charset="77"/>
              </a:rPr>
              <a:t>guarantees</a:t>
            </a:r>
            <a:endParaRPr lang="it-IT" sz="2400" b="0" i="0" dirty="0">
              <a:effectLst/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>
              <a:latin typeface="Footlight MT Light" panose="0204060206030A0203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Footlight MT Light" panose="0204060206030A020304" pitchFamily="18" charset="77"/>
              </a:rPr>
              <a:t>Improve</a:t>
            </a:r>
            <a:r>
              <a:rPr lang="it-IT" sz="2400" dirty="0">
                <a:latin typeface="Footlight MT Light" panose="0204060206030A020304" pitchFamily="18" charset="77"/>
              </a:rPr>
              <a:t> grounding </a:t>
            </a:r>
            <a:r>
              <a:rPr lang="it-IT" sz="2400" dirty="0" err="1">
                <a:latin typeface="Footlight MT Light" panose="0204060206030A020304" pitchFamily="18" charset="77"/>
              </a:rPr>
              <a:t>mechanisms</a:t>
            </a:r>
            <a:r>
              <a:rPr lang="it-IT" sz="2400" dirty="0">
                <a:latin typeface="Footlight MT Light" panose="0204060206030A020304" pitchFamily="18" charset="77"/>
              </a:rPr>
              <a:t> and </a:t>
            </a:r>
            <a:r>
              <a:rPr lang="it-IT" sz="2400" dirty="0" err="1">
                <a:latin typeface="Footlight MT Light" panose="0204060206030A020304" pitchFamily="18" charset="77"/>
              </a:rPr>
              <a:t>hallucination</a:t>
            </a:r>
            <a:r>
              <a:rPr lang="it-IT" sz="2400" dirty="0">
                <a:latin typeface="Footlight MT Light" panose="0204060206030A020304" pitchFamily="18" charset="77"/>
              </a:rPr>
              <a:t> </a:t>
            </a:r>
            <a:r>
              <a:rPr lang="it-IT" sz="2400" dirty="0" err="1">
                <a:latin typeface="Footlight MT Light" panose="0204060206030A020304" pitchFamily="18" charset="77"/>
              </a:rPr>
              <a:t>mitigation</a:t>
            </a:r>
            <a:endParaRPr lang="it-IT" sz="2400" dirty="0">
              <a:latin typeface="Footlight MT Light" panose="0204060206030A020304" pitchFamily="18" charset="7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it-IT" sz="2400" b="0" i="0" dirty="0">
              <a:effectLst/>
              <a:latin typeface="Footlight MT Light" panose="0204060206030A020304" pitchFamily="18" charset="7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2400" b="0" i="0" dirty="0">
                <a:effectLst/>
                <a:latin typeface="Footlight MT Light" panose="0204060206030A020304" pitchFamily="18" charset="77"/>
              </a:rPr>
              <a:t>Scale up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evaluation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with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larger</a:t>
            </a:r>
            <a:r>
              <a:rPr lang="it-IT" sz="2400" b="0" i="0" dirty="0">
                <a:effectLst/>
                <a:latin typeface="Footlight MT Light" panose="0204060206030A020304" pitchFamily="18" charset="77"/>
              </a:rPr>
              <a:t> and more diverse </a:t>
            </a:r>
            <a:r>
              <a:rPr lang="it-IT" sz="2400" b="0" i="0" dirty="0" err="1">
                <a:effectLst/>
                <a:latin typeface="Footlight MT Light" panose="0204060206030A020304" pitchFamily="18" charset="77"/>
              </a:rPr>
              <a:t>evaluator</a:t>
            </a:r>
            <a:endParaRPr lang="it-IT" sz="2400" b="0" i="0" dirty="0">
              <a:effectLst/>
              <a:latin typeface="Footlight MT Light" panose="0204060206030A020304" pitchFamily="18" charset="77"/>
            </a:endParaRPr>
          </a:p>
        </p:txBody>
      </p:sp>
      <p:pic>
        <p:nvPicPr>
          <p:cNvPr id="2" name="Immagine 1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DDD626C6-0232-61B9-3B33-A1D1C28C0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68" y="390231"/>
            <a:ext cx="631065" cy="70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333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BC96EC2D-B6CA-83B3-1B43-1667FF9C44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2675586" y="-3762452"/>
            <a:ext cx="9698035" cy="10772716"/>
          </a:xfrm>
          <a:prstGeom prst="rect">
            <a:avLst/>
          </a:prstGeom>
        </p:spPr>
      </p:pic>
      <p:pic>
        <p:nvPicPr>
          <p:cNvPr id="2" name="Immagine 1" descr="Immagine che contiene penna, cerchio, strumento di scrittura, arte&#10;&#10;Descrizione generata automaticamente">
            <a:extLst>
              <a:ext uri="{FF2B5EF4-FFF2-40B4-BE49-F238E27FC236}">
                <a16:creationId xmlns:a16="http://schemas.microsoft.com/office/drawing/2014/main" id="{6B74381B-F08C-15AD-E2F3-1A6D4DE8F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603" y="2798712"/>
            <a:ext cx="1316506" cy="146239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078DF19-6B51-38DC-301E-5BB4BE7E6A92}"/>
              </a:ext>
            </a:extLst>
          </p:cNvPr>
          <p:cNvSpPr txBox="1"/>
          <p:nvPr/>
        </p:nvSpPr>
        <p:spPr>
          <a:xfrm>
            <a:off x="1987054" y="791614"/>
            <a:ext cx="8452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b="0" i="0" u="none" strike="noStrike" dirty="0">
                <a:solidFill>
                  <a:srgbClr val="2B468F"/>
                </a:solidFill>
                <a:effectLst/>
                <a:latin typeface="Footlight MT Light" panose="0204060206030A020304" pitchFamily="18" charset="77"/>
              </a:rPr>
              <a:t>Thank </a:t>
            </a:r>
            <a:r>
              <a:rPr lang="it-IT" sz="5400" b="0" i="0" u="none" strike="noStrike" dirty="0" err="1">
                <a:solidFill>
                  <a:srgbClr val="2B468F"/>
                </a:solidFill>
                <a:effectLst/>
                <a:latin typeface="Footlight MT Light" panose="0204060206030A020304" pitchFamily="18" charset="77"/>
              </a:rPr>
              <a:t>you</a:t>
            </a:r>
            <a:r>
              <a:rPr lang="it-IT" sz="5400" b="0" i="0" u="none" strike="noStrike" dirty="0">
                <a:solidFill>
                  <a:srgbClr val="2B468F"/>
                </a:solidFill>
                <a:effectLst/>
                <a:latin typeface="Footlight MT Light" panose="0204060206030A020304" pitchFamily="18" charset="77"/>
              </a:rPr>
              <a:t> for </a:t>
            </a:r>
            <a:r>
              <a:rPr lang="it-IT" sz="5400" b="0" i="0" u="none" strike="noStrike" dirty="0" err="1">
                <a:solidFill>
                  <a:srgbClr val="2B468F"/>
                </a:solidFill>
                <a:effectLst/>
                <a:latin typeface="Footlight MT Light" panose="0204060206030A020304" pitchFamily="18" charset="77"/>
              </a:rPr>
              <a:t>your</a:t>
            </a:r>
            <a:r>
              <a:rPr lang="it-IT" sz="5400" b="0" i="0" u="none" strike="noStrike" dirty="0">
                <a:solidFill>
                  <a:srgbClr val="2B468F"/>
                </a:solidFill>
                <a:effectLst/>
                <a:latin typeface="Footlight MT Light" panose="0204060206030A020304" pitchFamily="18" charset="77"/>
              </a:rPr>
              <a:t> </a:t>
            </a:r>
            <a:r>
              <a:rPr lang="it-IT" sz="5400" b="0" i="0" u="none" strike="noStrike" dirty="0" err="1">
                <a:solidFill>
                  <a:srgbClr val="2B468F"/>
                </a:solidFill>
                <a:effectLst/>
                <a:latin typeface="Footlight MT Light" panose="0204060206030A020304" pitchFamily="18" charset="77"/>
              </a:rPr>
              <a:t>attention</a:t>
            </a:r>
            <a:endParaRPr lang="it-IT" sz="5400" b="0" i="0" u="none" strike="noStrike" dirty="0">
              <a:solidFill>
                <a:srgbClr val="2B468F"/>
              </a:solidFill>
              <a:effectLst/>
              <a:latin typeface="Footlight MT Light" panose="0204060206030A020304" pitchFamily="18" charset="77"/>
            </a:endParaRPr>
          </a:p>
        </p:txBody>
      </p:sp>
      <p:sp>
        <p:nvSpPr>
          <p:cNvPr id="50" name="Segnaposto numero diapositiva 49">
            <a:extLst>
              <a:ext uri="{FF2B5EF4-FFF2-40B4-BE49-F238E27FC236}">
                <a16:creationId xmlns:a16="http://schemas.microsoft.com/office/drawing/2014/main" id="{94D505C9-2CCD-FDFF-CFFB-879EBF05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E73EB-1B7C-AC46-BECF-AC7D5E08E22D}" type="slidenum">
              <a:rPr lang="it-FR" smtClean="0"/>
              <a:t>20</a:t>
            </a:fld>
            <a:endParaRPr lang="it-FR"/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D5EEF798-BC1F-2AD3-4CD3-CE82D71CBAE6}"/>
              </a:ext>
            </a:extLst>
          </p:cNvPr>
          <p:cNvGrpSpPr/>
          <p:nvPr/>
        </p:nvGrpSpPr>
        <p:grpSpPr>
          <a:xfrm>
            <a:off x="0" y="6311900"/>
            <a:ext cx="12192000" cy="546100"/>
            <a:chOff x="0" y="6311900"/>
            <a:chExt cx="12192000" cy="546100"/>
          </a:xfrm>
        </p:grpSpPr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AAC7F358-18E9-5230-8DCF-5EBDB6A2FA53}"/>
                </a:ext>
              </a:extLst>
            </p:cNvPr>
            <p:cNvSpPr/>
            <p:nvPr/>
          </p:nvSpPr>
          <p:spPr>
            <a:xfrm>
              <a:off x="0" y="6311900"/>
              <a:ext cx="12192000" cy="546100"/>
            </a:xfrm>
            <a:prstGeom prst="rect">
              <a:avLst/>
            </a:prstGeom>
            <a:gradFill>
              <a:gsLst>
                <a:gs pos="100000">
                  <a:srgbClr val="F8F7F4">
                    <a:alpha val="43922"/>
                  </a:srgbClr>
                </a:gs>
                <a:gs pos="79000">
                  <a:srgbClr val="EDE9E5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44452" dist="38100" dir="16200000" sx="102903" sy="102903" rotWithShape="0">
                <a:prstClr val="black">
                  <a:alpha val="13314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4" name="Picture 4" descr="ECIR2026">
              <a:extLst>
                <a:ext uri="{FF2B5EF4-FFF2-40B4-BE49-F238E27FC236}">
                  <a16:creationId xmlns:a16="http://schemas.microsoft.com/office/drawing/2014/main" id="{E586AAFB-BFC4-B6B2-D53C-88586588B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3933" y="6423061"/>
              <a:ext cx="536938" cy="3302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EE2560F8-3A2E-61CB-C67B-0BA4ECDCD7BB}"/>
                </a:ext>
              </a:extLst>
            </p:cNvPr>
            <p:cNvSpPr txBox="1"/>
            <p:nvPr/>
          </p:nvSpPr>
          <p:spPr>
            <a:xfrm>
              <a:off x="8769927" y="6347370"/>
              <a:ext cx="18461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Text2Story @ ECIR 2026</a:t>
              </a:r>
            </a:p>
            <a:p>
              <a:pPr algn="r"/>
              <a:r>
                <a:rPr lang="it-IT" sz="1200" b="0" i="0" u="none" strike="noStrike" dirty="0">
                  <a:solidFill>
                    <a:srgbClr val="000000"/>
                  </a:solidFill>
                  <a:effectLst/>
                  <a:latin typeface="Footlight MT Light" panose="0204060206030A020304" pitchFamily="18" charset="77"/>
                </a:rPr>
                <a:t>Delft, 29 </a:t>
              </a:r>
              <a:r>
                <a:rPr lang="it-IT" sz="1200" dirty="0">
                  <a:solidFill>
                    <a:srgbClr val="000000"/>
                  </a:solidFill>
                  <a:latin typeface="Footlight MT Light" panose="0204060206030A020304" pitchFamily="18" charset="77"/>
                </a:rPr>
                <a:t>March 2026</a:t>
              </a:r>
              <a:endParaRPr lang="it-FR" sz="1600" dirty="0">
                <a:latin typeface="Footlight MT Light" panose="0204060206030A020304" pitchFamily="18" charset="77"/>
              </a:endParaRPr>
            </a:p>
          </p:txBody>
        </p:sp>
        <p:grpSp>
          <p:nvGrpSpPr>
            <p:cNvPr id="26" name="Gruppo 25">
              <a:extLst>
                <a:ext uri="{FF2B5EF4-FFF2-40B4-BE49-F238E27FC236}">
                  <a16:creationId xmlns:a16="http://schemas.microsoft.com/office/drawing/2014/main" id="{9A193F5A-CAFF-FC18-E694-CF6F9CEEBBA1}"/>
                </a:ext>
              </a:extLst>
            </p:cNvPr>
            <p:cNvGrpSpPr/>
            <p:nvPr/>
          </p:nvGrpSpPr>
          <p:grpSpPr>
            <a:xfrm>
              <a:off x="215858" y="6408925"/>
              <a:ext cx="5803942" cy="338554"/>
              <a:chOff x="215858" y="6408925"/>
              <a:chExt cx="5803942" cy="338554"/>
            </a:xfrm>
          </p:grpSpPr>
          <p:pic>
            <p:nvPicPr>
              <p:cNvPr id="27" name="Picture 2" descr="Espace presse | EURECOM">
                <a:extLst>
                  <a:ext uri="{FF2B5EF4-FFF2-40B4-BE49-F238E27FC236}">
                    <a16:creationId xmlns:a16="http://schemas.microsoft.com/office/drawing/2014/main" id="{D9D33247-FB2A-5DE6-3A2B-878437B176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858" y="6423061"/>
                <a:ext cx="677010" cy="324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5FD82C4D-C35E-4D52-BE68-1ED0D0C84134}"/>
                  </a:ext>
                </a:extLst>
              </p:cNvPr>
              <p:cNvSpPr txBox="1"/>
              <p:nvPr/>
            </p:nvSpPr>
            <p:spPr>
              <a:xfrm>
                <a:off x="1108725" y="6408925"/>
                <a:ext cx="49110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Alex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Argese</a:t>
                </a:r>
                <a:r>
                  <a:rPr lang="it-IT" sz="1600" dirty="0">
                    <a:solidFill>
                      <a:srgbClr val="000000"/>
                    </a:solidFill>
                    <a:latin typeface="Footlight MT Light" panose="0204060206030A020304" pitchFamily="18" charset="77"/>
                  </a:rPr>
                  <a:t>, 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Pasquale Lisena,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Raphaël</a:t>
                </a:r>
                <a:r>
                  <a:rPr lang="it-IT" sz="1600" b="0" i="0" u="none" strike="noStrike" dirty="0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 </a:t>
                </a:r>
                <a:r>
                  <a:rPr lang="it-IT" sz="1600" b="0" i="0" u="none" strike="noStrike" dirty="0" err="1">
                    <a:solidFill>
                      <a:srgbClr val="000000"/>
                    </a:solidFill>
                    <a:effectLst/>
                    <a:latin typeface="Footlight MT Light" panose="0204060206030A020304" pitchFamily="18" charset="77"/>
                  </a:rPr>
                  <a:t>Troncy</a:t>
                </a:r>
                <a:endParaRPr lang="it-FR" sz="1600" dirty="0">
                  <a:latin typeface="Footlight MT Light" panose="0204060206030A020304" pitchFamily="18" charset="77"/>
                </a:endParaRPr>
              </a:p>
            </p:txBody>
          </p:sp>
        </p:grpSp>
      </p:grpSp>
      <p:sp>
        <p:nvSpPr>
          <p:cNvPr id="29" name="Segnaposto numero diapositiva 4">
            <a:extLst>
              <a:ext uri="{FF2B5EF4-FFF2-40B4-BE49-F238E27FC236}">
                <a16:creationId xmlns:a16="http://schemas.microsoft.com/office/drawing/2014/main" id="{C31419E9-56CA-A42F-661A-1923857161EC}"/>
              </a:ext>
            </a:extLst>
          </p:cNvPr>
          <p:cNvSpPr txBox="1">
            <a:spLocks/>
          </p:cNvSpPr>
          <p:nvPr/>
        </p:nvSpPr>
        <p:spPr>
          <a:xfrm>
            <a:off x="11483642" y="6408925"/>
            <a:ext cx="4463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BE73EB-1B7C-AC46-BECF-AC7D5E08E22D}" type="slidenum">
              <a:rPr lang="it-FR" smtClean="0">
                <a:latin typeface="Footlight MT Light" panose="0204060206030A020304" pitchFamily="18" charset="77"/>
              </a:rPr>
              <a:pPr/>
              <a:t>20</a:t>
            </a:fld>
            <a:endParaRPr lang="it-FR" dirty="0">
              <a:latin typeface="Footlight MT Light" panose="0204060206030A020304" pitchFamily="18" charset="7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8C64F36-82D3-2B3E-CC53-0B2F20AD9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774" y="2695475"/>
            <a:ext cx="1710948" cy="171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84A33F5-DFB1-F674-BCF6-5FF1FAC188C2}"/>
              </a:ext>
            </a:extLst>
          </p:cNvPr>
          <p:cNvSpPr txBox="1"/>
          <p:nvPr/>
        </p:nvSpPr>
        <p:spPr>
          <a:xfrm>
            <a:off x="3120479" y="4483837"/>
            <a:ext cx="24555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it-IT" sz="1800" b="1" i="0" u="none" strike="noStrike" dirty="0">
                <a:solidFill>
                  <a:srgbClr val="2B478E"/>
                </a:solidFill>
                <a:effectLst/>
                <a:latin typeface="Footlight MT Light" panose="0204060206030A020304" pitchFamily="18" charset="77"/>
              </a:rPr>
              <a:t>Repository</a:t>
            </a:r>
            <a:br>
              <a:rPr lang="it-IT" sz="1800" b="1" i="0" u="none" strike="noStrike" dirty="0">
                <a:solidFill>
                  <a:srgbClr val="2B478E"/>
                </a:solidFill>
                <a:effectLst/>
                <a:latin typeface="Footlight MT Light" panose="0204060206030A020304" pitchFamily="18" charset="77"/>
              </a:rPr>
            </a:br>
            <a:r>
              <a:rPr lang="it-IT" sz="1800" b="0" i="0" u="sng" strike="noStrike" dirty="0">
                <a:solidFill>
                  <a:srgbClr val="0563C1"/>
                </a:solidFill>
                <a:effectLst/>
                <a:latin typeface="Footlight MT Light" panose="0204060206030A020304" pitchFamily="18" charset="77"/>
                <a:hlinkClick r:id="rId7"/>
              </a:rPr>
              <a:t>bit.ly/ai-sci-storyteller</a:t>
            </a:r>
            <a:r>
              <a:rPr lang="it-IT" sz="1800" b="0" i="0" u="none" strike="noStrike" dirty="0">
                <a:solidFill>
                  <a:srgbClr val="2B478E"/>
                </a:solidFill>
                <a:effectLst/>
                <a:latin typeface="Footlight MT Light" panose="0204060206030A020304" pitchFamily="18" charset="77"/>
              </a:rPr>
              <a:t> </a:t>
            </a:r>
            <a:br>
              <a:rPr lang="it-IT" dirty="0">
                <a:latin typeface="Footlight MT Light" panose="0204060206030A020304" pitchFamily="18" charset="77"/>
              </a:rPr>
            </a:br>
            <a:endParaRPr lang="en-GB" dirty="0">
              <a:latin typeface="Footlight MT Light" panose="0204060206030A020304" pitchFamily="18" charset="77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4707414-47CD-A341-A90D-E09CA246561D}"/>
              </a:ext>
            </a:extLst>
          </p:cNvPr>
          <p:cNvSpPr txBox="1"/>
          <p:nvPr/>
        </p:nvSpPr>
        <p:spPr>
          <a:xfrm>
            <a:off x="6615985" y="4465415"/>
            <a:ext cx="28001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it-IT" sz="1800" b="1" i="0" u="none" strike="noStrike" dirty="0">
                <a:solidFill>
                  <a:srgbClr val="2B478E"/>
                </a:solidFill>
                <a:effectLst/>
                <a:latin typeface="Footlight MT Light" panose="0204060206030A020304" pitchFamily="18" charset="77"/>
              </a:rPr>
              <a:t>Mail</a:t>
            </a:r>
            <a:br>
              <a:rPr lang="it-IT" sz="1800" b="1" i="0" u="none" strike="noStrike" dirty="0">
                <a:solidFill>
                  <a:srgbClr val="2B478E"/>
                </a:solidFill>
                <a:effectLst/>
                <a:latin typeface="Footlight MT Light" panose="0204060206030A020304" pitchFamily="18" charset="77"/>
              </a:rPr>
            </a:br>
            <a:r>
              <a:rPr lang="it-IT" sz="1800" b="0" i="0" u="sng" strike="noStrike" dirty="0">
                <a:solidFill>
                  <a:srgbClr val="0563C1"/>
                </a:solidFill>
                <a:effectLst/>
                <a:latin typeface="Footlight MT Light" panose="0204060206030A020304" pitchFamily="18" charset="77"/>
                <a:hlinkClick r:id="rId8"/>
              </a:rPr>
              <a:t>alex.argese@eureco</a:t>
            </a:r>
            <a:r>
              <a:rPr lang="it-IT" u="sng" dirty="0">
                <a:solidFill>
                  <a:srgbClr val="0563C1"/>
                </a:solidFill>
                <a:latin typeface="Footlight MT Light" panose="0204060206030A020304" pitchFamily="18" charset="77"/>
                <a:hlinkClick r:id="rId8"/>
              </a:rPr>
              <a:t>m.fr</a:t>
            </a:r>
            <a:br>
              <a:rPr lang="it-IT" dirty="0">
                <a:latin typeface="Footlight MT Light" panose="0204060206030A020304" pitchFamily="18" charset="77"/>
              </a:rPr>
            </a:br>
            <a:endParaRPr lang="en-GB" dirty="0">
              <a:latin typeface="Footlight MT Light" panose="0204060206030A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547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29007</TotalTime>
  <Words>1833</Words>
  <Application>Microsoft Macintosh PowerPoint</Application>
  <PresentationFormat>Widescreen</PresentationFormat>
  <Paragraphs>375</Paragraphs>
  <Slides>20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Footlight MT Light</vt:lpstr>
      <vt:lpstr>Tema di Office</vt:lpstr>
      <vt:lpstr>Presentazione standard di PowerPoint</vt:lpstr>
      <vt:lpstr>AI Scientist Storyteller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Scientist Storyteller</dc:title>
  <dc:creator>Argese  Alex</dc:creator>
  <cp:lastModifiedBy>Argese  Alex</cp:lastModifiedBy>
  <cp:revision>203</cp:revision>
  <dcterms:created xsi:type="dcterms:W3CDTF">2025-10-10T10:57:04Z</dcterms:created>
  <dcterms:modified xsi:type="dcterms:W3CDTF">2026-03-27T16:12:56Z</dcterms:modified>
</cp:coreProperties>
</file>